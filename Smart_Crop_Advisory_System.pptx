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is our project, the Smart Crop Advisory System for Small and Marginal Farmers. It is a proposed integrated digital platform that supports farmers from crop selection to selling their produce.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and marginal farmers face difficulties at almost every stage: choosing crops and seeds, knowing the weather, planning irrigation, harvesting, selling, finding customers and arranging transport. Today this information is scattered. Our proposal brings these support services together in one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problems identified in the project. Farmers find it hard to select suitable crops and seeds, get timely weather information, plan irrigation and harvesting, learn about market prices, reach customers directly and arrange transport. All this information is spread across different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system is a single farmer-oriented platform with eight services: crop selection, seed selection, weather information, irrigation guidance, harvesting guidance, market information, customer connection and transportation support. The phone screen is a conceptual mockup, not an implemented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farmer provides farm and crop information to the smart advisory platform. The platform processes this data and generates recommendations through eight modules. The farmer then makes the final decision. This is the proposed architecture, not an implemented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has eight steps. The farmer registers and enters location and farm details. The system processes the available information and gives crop and seed recommendations, weather and irrigation support, and harvest planning guidance. Finally, market information is shown and customer and transport services are 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module uses soil and climate parameters such as nitrogen, phosphorus, potassium, soil pH, temperature, humidity and rainfall to support informed crop and seed selection. We do not claim model accuracy here; the dashboard is illustrative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Weather awareness, rainfall, temperature and humidity help the farmer plan irrigation and manage water. The process is simple: weather and environmental information supports irrigation planning, which supports the farmer decision. The interfaces shown are illustrative samples; there are no live readings.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Harvest planning is an important part of farming. The platform gives guidance on harvest planning, suitable harvesting activities, handling of the harvested crop and preparation for selling and transport. Automatic prediction of crop maturity is a future enhancement and is not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information helps farmers understand selling opportunities. The platform is proposed to provide access to market information, awareness of selling options and support for market decisions, and to help prepare harvested produce for sale. The price fields in the dashboard are placeholders, not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proposed module connects farmers with potential customers. Farmers can list available produce, customers can view it, and both can communicate to coordinate the sale. The interface shown is a conceptual mockup.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transportation module connects farms, markets and customers. It is proposed to support transport coordination, movement of produce from farms, delivery planning, and links between collection points, markets and customers. No live GPS tracking or route optimisation is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research covers crop recommendation from NPK, pH, temperature, humidity and rainfall, plant disease detection, fertiliser recommendation, yield prediction and multilingual advisory platforms. Many systems focus on one or a few functions. Farmers may benefit from connected support across the complete agricultural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present feasibility as a proposal. Technically the platform could use web or mobile technologies, databases, APIs and machine learning. Economically a software platform may need less physical infrastructure. Operationally a simple interface could improve accessibility. For scalability, future additions include AI, real-time data, regional languages, voice, government services and IoT.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benefits are what the proposed platform aims to provide. Future scope lists enhancements for later work; these are not completed functions. They include AI recommendations, machine learning prediction, IoT monitoring, computer vision, regional languages and voice, real-time market prices, government scheme information and smart irrigation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the Smart Crop Advisory System is a proposed integrated platform supporting small and marginal farmers across the agricultural cycle through eight modules. It gives a foundation for future AI, IoT and data-driven agricultural services. The references are kept as in the original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are happy to answer any questions about the proposed Smart Crop Advisory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F6B61"/>
                </a:solidFill>
                <a:latin typeface="Calibri"/>
                <a:ea typeface="Calibri"/>
                <a:cs typeface="Calibri"/>
              </a:defRPr>
            </a:lvl1pPr>
          </a:lstStyle>
          <a:p>
            <a:pPr algn="l"/>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F6B61"/>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slideLayout" Target="../slideLayouts/slideLayout1.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slideLayout" Target="../slideLayouts/slideLayout1.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5E20"/>
        </a:solidFill>
      </p:bgPr>
    </p:bg>
    <p:spTree>
      <p:nvGrpSpPr>
        <p:cNvPr id="1" name=""/>
        <p:cNvGrpSpPr/>
        <p:nvPr/>
      </p:nvGrpSpPr>
      <p:grpSpPr>
        <a:xfrm>
          <a:off x="0" y="0"/>
          <a:ext cx="0" cy="0"/>
          <a:chOff x="0" y="0"/>
          <a:chExt cx="0" cy="0"/>
        </a:xfrm>
      </p:grpSpPr>
      <p:sp>
        <p:nvSpPr>
          <p:cNvPr id="2" name="Text 0"/>
          <p:cNvSpPr txBox="1"/>
          <p:nvPr/>
        </p:nvSpPr>
        <p:spPr>
          <a:xfrm>
            <a:off x="548640" y="822960"/>
            <a:ext cx="4754880" cy="12801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SMART CROP ADVISORY SYSTEM</a:t>
            </a:r>
            <a:endParaRPr lang="en-US" sz="3600" dirty="0"/>
          </a:p>
        </p:txBody>
      </p:sp>
      <p:sp>
        <p:nvSpPr>
          <p:cNvPr id="3" name="Text 1"/>
          <p:cNvSpPr txBox="1"/>
          <p:nvPr/>
        </p:nvSpPr>
        <p:spPr>
          <a:xfrm>
            <a:off x="548640" y="2148840"/>
            <a:ext cx="4754880" cy="411480"/>
          </a:xfrm>
          <a:prstGeom prst="rect">
            <a:avLst/>
          </a:prstGeom>
          <a:noFill/>
          <a:ln/>
        </p:spPr>
        <p:txBody>
          <a:bodyPr wrap="square" lIns="0" tIns="0" rIns="0" bIns="0" rtlCol="0" anchor="t"/>
          <a:lstStyle/>
          <a:p>
            <a:pPr indent="0" marL="0">
              <a:buNone/>
            </a:pPr>
            <a:r>
              <a:rPr lang="en-US" sz="2000" dirty="0">
                <a:solidFill>
                  <a:srgbClr val="C8E6C9"/>
                </a:solidFill>
                <a:latin typeface="Calibri" pitchFamily="34" charset="0"/>
                <a:ea typeface="Calibri" pitchFamily="34" charset="-122"/>
                <a:cs typeface="Calibri" pitchFamily="34" charset="-120"/>
              </a:rPr>
              <a:t>For Small and Marginal Farmers</a:t>
            </a:r>
            <a:endParaRPr lang="en-US" sz="2000" dirty="0"/>
          </a:p>
        </p:txBody>
      </p:sp>
      <p:sp>
        <p:nvSpPr>
          <p:cNvPr id="4" name="Text 2"/>
          <p:cNvSpPr txBox="1"/>
          <p:nvPr/>
        </p:nvSpPr>
        <p:spPr>
          <a:xfrm>
            <a:off x="548640" y="2651760"/>
            <a:ext cx="4754880" cy="640080"/>
          </a:xfrm>
          <a:prstGeom prst="rect">
            <a:avLst/>
          </a:prstGeom>
          <a:noFill/>
          <a:ln/>
        </p:spPr>
        <p:txBody>
          <a:bodyPr wrap="square" lIns="0" tIns="0" rIns="0" bIns="0" rtlCol="0" anchor="t"/>
          <a:lstStyle/>
          <a:p>
            <a:pPr indent="0" marL="0">
              <a:buNone/>
            </a:pPr>
            <a:r>
              <a:rPr lang="en-US" sz="1500" i="1" dirty="0">
                <a:solidFill>
                  <a:srgbClr val="FFFFFF"/>
                </a:solidFill>
                <a:latin typeface="Calibri" pitchFamily="34" charset="0"/>
                <a:ea typeface="Calibri" pitchFamily="34" charset="-122"/>
                <a:cs typeface="Calibri" pitchFamily="34" charset="-120"/>
              </a:rPr>
              <a:t>An Integrated Digital Platform for Crop-to-Market Support</a:t>
            </a:r>
            <a:endParaRPr lang="en-US" sz="1500" dirty="0"/>
          </a:p>
        </p:txBody>
      </p:sp>
      <p:sp>
        <p:nvSpPr>
          <p:cNvPr id="5" name="Text 3"/>
          <p:cNvSpPr txBox="1"/>
          <p:nvPr/>
        </p:nvSpPr>
        <p:spPr>
          <a:xfrm>
            <a:off x="548640" y="3429000"/>
            <a:ext cx="4754880" cy="1371600"/>
          </a:xfrm>
          <a:prstGeom prst="rect">
            <a:avLst/>
          </a:prstGeom>
          <a:noFill/>
          <a:ln/>
        </p:spPr>
        <p:txBody>
          <a:bodyPr wrap="square" lIns="0" tIns="0" rIns="0" bIns="0" rtlCol="0" anchor="t"/>
          <a:lstStyle/>
          <a:p>
            <a:pPr indent="0" marL="0">
              <a:spcAft>
                <a:spcPts val="300"/>
              </a:spcAft>
              <a:buNone/>
            </a:pPr>
            <a:r>
              <a:rPr lang="en-US" sz="1300" dirty="0">
                <a:solidFill>
                  <a:srgbClr val="FFFFFF"/>
                </a:solidFill>
                <a:latin typeface="Calibri" pitchFamily="34" charset="0"/>
                <a:ea typeface="Calibri" pitchFamily="34" charset="-122"/>
                <a:cs typeface="Calibri" pitchFamily="34" charset="-120"/>
              </a:rPr>
              <a:t>Student Name: ______________________</a:t>
            </a:r>
            <a:endParaRPr lang="en-US" sz="1300" dirty="0"/>
          </a:p>
          <a:p>
            <a:pPr indent="0" marL="0">
              <a:spcAft>
                <a:spcPts val="300"/>
              </a:spcAft>
              <a:buNone/>
            </a:pPr>
            <a:r>
              <a:rPr lang="en-US" sz="1300" dirty="0">
                <a:solidFill>
                  <a:srgbClr val="FFFFFF"/>
                </a:solidFill>
                <a:latin typeface="Calibri" pitchFamily="34" charset="0"/>
                <a:ea typeface="Calibri" pitchFamily="34" charset="-122"/>
                <a:cs typeface="Calibri" pitchFamily="34" charset="-120"/>
              </a:rPr>
              <a:t>Department: ________________________</a:t>
            </a:r>
            <a:endParaRPr lang="en-US" sz="1300" dirty="0"/>
          </a:p>
          <a:p>
            <a:pPr indent="0" marL="0">
              <a:spcAft>
                <a:spcPts val="300"/>
              </a:spcAft>
              <a:buNone/>
            </a:pPr>
            <a:r>
              <a:rPr lang="en-US" sz="1300" dirty="0">
                <a:solidFill>
                  <a:srgbClr val="FFFFFF"/>
                </a:solidFill>
                <a:latin typeface="Calibri" pitchFamily="34" charset="0"/>
                <a:ea typeface="Calibri" pitchFamily="34" charset="-122"/>
                <a:cs typeface="Calibri" pitchFamily="34" charset="-120"/>
              </a:rPr>
              <a:t>College: ____________________________</a:t>
            </a:r>
            <a:endParaRPr lang="en-US" sz="1300" dirty="0"/>
          </a:p>
          <a:p>
            <a:pPr indent="0" marL="0">
              <a:spcAft>
                <a:spcPts val="300"/>
              </a:spcAft>
              <a:buNone/>
            </a:pPr>
            <a:r>
              <a:rPr lang="en-US" sz="1300" dirty="0">
                <a:solidFill>
                  <a:srgbClr val="FFFFFF"/>
                </a:solidFill>
                <a:latin typeface="Calibri" pitchFamily="34" charset="0"/>
                <a:ea typeface="Calibri" pitchFamily="34" charset="-122"/>
                <a:cs typeface="Calibri" pitchFamily="34" charset="-120"/>
              </a:rPr>
              <a:t>Project Guide: ______________________</a:t>
            </a:r>
            <a:endParaRPr lang="en-US" sz="1300" dirty="0"/>
          </a:p>
          <a:p>
            <a:pPr indent="0" marL="0">
              <a:spcAft>
                <a:spcPts val="300"/>
              </a:spcAft>
              <a:buNone/>
            </a:pPr>
            <a:r>
              <a:rPr lang="en-US" sz="1300" dirty="0">
                <a:solidFill>
                  <a:srgbClr val="FFFFFF"/>
                </a:solidFill>
                <a:latin typeface="Calibri" pitchFamily="34" charset="0"/>
                <a:ea typeface="Calibri" pitchFamily="34" charset="-122"/>
                <a:cs typeface="Calibri" pitchFamily="34" charset="-120"/>
              </a:rPr>
              <a:t>Academic Year: ____________________</a:t>
            </a:r>
            <a:endParaRPr lang="en-US" sz="1300" dirty="0"/>
          </a:p>
        </p:txBody>
      </p:sp>
      <p:sp>
        <p:nvSpPr>
          <p:cNvPr id="6" name="Shape 4"/>
          <p:cNvSpPr/>
          <p:nvPr/>
        </p:nvSpPr>
        <p:spPr>
          <a:xfrm>
            <a:off x="5577840" y="457200"/>
            <a:ext cx="3108960" cy="4206240"/>
          </a:xfrm>
          <a:prstGeom prst="roundRect">
            <a:avLst>
              <a:gd name="adj" fmla="val 2353"/>
            </a:avLst>
          </a:prstGeom>
          <a:solidFill>
            <a:srgbClr val="2E7D32"/>
          </a:solidFill>
          <a:ln w="12700">
            <a:solidFill>
              <a:srgbClr val="66BB6A"/>
            </a:solidFill>
            <a:prstDash val="solid"/>
          </a:ln>
        </p:spPr>
      </p:sp>
      <p:pic>
        <p:nvPicPr>
          <p:cNvPr id="7" name="Image 0" descr="preencoded.png">    </p:cNvPr>
          <p:cNvPicPr>
            <a:picLocks noChangeAspect="1"/>
          </p:cNvPicPr>
          <p:nvPr/>
        </p:nvPicPr>
        <p:blipFill>
          <a:blip r:embed="rId1"/>
          <a:stretch>
            <a:fillRect/>
          </a:stretch>
        </p:blipFill>
        <p:spPr>
          <a:xfrm>
            <a:off x="6949440" y="2057400"/>
            <a:ext cx="365760" cy="365760"/>
          </a:xfrm>
          <a:prstGeom prst="rect">
            <a:avLst/>
          </a:prstGeom>
        </p:spPr>
      </p:pic>
      <p:sp>
        <p:nvSpPr>
          <p:cNvPr id="8" name="Text 5"/>
          <p:cNvSpPr txBox="1"/>
          <p:nvPr/>
        </p:nvSpPr>
        <p:spPr>
          <a:xfrm>
            <a:off x="5687568" y="2514600"/>
            <a:ext cx="2889504" cy="201168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PHOTO: Indian farmer standing in a green field holding a smartphone</a:t>
            </a:r>
            <a:endParaRPr lang="en-US" sz="1100" dirty="0"/>
          </a:p>
        </p:txBody>
      </p:sp>
      <p:sp>
        <p:nvSpPr>
          <p:cNvPr id="9" name="Shape 6"/>
          <p:cNvSpPr/>
          <p:nvPr/>
        </p:nvSpPr>
        <p:spPr>
          <a:xfrm>
            <a:off x="5806440" y="4023360"/>
            <a:ext cx="502920" cy="502920"/>
          </a:xfrm>
          <a:prstGeom prst="ellipse">
            <a:avLst/>
          </a:prstGeom>
          <a:solidFill>
            <a:srgbClr val="1B5E20"/>
          </a:solidFill>
          <a:ln w="12700">
            <a:solidFill>
              <a:srgbClr val="1B5E20"/>
            </a:solidFill>
            <a:prstDash val="solid"/>
          </a:ln>
        </p:spPr>
      </p:sp>
      <p:pic>
        <p:nvPicPr>
          <p:cNvPr id="10" name="Image 1" descr="preencoded.png">    </p:cNvPr>
          <p:cNvPicPr>
            <a:picLocks noChangeAspect="1"/>
          </p:cNvPicPr>
          <p:nvPr/>
        </p:nvPicPr>
        <p:blipFill>
          <a:blip r:embed="rId2"/>
          <a:stretch>
            <a:fillRect/>
          </a:stretch>
        </p:blipFill>
        <p:spPr>
          <a:xfrm>
            <a:off x="5932170" y="4149090"/>
            <a:ext cx="251460" cy="251460"/>
          </a:xfrm>
          <a:prstGeom prst="rect">
            <a:avLst/>
          </a:prstGeom>
        </p:spPr>
      </p:pic>
      <p:sp>
        <p:nvSpPr>
          <p:cNvPr id="11" name="Shape 7"/>
          <p:cNvSpPr/>
          <p:nvPr/>
        </p:nvSpPr>
        <p:spPr>
          <a:xfrm>
            <a:off x="6400800" y="4023360"/>
            <a:ext cx="502920" cy="502920"/>
          </a:xfrm>
          <a:prstGeom prst="ellipse">
            <a:avLst/>
          </a:prstGeom>
          <a:solidFill>
            <a:srgbClr val="1B5E20"/>
          </a:solidFill>
          <a:ln w="12700">
            <a:solidFill>
              <a:srgbClr val="1B5E20"/>
            </a:solidFill>
            <a:prstDash val="solid"/>
          </a:ln>
        </p:spPr>
      </p:sp>
      <p:pic>
        <p:nvPicPr>
          <p:cNvPr id="12" name="Image 2" descr="preencoded.png">    </p:cNvPr>
          <p:cNvPicPr>
            <a:picLocks noChangeAspect="1"/>
          </p:cNvPicPr>
          <p:nvPr/>
        </p:nvPicPr>
        <p:blipFill>
          <a:blip r:embed="rId3"/>
          <a:stretch>
            <a:fillRect/>
          </a:stretch>
        </p:blipFill>
        <p:spPr>
          <a:xfrm>
            <a:off x="6526530" y="4149090"/>
            <a:ext cx="251460" cy="251460"/>
          </a:xfrm>
          <a:prstGeom prst="rect">
            <a:avLst/>
          </a:prstGeom>
        </p:spPr>
      </p:pic>
      <p:sp>
        <p:nvSpPr>
          <p:cNvPr id="13" name="Shape 8"/>
          <p:cNvSpPr/>
          <p:nvPr/>
        </p:nvSpPr>
        <p:spPr>
          <a:xfrm>
            <a:off x="6995160" y="4023360"/>
            <a:ext cx="502920" cy="502920"/>
          </a:xfrm>
          <a:prstGeom prst="ellipse">
            <a:avLst/>
          </a:prstGeom>
          <a:solidFill>
            <a:srgbClr val="1B5E20"/>
          </a:solidFill>
          <a:ln w="12700">
            <a:solidFill>
              <a:srgbClr val="1B5E20"/>
            </a:solidFill>
            <a:prstDash val="solid"/>
          </a:ln>
        </p:spPr>
      </p:sp>
      <p:pic>
        <p:nvPicPr>
          <p:cNvPr id="14" name="Image 3" descr="preencoded.png">    </p:cNvPr>
          <p:cNvPicPr>
            <a:picLocks noChangeAspect="1"/>
          </p:cNvPicPr>
          <p:nvPr/>
        </p:nvPicPr>
        <p:blipFill>
          <a:blip r:embed="rId4"/>
          <a:stretch>
            <a:fillRect/>
          </a:stretch>
        </p:blipFill>
        <p:spPr>
          <a:xfrm>
            <a:off x="7120890" y="4149090"/>
            <a:ext cx="251460" cy="2514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rgbClr val="1B5E20"/>
                </a:solidFill>
                <a:latin typeface="Calibri" pitchFamily="34" charset="0"/>
                <a:ea typeface="Calibri" pitchFamily="34" charset="-122"/>
                <a:cs typeface="Calibri" pitchFamily="34" charset="-120"/>
              </a:rPr>
              <a:t>Introduction</a:t>
            </a:r>
            <a:endParaRPr lang="en-US" sz="2800" dirty="0"/>
          </a:p>
        </p:txBody>
      </p:sp>
      <p:sp>
        <p:nvSpPr>
          <p:cNvPr id="4" name="Text 1"/>
          <p:cNvSpPr txBox="1"/>
          <p:nvPr/>
        </p:nvSpPr>
        <p:spPr>
          <a:xfrm>
            <a:off x="457200" y="1051560"/>
            <a:ext cx="4023360" cy="265176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rgbClr val="1F2A24"/>
                </a:solidFill>
                <a:latin typeface="Calibri" pitchFamily="34" charset="0"/>
                <a:ea typeface="Calibri" pitchFamily="34" charset="-122"/>
                <a:cs typeface="Calibri" pitchFamily="34" charset="-120"/>
              </a:rPr>
              <a:t>Crop selection and seed selection</a:t>
            </a:r>
            <a:endParaRPr lang="en-US" sz="1500" dirty="0"/>
          </a:p>
          <a:p>
            <a:pPr marL="342900" indent="-342900">
              <a:spcAft>
                <a:spcPts val="500"/>
              </a:spcAft>
              <a:buSzPct val="100000"/>
              <a:buChar char="•"/>
            </a:pPr>
            <a:r>
              <a:rPr lang="en-US" sz="1500" dirty="0">
                <a:solidFill>
                  <a:srgbClr val="1F2A24"/>
                </a:solidFill>
                <a:latin typeface="Calibri" pitchFamily="34" charset="0"/>
                <a:ea typeface="Calibri" pitchFamily="34" charset="-122"/>
                <a:cs typeface="Calibri" pitchFamily="34" charset="-120"/>
              </a:rPr>
              <a:t>Weather awareness</a:t>
            </a:r>
            <a:endParaRPr lang="en-US" sz="1500" dirty="0"/>
          </a:p>
          <a:p>
            <a:pPr marL="342900" indent="-342900">
              <a:spcAft>
                <a:spcPts val="500"/>
              </a:spcAft>
              <a:buSzPct val="100000"/>
              <a:buChar char="•"/>
            </a:pPr>
            <a:r>
              <a:rPr lang="en-US" sz="1500" dirty="0">
                <a:solidFill>
                  <a:srgbClr val="1F2A24"/>
                </a:solidFill>
                <a:latin typeface="Calibri" pitchFamily="34" charset="0"/>
                <a:ea typeface="Calibri" pitchFamily="34" charset="-122"/>
                <a:cs typeface="Calibri" pitchFamily="34" charset="-120"/>
              </a:rPr>
              <a:t>Irrigation planning</a:t>
            </a:r>
            <a:endParaRPr lang="en-US" sz="1500" dirty="0"/>
          </a:p>
          <a:p>
            <a:pPr marL="342900" indent="-342900">
              <a:spcAft>
                <a:spcPts val="500"/>
              </a:spcAft>
              <a:buSzPct val="100000"/>
              <a:buChar char="•"/>
            </a:pPr>
            <a:r>
              <a:rPr lang="en-US" sz="1500" dirty="0">
                <a:solidFill>
                  <a:srgbClr val="1F2A24"/>
                </a:solidFill>
                <a:latin typeface="Calibri" pitchFamily="34" charset="0"/>
                <a:ea typeface="Calibri" pitchFamily="34" charset="-122"/>
                <a:cs typeface="Calibri" pitchFamily="34" charset="-120"/>
              </a:rPr>
              <a:t>Harvesting</a:t>
            </a:r>
            <a:endParaRPr lang="en-US" sz="1500" dirty="0"/>
          </a:p>
          <a:p>
            <a:pPr marL="342900" indent="-342900">
              <a:spcAft>
                <a:spcPts val="500"/>
              </a:spcAft>
              <a:buSzPct val="100000"/>
              <a:buChar char="•"/>
            </a:pPr>
            <a:r>
              <a:rPr lang="en-US" sz="1500" dirty="0">
                <a:solidFill>
                  <a:srgbClr val="1F2A24"/>
                </a:solidFill>
                <a:latin typeface="Calibri" pitchFamily="34" charset="0"/>
                <a:ea typeface="Calibri" pitchFamily="34" charset="-122"/>
                <a:cs typeface="Calibri" pitchFamily="34" charset="-120"/>
              </a:rPr>
              <a:t>Marketing and selling</a:t>
            </a:r>
            <a:endParaRPr lang="en-US" sz="1500" dirty="0"/>
          </a:p>
          <a:p>
            <a:pPr marL="342900" indent="-342900">
              <a:spcAft>
                <a:spcPts val="500"/>
              </a:spcAft>
              <a:buSzPct val="100000"/>
              <a:buChar char="•"/>
            </a:pPr>
            <a:r>
              <a:rPr lang="en-US" sz="1500" dirty="0">
                <a:solidFill>
                  <a:srgbClr val="1F2A24"/>
                </a:solidFill>
                <a:latin typeface="Calibri" pitchFamily="34" charset="0"/>
                <a:ea typeface="Calibri" pitchFamily="34" charset="-122"/>
                <a:cs typeface="Calibri" pitchFamily="34" charset="-120"/>
              </a:rPr>
              <a:t>Customer connectivity</a:t>
            </a:r>
            <a:endParaRPr lang="en-US" sz="1500" dirty="0"/>
          </a:p>
          <a:p>
            <a:pPr marL="342900" indent="-342900">
              <a:spcAft>
                <a:spcPts val="500"/>
              </a:spcAft>
              <a:buSzPct val="100000"/>
              <a:buChar char="•"/>
            </a:pPr>
            <a:r>
              <a:rPr lang="en-US" sz="1500" dirty="0">
                <a:solidFill>
                  <a:srgbClr val="1F2A24"/>
                </a:solidFill>
                <a:latin typeface="Calibri" pitchFamily="34" charset="0"/>
                <a:ea typeface="Calibri" pitchFamily="34" charset="-122"/>
                <a:cs typeface="Calibri" pitchFamily="34" charset="-120"/>
              </a:rPr>
              <a:t>Transportation</a:t>
            </a:r>
            <a:endParaRPr lang="en-US" sz="1500" dirty="0"/>
          </a:p>
        </p:txBody>
      </p:sp>
      <p:sp>
        <p:nvSpPr>
          <p:cNvPr id="5" name="Shape 2"/>
          <p:cNvSpPr/>
          <p:nvPr/>
        </p:nvSpPr>
        <p:spPr>
          <a:xfrm>
            <a:off x="457200" y="3794760"/>
            <a:ext cx="4023360" cy="868680"/>
          </a:xfrm>
          <a:prstGeom prst="roundRect">
            <a:avLst>
              <a:gd name="adj" fmla="val 8421"/>
            </a:avLst>
          </a:prstGeom>
          <a:solidFill>
            <a:srgbClr val="1B5E20"/>
          </a:solidFill>
          <a:ln w="12700">
            <a:solidFill>
              <a:srgbClr val="1B5E20"/>
            </a:solidFill>
            <a:prstDash val="solid"/>
          </a:ln>
        </p:spPr>
      </p:sp>
      <p:sp>
        <p:nvSpPr>
          <p:cNvPr id="6" name="Text 3"/>
          <p:cNvSpPr txBox="1"/>
          <p:nvPr/>
        </p:nvSpPr>
        <p:spPr>
          <a:xfrm>
            <a:off x="594360" y="3794760"/>
            <a:ext cx="3749040" cy="8686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proposed digital platform brings multiple farmer-support services together in one place.</a:t>
            </a:r>
            <a:endParaRPr lang="en-US" sz="1400" dirty="0"/>
          </a:p>
        </p:txBody>
      </p:sp>
      <p:sp>
        <p:nvSpPr>
          <p:cNvPr id="7" name="Shape 4"/>
          <p:cNvSpPr/>
          <p:nvPr/>
        </p:nvSpPr>
        <p:spPr>
          <a:xfrm>
            <a:off x="4846320" y="1051560"/>
            <a:ext cx="3840480" cy="2651760"/>
          </a:xfrm>
          <a:prstGeom prst="roundRect">
            <a:avLst>
              <a:gd name="adj" fmla="val 2759"/>
            </a:avLst>
          </a:prstGeom>
          <a:solidFill>
            <a:srgbClr val="E8F5E9"/>
          </a:solidFill>
          <a:ln w="12700">
            <a:solidFill>
              <a:srgbClr val="66BB6A"/>
            </a:solidFill>
            <a:prstDash val="solid"/>
          </a:ln>
        </p:spPr>
      </p:sp>
      <p:pic>
        <p:nvPicPr>
          <p:cNvPr id="8" name="Image 0" descr="preencoded.png">    </p:cNvPr>
          <p:cNvPicPr>
            <a:picLocks noChangeAspect="1"/>
          </p:cNvPicPr>
          <p:nvPr/>
        </p:nvPicPr>
        <p:blipFill>
          <a:blip r:embed="rId1"/>
          <a:stretch>
            <a:fillRect/>
          </a:stretch>
        </p:blipFill>
        <p:spPr>
          <a:xfrm>
            <a:off x="6583680" y="1874520"/>
            <a:ext cx="365760" cy="365760"/>
          </a:xfrm>
          <a:prstGeom prst="rect">
            <a:avLst/>
          </a:prstGeom>
        </p:spPr>
      </p:pic>
      <p:sp>
        <p:nvSpPr>
          <p:cNvPr id="9" name="Text 5"/>
          <p:cNvSpPr txBox="1"/>
          <p:nvPr/>
        </p:nvSpPr>
        <p:spPr>
          <a:xfrm>
            <a:off x="4956048" y="2331720"/>
            <a:ext cx="3621024" cy="1234440"/>
          </a:xfrm>
          <a:prstGeom prst="rect">
            <a:avLst/>
          </a:prstGeom>
          <a:noFill/>
          <a:ln/>
        </p:spPr>
        <p:txBody>
          <a:bodyPr wrap="square" lIns="0" tIns="0" rIns="0" bIns="0" rtlCol="0" anchor="t"/>
          <a:lstStyle/>
          <a:p>
            <a:pPr algn="ctr" indent="0" marL="0">
              <a:buNone/>
            </a:pPr>
            <a:r>
              <a:rPr lang="en-US" sz="1100" dirty="0">
                <a:solidFill>
                  <a:srgbClr val="5F6B61"/>
                </a:solidFill>
                <a:latin typeface="Calibri" pitchFamily="34" charset="0"/>
                <a:ea typeface="Calibri" pitchFamily="34" charset="-122"/>
                <a:cs typeface="Calibri" pitchFamily="34" charset="-120"/>
              </a:rPr>
              <a:t>PHOTO: Indian farmer inspecting crops in a green field</a:t>
            </a:r>
            <a:endParaRPr lang="en-US" sz="1100" dirty="0"/>
          </a:p>
        </p:txBody>
      </p:sp>
      <p:sp>
        <p:nvSpPr>
          <p:cNvPr id="10" name="Shape 6"/>
          <p:cNvSpPr/>
          <p:nvPr/>
        </p:nvSpPr>
        <p:spPr>
          <a:xfrm>
            <a:off x="4892040" y="3931920"/>
            <a:ext cx="502920" cy="502920"/>
          </a:xfrm>
          <a:prstGeom prst="ellipse">
            <a:avLst/>
          </a:prstGeom>
          <a:solidFill>
            <a:srgbClr val="1B5E20"/>
          </a:solidFill>
          <a:ln w="12700">
            <a:solidFill>
              <a:srgbClr val="1B5E20"/>
            </a:solidFill>
            <a:prstDash val="solid"/>
          </a:ln>
        </p:spPr>
      </p:sp>
      <p:pic>
        <p:nvPicPr>
          <p:cNvPr id="11" name="Image 1" descr="preencoded.png">    </p:cNvPr>
          <p:cNvPicPr>
            <a:picLocks noChangeAspect="1"/>
          </p:cNvPicPr>
          <p:nvPr/>
        </p:nvPicPr>
        <p:blipFill>
          <a:blip r:embed="rId2"/>
          <a:stretch>
            <a:fillRect/>
          </a:stretch>
        </p:blipFill>
        <p:spPr>
          <a:xfrm>
            <a:off x="5017770" y="4057650"/>
            <a:ext cx="251460" cy="251460"/>
          </a:xfrm>
          <a:prstGeom prst="rect">
            <a:avLst/>
          </a:prstGeom>
        </p:spPr>
      </p:pic>
      <p:sp>
        <p:nvSpPr>
          <p:cNvPr id="12" name="Shape 7"/>
          <p:cNvSpPr/>
          <p:nvPr/>
        </p:nvSpPr>
        <p:spPr>
          <a:xfrm>
            <a:off x="5532120" y="3931920"/>
            <a:ext cx="502920" cy="502920"/>
          </a:xfrm>
          <a:prstGeom prst="ellipse">
            <a:avLst/>
          </a:prstGeom>
          <a:solidFill>
            <a:srgbClr val="1B5E20"/>
          </a:solidFill>
          <a:ln w="12700">
            <a:solidFill>
              <a:srgbClr val="1B5E20"/>
            </a:solidFill>
            <a:prstDash val="solid"/>
          </a:ln>
        </p:spPr>
      </p:sp>
      <p:pic>
        <p:nvPicPr>
          <p:cNvPr id="13" name="Image 2" descr="preencoded.png">    </p:cNvPr>
          <p:cNvPicPr>
            <a:picLocks noChangeAspect="1"/>
          </p:cNvPicPr>
          <p:nvPr/>
        </p:nvPicPr>
        <p:blipFill>
          <a:blip r:embed="rId3"/>
          <a:stretch>
            <a:fillRect/>
          </a:stretch>
        </p:blipFill>
        <p:spPr>
          <a:xfrm>
            <a:off x="5657850" y="4057650"/>
            <a:ext cx="251460" cy="251460"/>
          </a:xfrm>
          <a:prstGeom prst="rect">
            <a:avLst/>
          </a:prstGeom>
        </p:spPr>
      </p:pic>
      <p:sp>
        <p:nvSpPr>
          <p:cNvPr id="14" name="Shape 8"/>
          <p:cNvSpPr/>
          <p:nvPr/>
        </p:nvSpPr>
        <p:spPr>
          <a:xfrm>
            <a:off x="6172200" y="3931920"/>
            <a:ext cx="502920" cy="502920"/>
          </a:xfrm>
          <a:prstGeom prst="ellipse">
            <a:avLst/>
          </a:prstGeom>
          <a:solidFill>
            <a:srgbClr val="1B5E20"/>
          </a:solidFill>
          <a:ln w="12700">
            <a:solidFill>
              <a:srgbClr val="1B5E20"/>
            </a:solidFill>
            <a:prstDash val="solid"/>
          </a:ln>
        </p:spPr>
      </p:sp>
      <p:pic>
        <p:nvPicPr>
          <p:cNvPr id="15" name="Image 3" descr="preencoded.png">    </p:cNvPr>
          <p:cNvPicPr>
            <a:picLocks noChangeAspect="1"/>
          </p:cNvPicPr>
          <p:nvPr/>
        </p:nvPicPr>
        <p:blipFill>
          <a:blip r:embed="rId4"/>
          <a:stretch>
            <a:fillRect/>
          </a:stretch>
        </p:blipFill>
        <p:spPr>
          <a:xfrm>
            <a:off x="6297930" y="4057650"/>
            <a:ext cx="251460" cy="251460"/>
          </a:xfrm>
          <a:prstGeom prst="rect">
            <a:avLst/>
          </a:prstGeom>
        </p:spPr>
      </p:pic>
      <p:sp>
        <p:nvSpPr>
          <p:cNvPr id="16" name="Shape 9"/>
          <p:cNvSpPr/>
          <p:nvPr/>
        </p:nvSpPr>
        <p:spPr>
          <a:xfrm>
            <a:off x="6812280" y="3931920"/>
            <a:ext cx="502920" cy="502920"/>
          </a:xfrm>
          <a:prstGeom prst="ellipse">
            <a:avLst/>
          </a:prstGeom>
          <a:solidFill>
            <a:srgbClr val="1B5E20"/>
          </a:solidFill>
          <a:ln w="12700">
            <a:solidFill>
              <a:srgbClr val="1B5E20"/>
            </a:solidFill>
            <a:prstDash val="solid"/>
          </a:ln>
        </p:spPr>
      </p:sp>
      <p:pic>
        <p:nvPicPr>
          <p:cNvPr id="17" name="Image 4" descr="preencoded.png">    </p:cNvPr>
          <p:cNvPicPr>
            <a:picLocks noChangeAspect="1"/>
          </p:cNvPicPr>
          <p:nvPr/>
        </p:nvPicPr>
        <p:blipFill>
          <a:blip r:embed="rId5"/>
          <a:stretch>
            <a:fillRect/>
          </a:stretch>
        </p:blipFill>
        <p:spPr>
          <a:xfrm>
            <a:off x="6938010" y="4057650"/>
            <a:ext cx="251460" cy="251460"/>
          </a:xfrm>
          <a:prstGeom prst="rect">
            <a:avLst/>
          </a:prstGeom>
        </p:spPr>
      </p:pic>
      <p:sp>
        <p:nvSpPr>
          <p:cNvPr id="18" name="Shape 10"/>
          <p:cNvSpPr/>
          <p:nvPr/>
        </p:nvSpPr>
        <p:spPr>
          <a:xfrm>
            <a:off x="7452360" y="3931920"/>
            <a:ext cx="502920" cy="502920"/>
          </a:xfrm>
          <a:prstGeom prst="ellipse">
            <a:avLst/>
          </a:prstGeom>
          <a:solidFill>
            <a:srgbClr val="1B5E20"/>
          </a:solidFill>
          <a:ln w="12700">
            <a:solidFill>
              <a:srgbClr val="1B5E20"/>
            </a:solidFill>
            <a:prstDash val="solid"/>
          </a:ln>
        </p:spPr>
      </p:sp>
      <p:pic>
        <p:nvPicPr>
          <p:cNvPr id="19" name="Image 5" descr="preencoded.png">    </p:cNvPr>
          <p:cNvPicPr>
            <a:picLocks noChangeAspect="1"/>
          </p:cNvPicPr>
          <p:nvPr/>
        </p:nvPicPr>
        <p:blipFill>
          <a:blip r:embed="rId6"/>
          <a:stretch>
            <a:fillRect/>
          </a:stretch>
        </p:blipFill>
        <p:spPr>
          <a:xfrm>
            <a:off x="7578090" y="4057650"/>
            <a:ext cx="251460" cy="251460"/>
          </a:xfrm>
          <a:prstGeom prst="rect">
            <a:avLst/>
          </a:prstGeom>
        </p:spPr>
      </p:pic>
      <p:sp>
        <p:nvSpPr>
          <p:cNvPr id="20" name="Shape 11"/>
          <p:cNvSpPr/>
          <p:nvPr/>
        </p:nvSpPr>
        <p:spPr>
          <a:xfrm>
            <a:off x="8092440" y="3931920"/>
            <a:ext cx="502920" cy="502920"/>
          </a:xfrm>
          <a:prstGeom prst="ellipse">
            <a:avLst/>
          </a:prstGeom>
          <a:solidFill>
            <a:srgbClr val="1B5E20"/>
          </a:solidFill>
          <a:ln w="12700">
            <a:solidFill>
              <a:srgbClr val="1B5E20"/>
            </a:solidFill>
            <a:prstDash val="solid"/>
          </a:ln>
        </p:spPr>
      </p:sp>
      <p:pic>
        <p:nvPicPr>
          <p:cNvPr id="21" name="Image 6" descr="preencoded.png">    </p:cNvPr>
          <p:cNvPicPr>
            <a:picLocks noChangeAspect="1"/>
          </p:cNvPicPr>
          <p:nvPr/>
        </p:nvPicPr>
        <p:blipFill>
          <a:blip r:embed="rId7"/>
          <a:stretch>
            <a:fillRect/>
          </a:stretch>
        </p:blipFill>
        <p:spPr>
          <a:xfrm>
            <a:off x="8218170" y="4057650"/>
            <a:ext cx="251460" cy="251460"/>
          </a:xfrm>
          <a:prstGeom prst="rect">
            <a:avLst/>
          </a:prstGeom>
        </p:spPr>
      </p:pic>
      <p:sp>
        <p:nvSpPr>
          <p:cNvPr id="25" name="Slide Number Placeholder 0"/>
          <p:cNvSpPr>
            <a:spLocks noGrp="1"/>
          </p:cNvSpPr>
          <p:nvPr>
            <p:ph type="sldNum" sz="quarter" idx="4294967295"/>
          </p:nvPr>
        </p:nvSpPr>
        <p:spPr>
          <a:xfrm>
            <a:off x="822960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F6B61"/>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rgbClr val="1B5E20"/>
                </a:solidFill>
                <a:latin typeface="Calibri" pitchFamily="34" charset="0"/>
                <a:ea typeface="Calibri" pitchFamily="34" charset="-122"/>
                <a:cs typeface="Calibri" pitchFamily="34" charset="-120"/>
              </a:rPr>
              <a:t>Problem Statement</a:t>
            </a:r>
            <a:endParaRPr lang="en-US" sz="2800" dirty="0"/>
          </a:p>
        </p:txBody>
      </p:sp>
      <p:sp>
        <p:nvSpPr>
          <p:cNvPr id="4" name="Shape 1"/>
          <p:cNvSpPr/>
          <p:nvPr/>
        </p:nvSpPr>
        <p:spPr>
          <a:xfrm>
            <a:off x="457200" y="1005840"/>
            <a:ext cx="8229600" cy="594360"/>
          </a:xfrm>
          <a:prstGeom prst="roundRect">
            <a:avLst>
              <a:gd name="adj" fmla="val 12308"/>
            </a:avLst>
          </a:prstGeom>
          <a:solidFill>
            <a:srgbClr val="E8F5E9"/>
          </a:solidFill>
          <a:ln w="12700">
            <a:solidFill>
              <a:srgbClr val="66BB6A"/>
            </a:solidFill>
            <a:prstDash val="solid"/>
          </a:ln>
        </p:spPr>
      </p:sp>
      <p:pic>
        <p:nvPicPr>
          <p:cNvPr id="5" name="Image 0" descr="preencoded.png">    </p:cNvPr>
          <p:cNvPicPr>
            <a:picLocks noChangeAspect="1"/>
          </p:cNvPicPr>
          <p:nvPr/>
        </p:nvPicPr>
        <p:blipFill>
          <a:blip r:embed="rId1"/>
          <a:stretch>
            <a:fillRect/>
          </a:stretch>
        </p:blipFill>
        <p:spPr>
          <a:xfrm>
            <a:off x="640080" y="1165860"/>
            <a:ext cx="274320" cy="274320"/>
          </a:xfrm>
          <a:prstGeom prst="rect">
            <a:avLst/>
          </a:prstGeom>
        </p:spPr>
      </p:pic>
      <p:sp>
        <p:nvSpPr>
          <p:cNvPr id="6" name="Text 2"/>
          <p:cNvSpPr txBox="1"/>
          <p:nvPr/>
        </p:nvSpPr>
        <p:spPr>
          <a:xfrm>
            <a:off x="1051560" y="1051560"/>
            <a:ext cx="7498080" cy="502920"/>
          </a:xfrm>
          <a:prstGeom prst="rect">
            <a:avLst/>
          </a:prstGeom>
          <a:noFill/>
          <a:ln/>
        </p:spPr>
        <p:txBody>
          <a:bodyPr wrap="square" lIns="0" tIns="0" rIns="0" bIns="0" rtlCol="0" anchor="ctr"/>
          <a:lstStyle/>
          <a:p>
            <a:pPr indent="0" marL="0">
              <a:buNone/>
            </a:pPr>
            <a:r>
              <a:rPr lang="en-US" sz="1100" dirty="0">
                <a:solidFill>
                  <a:srgbClr val="5F6B61"/>
                </a:solidFill>
                <a:latin typeface="Calibri" pitchFamily="34" charset="0"/>
                <a:ea typeface="Calibri" pitchFamily="34" charset="-122"/>
                <a:cs typeface="Calibri" pitchFamily="34" charset="-120"/>
              </a:rPr>
              <a:t>PHOTO: Background photograph of Indian agricultural fields or farmers</a:t>
            </a:r>
            <a:endParaRPr lang="en-US" sz="1100" dirty="0"/>
          </a:p>
        </p:txBody>
      </p:sp>
      <p:sp>
        <p:nvSpPr>
          <p:cNvPr id="7" name="Shape 3"/>
          <p:cNvSpPr/>
          <p:nvPr/>
        </p:nvSpPr>
        <p:spPr>
          <a:xfrm>
            <a:off x="457200" y="1783080"/>
            <a:ext cx="1920240" cy="1417320"/>
          </a:xfrm>
          <a:prstGeom prst="roundRect">
            <a:avLst>
              <a:gd name="adj" fmla="val 5161"/>
            </a:avLst>
          </a:prstGeom>
          <a:solidFill>
            <a:srgbClr val="F5F1E8"/>
          </a:solidFill>
          <a:ln w="12700">
            <a:solidFill>
              <a:srgbClr val="66BB6A"/>
            </a:solidFill>
            <a:prstDash val="solid"/>
          </a:ln>
        </p:spPr>
      </p:sp>
      <p:pic>
        <p:nvPicPr>
          <p:cNvPr id="8" name="Image 1" descr="preencoded.png">    </p:cNvPr>
          <p:cNvPicPr>
            <a:picLocks noChangeAspect="1"/>
          </p:cNvPicPr>
          <p:nvPr/>
        </p:nvPicPr>
        <p:blipFill>
          <a:blip r:embed="rId2"/>
          <a:stretch>
            <a:fillRect/>
          </a:stretch>
        </p:blipFill>
        <p:spPr>
          <a:xfrm>
            <a:off x="1234440" y="1892808"/>
            <a:ext cx="365760" cy="365760"/>
          </a:xfrm>
          <a:prstGeom prst="rect">
            <a:avLst/>
          </a:prstGeom>
        </p:spPr>
      </p:pic>
      <p:sp>
        <p:nvSpPr>
          <p:cNvPr id="9" name="Text 4"/>
          <p:cNvSpPr txBox="1"/>
          <p:nvPr/>
        </p:nvSpPr>
        <p:spPr>
          <a:xfrm>
            <a:off x="548640" y="2331720"/>
            <a:ext cx="1737360" cy="822960"/>
          </a:xfrm>
          <a:prstGeom prst="rect">
            <a:avLst/>
          </a:prstGeom>
          <a:noFill/>
          <a:ln/>
        </p:spPr>
        <p:txBody>
          <a:bodyPr wrap="square" lIns="0" tIns="0" rIns="0" bIns="0" rtlCol="0" anchor="t"/>
          <a:lstStyle/>
          <a:p>
            <a:pPr algn="ctr" indent="0" marL="0">
              <a:buNone/>
            </a:pPr>
            <a:r>
              <a:rPr lang="en-US" sz="1300" b="1" dirty="0">
                <a:solidFill>
                  <a:srgbClr val="1F2A24"/>
                </a:solidFill>
                <a:latin typeface="Calibri" pitchFamily="34" charset="0"/>
                <a:ea typeface="Calibri" pitchFamily="34" charset="-122"/>
                <a:cs typeface="Calibri" pitchFamily="34" charset="-120"/>
              </a:rPr>
              <a:t>Difficulty selecting suitable crops and seeds</a:t>
            </a:r>
            <a:endParaRPr lang="en-US" sz="1300" dirty="0"/>
          </a:p>
        </p:txBody>
      </p:sp>
      <p:sp>
        <p:nvSpPr>
          <p:cNvPr id="10" name="Shape 5"/>
          <p:cNvSpPr/>
          <p:nvPr/>
        </p:nvSpPr>
        <p:spPr>
          <a:xfrm>
            <a:off x="2560320" y="1783080"/>
            <a:ext cx="1920240" cy="1417320"/>
          </a:xfrm>
          <a:prstGeom prst="roundRect">
            <a:avLst>
              <a:gd name="adj" fmla="val 5161"/>
            </a:avLst>
          </a:prstGeom>
          <a:solidFill>
            <a:srgbClr val="F5F1E8"/>
          </a:solidFill>
          <a:ln w="12700">
            <a:solidFill>
              <a:srgbClr val="66BB6A"/>
            </a:solidFill>
            <a:prstDash val="solid"/>
          </a:ln>
        </p:spPr>
      </p:sp>
      <p:pic>
        <p:nvPicPr>
          <p:cNvPr id="11" name="Image 2" descr="preencoded.png">    </p:cNvPr>
          <p:cNvPicPr>
            <a:picLocks noChangeAspect="1"/>
          </p:cNvPicPr>
          <p:nvPr/>
        </p:nvPicPr>
        <p:blipFill>
          <a:blip r:embed="rId3"/>
          <a:stretch>
            <a:fillRect/>
          </a:stretch>
        </p:blipFill>
        <p:spPr>
          <a:xfrm>
            <a:off x="3337560" y="1892808"/>
            <a:ext cx="365760" cy="365760"/>
          </a:xfrm>
          <a:prstGeom prst="rect">
            <a:avLst/>
          </a:prstGeom>
        </p:spPr>
      </p:pic>
      <p:sp>
        <p:nvSpPr>
          <p:cNvPr id="12" name="Text 6"/>
          <p:cNvSpPr txBox="1"/>
          <p:nvPr/>
        </p:nvSpPr>
        <p:spPr>
          <a:xfrm>
            <a:off x="2651760" y="2331720"/>
            <a:ext cx="1737360" cy="822960"/>
          </a:xfrm>
          <a:prstGeom prst="rect">
            <a:avLst/>
          </a:prstGeom>
          <a:noFill/>
          <a:ln/>
        </p:spPr>
        <p:txBody>
          <a:bodyPr wrap="square" lIns="0" tIns="0" rIns="0" bIns="0" rtlCol="0" anchor="t"/>
          <a:lstStyle/>
          <a:p>
            <a:pPr algn="ctr" indent="0" marL="0">
              <a:buNone/>
            </a:pPr>
            <a:r>
              <a:rPr lang="en-US" sz="1300" b="1" dirty="0">
                <a:solidFill>
                  <a:srgbClr val="1F2A24"/>
                </a:solidFill>
                <a:latin typeface="Calibri" pitchFamily="34" charset="0"/>
                <a:ea typeface="Calibri" pitchFamily="34" charset="-122"/>
                <a:cs typeface="Calibri" pitchFamily="34" charset="-120"/>
              </a:rPr>
              <a:t>Lack of timely weather information</a:t>
            </a:r>
            <a:endParaRPr lang="en-US" sz="1300" dirty="0"/>
          </a:p>
        </p:txBody>
      </p:sp>
      <p:sp>
        <p:nvSpPr>
          <p:cNvPr id="13" name="Shape 7"/>
          <p:cNvSpPr/>
          <p:nvPr/>
        </p:nvSpPr>
        <p:spPr>
          <a:xfrm>
            <a:off x="4663440" y="1783080"/>
            <a:ext cx="1920240" cy="1417320"/>
          </a:xfrm>
          <a:prstGeom prst="roundRect">
            <a:avLst>
              <a:gd name="adj" fmla="val 5161"/>
            </a:avLst>
          </a:prstGeom>
          <a:solidFill>
            <a:srgbClr val="F5F1E8"/>
          </a:solidFill>
          <a:ln w="12700">
            <a:solidFill>
              <a:srgbClr val="66BB6A"/>
            </a:solidFill>
            <a:prstDash val="solid"/>
          </a:ln>
        </p:spPr>
      </p:sp>
      <p:pic>
        <p:nvPicPr>
          <p:cNvPr id="14" name="Image 3" descr="preencoded.png">    </p:cNvPr>
          <p:cNvPicPr>
            <a:picLocks noChangeAspect="1"/>
          </p:cNvPicPr>
          <p:nvPr/>
        </p:nvPicPr>
        <p:blipFill>
          <a:blip r:embed="rId4"/>
          <a:stretch>
            <a:fillRect/>
          </a:stretch>
        </p:blipFill>
        <p:spPr>
          <a:xfrm>
            <a:off x="5440680" y="1892808"/>
            <a:ext cx="365760" cy="365760"/>
          </a:xfrm>
          <a:prstGeom prst="rect">
            <a:avLst/>
          </a:prstGeom>
        </p:spPr>
      </p:pic>
      <p:sp>
        <p:nvSpPr>
          <p:cNvPr id="15" name="Text 8"/>
          <p:cNvSpPr txBox="1"/>
          <p:nvPr/>
        </p:nvSpPr>
        <p:spPr>
          <a:xfrm>
            <a:off x="4754880" y="2331720"/>
            <a:ext cx="1737360" cy="822960"/>
          </a:xfrm>
          <a:prstGeom prst="rect">
            <a:avLst/>
          </a:prstGeom>
          <a:noFill/>
          <a:ln/>
        </p:spPr>
        <p:txBody>
          <a:bodyPr wrap="square" lIns="0" tIns="0" rIns="0" bIns="0" rtlCol="0" anchor="t"/>
          <a:lstStyle/>
          <a:p>
            <a:pPr algn="ctr" indent="0" marL="0">
              <a:buNone/>
            </a:pPr>
            <a:r>
              <a:rPr lang="en-US" sz="1300" b="1" dirty="0">
                <a:solidFill>
                  <a:srgbClr val="1F2A24"/>
                </a:solidFill>
                <a:latin typeface="Calibri" pitchFamily="34" charset="0"/>
                <a:ea typeface="Calibri" pitchFamily="34" charset="-122"/>
                <a:cs typeface="Calibri" pitchFamily="34" charset="-120"/>
              </a:rPr>
              <a:t>Difficulty planning irrigation</a:t>
            </a:r>
            <a:endParaRPr lang="en-US" sz="1300" dirty="0"/>
          </a:p>
        </p:txBody>
      </p:sp>
      <p:sp>
        <p:nvSpPr>
          <p:cNvPr id="16" name="Shape 9"/>
          <p:cNvSpPr/>
          <p:nvPr/>
        </p:nvSpPr>
        <p:spPr>
          <a:xfrm>
            <a:off x="6766560" y="1783080"/>
            <a:ext cx="1920240" cy="1417320"/>
          </a:xfrm>
          <a:prstGeom prst="roundRect">
            <a:avLst>
              <a:gd name="adj" fmla="val 5161"/>
            </a:avLst>
          </a:prstGeom>
          <a:solidFill>
            <a:srgbClr val="F5F1E8"/>
          </a:solidFill>
          <a:ln w="12700">
            <a:solidFill>
              <a:srgbClr val="66BB6A"/>
            </a:solidFill>
            <a:prstDash val="solid"/>
          </a:ln>
        </p:spPr>
      </p:sp>
      <p:pic>
        <p:nvPicPr>
          <p:cNvPr id="17" name="Image 4" descr="preencoded.png">    </p:cNvPr>
          <p:cNvPicPr>
            <a:picLocks noChangeAspect="1"/>
          </p:cNvPicPr>
          <p:nvPr/>
        </p:nvPicPr>
        <p:blipFill>
          <a:blip r:embed="rId5"/>
          <a:stretch>
            <a:fillRect/>
          </a:stretch>
        </p:blipFill>
        <p:spPr>
          <a:xfrm>
            <a:off x="7543800" y="1892808"/>
            <a:ext cx="365760" cy="365760"/>
          </a:xfrm>
          <a:prstGeom prst="rect">
            <a:avLst/>
          </a:prstGeom>
        </p:spPr>
      </p:pic>
      <p:sp>
        <p:nvSpPr>
          <p:cNvPr id="18" name="Text 10"/>
          <p:cNvSpPr txBox="1"/>
          <p:nvPr/>
        </p:nvSpPr>
        <p:spPr>
          <a:xfrm>
            <a:off x="6858000" y="2331720"/>
            <a:ext cx="1737360" cy="822960"/>
          </a:xfrm>
          <a:prstGeom prst="rect">
            <a:avLst/>
          </a:prstGeom>
          <a:noFill/>
          <a:ln/>
        </p:spPr>
        <p:txBody>
          <a:bodyPr wrap="square" lIns="0" tIns="0" rIns="0" bIns="0" rtlCol="0" anchor="t"/>
          <a:lstStyle/>
          <a:p>
            <a:pPr algn="ctr" indent="0" marL="0">
              <a:buNone/>
            </a:pPr>
            <a:r>
              <a:rPr lang="en-US" sz="1300" b="1" dirty="0">
                <a:solidFill>
                  <a:srgbClr val="1F2A24"/>
                </a:solidFill>
                <a:latin typeface="Calibri" pitchFamily="34" charset="0"/>
                <a:ea typeface="Calibri" pitchFamily="34" charset="-122"/>
                <a:cs typeface="Calibri" pitchFamily="34" charset="-120"/>
              </a:rPr>
              <a:t>Limited harvesting guidance</a:t>
            </a:r>
            <a:endParaRPr lang="en-US" sz="1300" dirty="0"/>
          </a:p>
        </p:txBody>
      </p:sp>
      <p:sp>
        <p:nvSpPr>
          <p:cNvPr id="19" name="Shape 11"/>
          <p:cNvSpPr/>
          <p:nvPr/>
        </p:nvSpPr>
        <p:spPr>
          <a:xfrm>
            <a:off x="457200" y="3337560"/>
            <a:ext cx="1920240" cy="1417320"/>
          </a:xfrm>
          <a:prstGeom prst="roundRect">
            <a:avLst>
              <a:gd name="adj" fmla="val 5161"/>
            </a:avLst>
          </a:prstGeom>
          <a:solidFill>
            <a:srgbClr val="F5F1E8"/>
          </a:solidFill>
          <a:ln w="12700">
            <a:solidFill>
              <a:srgbClr val="66BB6A"/>
            </a:solidFill>
            <a:prstDash val="solid"/>
          </a:ln>
        </p:spPr>
      </p:sp>
      <p:pic>
        <p:nvPicPr>
          <p:cNvPr id="20" name="Image 5" descr="preencoded.png">    </p:cNvPr>
          <p:cNvPicPr>
            <a:picLocks noChangeAspect="1"/>
          </p:cNvPicPr>
          <p:nvPr/>
        </p:nvPicPr>
        <p:blipFill>
          <a:blip r:embed="rId6"/>
          <a:stretch>
            <a:fillRect/>
          </a:stretch>
        </p:blipFill>
        <p:spPr>
          <a:xfrm>
            <a:off x="1234440" y="3447288"/>
            <a:ext cx="365760" cy="365760"/>
          </a:xfrm>
          <a:prstGeom prst="rect">
            <a:avLst/>
          </a:prstGeom>
        </p:spPr>
      </p:pic>
      <p:sp>
        <p:nvSpPr>
          <p:cNvPr id="21" name="Text 12"/>
          <p:cNvSpPr txBox="1"/>
          <p:nvPr/>
        </p:nvSpPr>
        <p:spPr>
          <a:xfrm>
            <a:off x="548640" y="3886200"/>
            <a:ext cx="1737360" cy="822960"/>
          </a:xfrm>
          <a:prstGeom prst="rect">
            <a:avLst/>
          </a:prstGeom>
          <a:noFill/>
          <a:ln/>
        </p:spPr>
        <p:txBody>
          <a:bodyPr wrap="square" lIns="0" tIns="0" rIns="0" bIns="0" rtlCol="0" anchor="t"/>
          <a:lstStyle/>
          <a:p>
            <a:pPr algn="ctr" indent="0" marL="0">
              <a:buNone/>
            </a:pPr>
            <a:r>
              <a:rPr lang="en-US" sz="1300" b="1" dirty="0">
                <a:solidFill>
                  <a:srgbClr val="1F2A24"/>
                </a:solidFill>
                <a:latin typeface="Calibri" pitchFamily="34" charset="0"/>
                <a:ea typeface="Calibri" pitchFamily="34" charset="-122"/>
                <a:cs typeface="Calibri" pitchFamily="34" charset="-120"/>
              </a:rPr>
              <a:t>Lack of market-price and selling information</a:t>
            </a:r>
            <a:endParaRPr lang="en-US" sz="1300" dirty="0"/>
          </a:p>
        </p:txBody>
      </p:sp>
      <p:sp>
        <p:nvSpPr>
          <p:cNvPr id="22" name="Shape 13"/>
          <p:cNvSpPr/>
          <p:nvPr/>
        </p:nvSpPr>
        <p:spPr>
          <a:xfrm>
            <a:off x="2560320" y="3337560"/>
            <a:ext cx="1920240" cy="1417320"/>
          </a:xfrm>
          <a:prstGeom prst="roundRect">
            <a:avLst>
              <a:gd name="adj" fmla="val 5161"/>
            </a:avLst>
          </a:prstGeom>
          <a:solidFill>
            <a:srgbClr val="F5F1E8"/>
          </a:solidFill>
          <a:ln w="12700">
            <a:solidFill>
              <a:srgbClr val="66BB6A"/>
            </a:solidFill>
            <a:prstDash val="solid"/>
          </a:ln>
        </p:spPr>
      </p:sp>
      <p:pic>
        <p:nvPicPr>
          <p:cNvPr id="23" name="Image 6" descr="preencoded.png">    </p:cNvPr>
          <p:cNvPicPr>
            <a:picLocks noChangeAspect="1"/>
          </p:cNvPicPr>
          <p:nvPr/>
        </p:nvPicPr>
        <p:blipFill>
          <a:blip r:embed="rId7"/>
          <a:stretch>
            <a:fillRect/>
          </a:stretch>
        </p:blipFill>
        <p:spPr>
          <a:xfrm>
            <a:off x="3337560" y="3447288"/>
            <a:ext cx="365760" cy="365760"/>
          </a:xfrm>
          <a:prstGeom prst="rect">
            <a:avLst/>
          </a:prstGeom>
        </p:spPr>
      </p:pic>
      <p:sp>
        <p:nvSpPr>
          <p:cNvPr id="24" name="Text 14"/>
          <p:cNvSpPr txBox="1"/>
          <p:nvPr/>
        </p:nvSpPr>
        <p:spPr>
          <a:xfrm>
            <a:off x="2651760" y="3886200"/>
            <a:ext cx="1737360" cy="822960"/>
          </a:xfrm>
          <a:prstGeom prst="rect">
            <a:avLst/>
          </a:prstGeom>
          <a:noFill/>
          <a:ln/>
        </p:spPr>
        <p:txBody>
          <a:bodyPr wrap="square" lIns="0" tIns="0" rIns="0" bIns="0" rtlCol="0" anchor="t"/>
          <a:lstStyle/>
          <a:p>
            <a:pPr algn="ctr" indent="0" marL="0">
              <a:buNone/>
            </a:pPr>
            <a:r>
              <a:rPr lang="en-US" sz="1300" b="1" dirty="0">
                <a:solidFill>
                  <a:srgbClr val="1F2A24"/>
                </a:solidFill>
                <a:latin typeface="Calibri" pitchFamily="34" charset="0"/>
                <a:ea typeface="Calibri" pitchFamily="34" charset="-122"/>
                <a:cs typeface="Calibri" pitchFamily="34" charset="-120"/>
              </a:rPr>
              <a:t>Difficulty connecting directly with customers</a:t>
            </a:r>
            <a:endParaRPr lang="en-US" sz="1300" dirty="0"/>
          </a:p>
        </p:txBody>
      </p:sp>
      <p:sp>
        <p:nvSpPr>
          <p:cNvPr id="25" name="Shape 15"/>
          <p:cNvSpPr/>
          <p:nvPr/>
        </p:nvSpPr>
        <p:spPr>
          <a:xfrm>
            <a:off x="4663440" y="3337560"/>
            <a:ext cx="1920240" cy="1417320"/>
          </a:xfrm>
          <a:prstGeom prst="roundRect">
            <a:avLst>
              <a:gd name="adj" fmla="val 5161"/>
            </a:avLst>
          </a:prstGeom>
          <a:solidFill>
            <a:srgbClr val="F5F1E8"/>
          </a:solidFill>
          <a:ln w="12700">
            <a:solidFill>
              <a:srgbClr val="66BB6A"/>
            </a:solidFill>
            <a:prstDash val="solid"/>
          </a:ln>
        </p:spPr>
      </p:sp>
      <p:pic>
        <p:nvPicPr>
          <p:cNvPr id="26" name="Image 7" descr="preencoded.png">    </p:cNvPr>
          <p:cNvPicPr>
            <a:picLocks noChangeAspect="1"/>
          </p:cNvPicPr>
          <p:nvPr/>
        </p:nvPicPr>
        <p:blipFill>
          <a:blip r:embed="rId8"/>
          <a:stretch>
            <a:fillRect/>
          </a:stretch>
        </p:blipFill>
        <p:spPr>
          <a:xfrm>
            <a:off x="5440680" y="3447288"/>
            <a:ext cx="365760" cy="365760"/>
          </a:xfrm>
          <a:prstGeom prst="rect">
            <a:avLst/>
          </a:prstGeom>
        </p:spPr>
      </p:pic>
      <p:sp>
        <p:nvSpPr>
          <p:cNvPr id="27" name="Text 16"/>
          <p:cNvSpPr txBox="1"/>
          <p:nvPr/>
        </p:nvSpPr>
        <p:spPr>
          <a:xfrm>
            <a:off x="4754880" y="3886200"/>
            <a:ext cx="1737360" cy="822960"/>
          </a:xfrm>
          <a:prstGeom prst="rect">
            <a:avLst/>
          </a:prstGeom>
          <a:noFill/>
          <a:ln/>
        </p:spPr>
        <p:txBody>
          <a:bodyPr wrap="square" lIns="0" tIns="0" rIns="0" bIns="0" rtlCol="0" anchor="t"/>
          <a:lstStyle/>
          <a:p>
            <a:pPr algn="ctr" indent="0" marL="0">
              <a:buNone/>
            </a:pPr>
            <a:r>
              <a:rPr lang="en-US" sz="1300" b="1" dirty="0">
                <a:solidFill>
                  <a:srgbClr val="1F2A24"/>
                </a:solidFill>
                <a:latin typeface="Calibri" pitchFamily="34" charset="0"/>
                <a:ea typeface="Calibri" pitchFamily="34" charset="-122"/>
                <a:cs typeface="Calibri" pitchFamily="34" charset="-120"/>
              </a:rPr>
              <a:t>Transportation challenges</a:t>
            </a:r>
            <a:endParaRPr lang="en-US" sz="1300" dirty="0"/>
          </a:p>
        </p:txBody>
      </p:sp>
      <p:sp>
        <p:nvSpPr>
          <p:cNvPr id="28" name="Shape 17"/>
          <p:cNvSpPr/>
          <p:nvPr/>
        </p:nvSpPr>
        <p:spPr>
          <a:xfrm>
            <a:off x="6766560" y="3337560"/>
            <a:ext cx="1920240" cy="1417320"/>
          </a:xfrm>
          <a:prstGeom prst="roundRect">
            <a:avLst>
              <a:gd name="adj" fmla="val 5161"/>
            </a:avLst>
          </a:prstGeom>
          <a:solidFill>
            <a:srgbClr val="F5F1E8"/>
          </a:solidFill>
          <a:ln w="12700">
            <a:solidFill>
              <a:srgbClr val="66BB6A"/>
            </a:solidFill>
            <a:prstDash val="solid"/>
          </a:ln>
        </p:spPr>
      </p:sp>
      <p:pic>
        <p:nvPicPr>
          <p:cNvPr id="29" name="Image 8" descr="preencoded.png">    </p:cNvPr>
          <p:cNvPicPr>
            <a:picLocks noChangeAspect="1"/>
          </p:cNvPicPr>
          <p:nvPr/>
        </p:nvPicPr>
        <p:blipFill>
          <a:blip r:embed="rId9"/>
          <a:stretch>
            <a:fillRect/>
          </a:stretch>
        </p:blipFill>
        <p:spPr>
          <a:xfrm>
            <a:off x="7543800" y="3447288"/>
            <a:ext cx="365760" cy="365760"/>
          </a:xfrm>
          <a:prstGeom prst="rect">
            <a:avLst/>
          </a:prstGeom>
        </p:spPr>
      </p:pic>
      <p:sp>
        <p:nvSpPr>
          <p:cNvPr id="30" name="Text 18"/>
          <p:cNvSpPr txBox="1"/>
          <p:nvPr/>
        </p:nvSpPr>
        <p:spPr>
          <a:xfrm>
            <a:off x="6858000" y="3886200"/>
            <a:ext cx="1737360" cy="822960"/>
          </a:xfrm>
          <a:prstGeom prst="rect">
            <a:avLst/>
          </a:prstGeom>
          <a:noFill/>
          <a:ln/>
        </p:spPr>
        <p:txBody>
          <a:bodyPr wrap="square" lIns="0" tIns="0" rIns="0" bIns="0" rtlCol="0" anchor="t"/>
          <a:lstStyle/>
          <a:p>
            <a:pPr algn="ctr" indent="0" marL="0">
              <a:buNone/>
            </a:pPr>
            <a:r>
              <a:rPr lang="en-US" sz="1300" b="1" dirty="0">
                <a:solidFill>
                  <a:srgbClr val="1F2A24"/>
                </a:solidFill>
                <a:latin typeface="Calibri" pitchFamily="34" charset="0"/>
                <a:ea typeface="Calibri" pitchFamily="34" charset="-122"/>
                <a:cs typeface="Calibri" pitchFamily="34" charset="-120"/>
              </a:rPr>
              <a:t>Agricultural information spread across different sources</a:t>
            </a:r>
            <a:endParaRPr lang="en-US" sz="1300" dirty="0"/>
          </a:p>
        </p:txBody>
      </p:sp>
      <p:sp>
        <p:nvSpPr>
          <p:cNvPr id="25" name="Slide Number Placeholder 0"/>
          <p:cNvSpPr>
            <a:spLocks noGrp="1"/>
          </p:cNvSpPr>
          <p:nvPr>
            <p:ph type="sldNum" sz="quarter" idx="4294967295"/>
          </p:nvPr>
        </p:nvSpPr>
        <p:spPr>
          <a:xfrm>
            <a:off x="822960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F6B61"/>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rgbClr val="1B5E20"/>
                </a:solidFill>
                <a:latin typeface="Calibri" pitchFamily="34" charset="0"/>
                <a:ea typeface="Calibri" pitchFamily="34" charset="-122"/>
                <a:cs typeface="Calibri" pitchFamily="34" charset="-120"/>
              </a:rPr>
              <a:t>Proposed System</a:t>
            </a:r>
            <a:endParaRPr lang="en-US" sz="2800" dirty="0"/>
          </a:p>
        </p:txBody>
      </p:sp>
      <p:sp>
        <p:nvSpPr>
          <p:cNvPr id="4" name="Shape 1"/>
          <p:cNvSpPr/>
          <p:nvPr/>
        </p:nvSpPr>
        <p:spPr>
          <a:xfrm>
            <a:off x="457200" y="1051560"/>
            <a:ext cx="2834640" cy="731520"/>
          </a:xfrm>
          <a:prstGeom prst="roundRect">
            <a:avLst>
              <a:gd name="adj" fmla="val 10000"/>
            </a:avLst>
          </a:prstGeom>
          <a:solidFill>
            <a:srgbClr val="F5F1E8"/>
          </a:solidFill>
          <a:ln w="12700">
            <a:solidFill>
              <a:srgbClr val="66BB6A"/>
            </a:solidFill>
            <a:prstDash val="solid"/>
          </a:ln>
        </p:spPr>
      </p:sp>
      <p:sp>
        <p:nvSpPr>
          <p:cNvPr id="5" name="Shape 2"/>
          <p:cNvSpPr/>
          <p:nvPr/>
        </p:nvSpPr>
        <p:spPr>
          <a:xfrm>
            <a:off x="566928" y="1188720"/>
            <a:ext cx="457200" cy="457200"/>
          </a:xfrm>
          <a:prstGeom prst="ellipse">
            <a:avLst/>
          </a:prstGeom>
          <a:solidFill>
            <a:srgbClr val="1B5E20"/>
          </a:solidFill>
          <a:ln w="12700">
            <a:solidFill>
              <a:srgbClr val="1B5E20"/>
            </a:solidFill>
            <a:prstDash val="solid"/>
          </a:ln>
        </p:spPr>
      </p:sp>
      <p:pic>
        <p:nvPicPr>
          <p:cNvPr id="6" name="Image 0" descr="preencoded.png">    </p:cNvPr>
          <p:cNvPicPr>
            <a:picLocks noChangeAspect="1"/>
          </p:cNvPicPr>
          <p:nvPr/>
        </p:nvPicPr>
        <p:blipFill>
          <a:blip r:embed="rId1"/>
          <a:stretch>
            <a:fillRect/>
          </a:stretch>
        </p:blipFill>
        <p:spPr>
          <a:xfrm>
            <a:off x="676656" y="1298448"/>
            <a:ext cx="237744" cy="237744"/>
          </a:xfrm>
          <a:prstGeom prst="rect">
            <a:avLst/>
          </a:prstGeom>
        </p:spPr>
      </p:pic>
      <p:sp>
        <p:nvSpPr>
          <p:cNvPr id="7" name="Text 3"/>
          <p:cNvSpPr txBox="1"/>
          <p:nvPr/>
        </p:nvSpPr>
        <p:spPr>
          <a:xfrm>
            <a:off x="1143000" y="1051560"/>
            <a:ext cx="2057400" cy="731520"/>
          </a:xfrm>
          <a:prstGeom prst="rect">
            <a:avLst/>
          </a:prstGeom>
          <a:noFill/>
          <a:ln/>
        </p:spPr>
        <p:txBody>
          <a:bodyPr wrap="square" lIns="0" tIns="0" rIns="0" bIns="0" rtlCol="0" anchor="ctr"/>
          <a:lstStyle/>
          <a:p>
            <a:pPr indent="0" marL="0">
              <a:buNone/>
            </a:pPr>
            <a:r>
              <a:rPr lang="en-US" sz="1300" b="1" dirty="0">
                <a:solidFill>
                  <a:srgbClr val="1F2A24"/>
                </a:solidFill>
                <a:latin typeface="Calibri" pitchFamily="34" charset="0"/>
                <a:ea typeface="Calibri" pitchFamily="34" charset="-122"/>
                <a:cs typeface="Calibri" pitchFamily="34" charset="-120"/>
              </a:rPr>
              <a:t>Crop selection guidance</a:t>
            </a:r>
            <a:endParaRPr lang="en-US" sz="1300" dirty="0"/>
          </a:p>
        </p:txBody>
      </p:sp>
      <p:sp>
        <p:nvSpPr>
          <p:cNvPr id="8" name="Shape 4"/>
          <p:cNvSpPr/>
          <p:nvPr/>
        </p:nvSpPr>
        <p:spPr>
          <a:xfrm>
            <a:off x="457200" y="1920240"/>
            <a:ext cx="2834640" cy="731520"/>
          </a:xfrm>
          <a:prstGeom prst="roundRect">
            <a:avLst>
              <a:gd name="adj" fmla="val 10000"/>
            </a:avLst>
          </a:prstGeom>
          <a:solidFill>
            <a:srgbClr val="F5F1E8"/>
          </a:solidFill>
          <a:ln w="12700">
            <a:solidFill>
              <a:srgbClr val="66BB6A"/>
            </a:solidFill>
            <a:prstDash val="solid"/>
          </a:ln>
        </p:spPr>
      </p:sp>
      <p:sp>
        <p:nvSpPr>
          <p:cNvPr id="9" name="Shape 5"/>
          <p:cNvSpPr/>
          <p:nvPr/>
        </p:nvSpPr>
        <p:spPr>
          <a:xfrm>
            <a:off x="566928" y="2057400"/>
            <a:ext cx="457200" cy="457200"/>
          </a:xfrm>
          <a:prstGeom prst="ellipse">
            <a:avLst/>
          </a:prstGeom>
          <a:solidFill>
            <a:srgbClr val="1B5E20"/>
          </a:solidFill>
          <a:ln w="12700">
            <a:solidFill>
              <a:srgbClr val="1B5E20"/>
            </a:solidFill>
            <a:prstDash val="solid"/>
          </a:ln>
        </p:spPr>
      </p:sp>
      <p:pic>
        <p:nvPicPr>
          <p:cNvPr id="10" name="Image 1" descr="preencoded.png">    </p:cNvPr>
          <p:cNvPicPr>
            <a:picLocks noChangeAspect="1"/>
          </p:cNvPicPr>
          <p:nvPr/>
        </p:nvPicPr>
        <p:blipFill>
          <a:blip r:embed="rId2"/>
          <a:stretch>
            <a:fillRect/>
          </a:stretch>
        </p:blipFill>
        <p:spPr>
          <a:xfrm>
            <a:off x="676656" y="2167128"/>
            <a:ext cx="237744" cy="237744"/>
          </a:xfrm>
          <a:prstGeom prst="rect">
            <a:avLst/>
          </a:prstGeom>
        </p:spPr>
      </p:pic>
      <p:sp>
        <p:nvSpPr>
          <p:cNvPr id="11" name="Text 6"/>
          <p:cNvSpPr txBox="1"/>
          <p:nvPr/>
        </p:nvSpPr>
        <p:spPr>
          <a:xfrm>
            <a:off x="1143000" y="1920240"/>
            <a:ext cx="2057400" cy="731520"/>
          </a:xfrm>
          <a:prstGeom prst="rect">
            <a:avLst/>
          </a:prstGeom>
          <a:noFill/>
          <a:ln/>
        </p:spPr>
        <p:txBody>
          <a:bodyPr wrap="square" lIns="0" tIns="0" rIns="0" bIns="0" rtlCol="0" anchor="ctr"/>
          <a:lstStyle/>
          <a:p>
            <a:pPr indent="0" marL="0">
              <a:buNone/>
            </a:pPr>
            <a:r>
              <a:rPr lang="en-US" sz="1300" b="1" dirty="0">
                <a:solidFill>
                  <a:srgbClr val="1F2A24"/>
                </a:solidFill>
                <a:latin typeface="Calibri" pitchFamily="34" charset="0"/>
                <a:ea typeface="Calibri" pitchFamily="34" charset="-122"/>
                <a:cs typeface="Calibri" pitchFamily="34" charset="-120"/>
              </a:rPr>
              <a:t>Seed selection support</a:t>
            </a:r>
            <a:endParaRPr lang="en-US" sz="1300" dirty="0"/>
          </a:p>
        </p:txBody>
      </p:sp>
      <p:sp>
        <p:nvSpPr>
          <p:cNvPr id="12" name="Shape 7"/>
          <p:cNvSpPr/>
          <p:nvPr/>
        </p:nvSpPr>
        <p:spPr>
          <a:xfrm>
            <a:off x="457200" y="2788920"/>
            <a:ext cx="2834640" cy="731520"/>
          </a:xfrm>
          <a:prstGeom prst="roundRect">
            <a:avLst>
              <a:gd name="adj" fmla="val 10000"/>
            </a:avLst>
          </a:prstGeom>
          <a:solidFill>
            <a:srgbClr val="F5F1E8"/>
          </a:solidFill>
          <a:ln w="12700">
            <a:solidFill>
              <a:srgbClr val="66BB6A"/>
            </a:solidFill>
            <a:prstDash val="solid"/>
          </a:ln>
        </p:spPr>
      </p:sp>
      <p:sp>
        <p:nvSpPr>
          <p:cNvPr id="13" name="Shape 8"/>
          <p:cNvSpPr/>
          <p:nvPr/>
        </p:nvSpPr>
        <p:spPr>
          <a:xfrm>
            <a:off x="566928" y="2926080"/>
            <a:ext cx="457200" cy="457200"/>
          </a:xfrm>
          <a:prstGeom prst="ellipse">
            <a:avLst/>
          </a:prstGeom>
          <a:solidFill>
            <a:srgbClr val="1B5E20"/>
          </a:solidFill>
          <a:ln w="12700">
            <a:solidFill>
              <a:srgbClr val="1B5E20"/>
            </a:solidFill>
            <a:prstDash val="solid"/>
          </a:ln>
        </p:spPr>
      </p:sp>
      <p:pic>
        <p:nvPicPr>
          <p:cNvPr id="14" name="Image 2" descr="preencoded.png">    </p:cNvPr>
          <p:cNvPicPr>
            <a:picLocks noChangeAspect="1"/>
          </p:cNvPicPr>
          <p:nvPr/>
        </p:nvPicPr>
        <p:blipFill>
          <a:blip r:embed="rId3"/>
          <a:stretch>
            <a:fillRect/>
          </a:stretch>
        </p:blipFill>
        <p:spPr>
          <a:xfrm>
            <a:off x="676656" y="3035808"/>
            <a:ext cx="237744" cy="237744"/>
          </a:xfrm>
          <a:prstGeom prst="rect">
            <a:avLst/>
          </a:prstGeom>
        </p:spPr>
      </p:pic>
      <p:sp>
        <p:nvSpPr>
          <p:cNvPr id="15" name="Text 9"/>
          <p:cNvSpPr txBox="1"/>
          <p:nvPr/>
        </p:nvSpPr>
        <p:spPr>
          <a:xfrm>
            <a:off x="1143000" y="2788920"/>
            <a:ext cx="2057400" cy="731520"/>
          </a:xfrm>
          <a:prstGeom prst="rect">
            <a:avLst/>
          </a:prstGeom>
          <a:noFill/>
          <a:ln/>
        </p:spPr>
        <p:txBody>
          <a:bodyPr wrap="square" lIns="0" tIns="0" rIns="0" bIns="0" rtlCol="0" anchor="ctr"/>
          <a:lstStyle/>
          <a:p>
            <a:pPr indent="0" marL="0">
              <a:buNone/>
            </a:pPr>
            <a:r>
              <a:rPr lang="en-US" sz="1300" b="1" dirty="0">
                <a:solidFill>
                  <a:srgbClr val="1F2A24"/>
                </a:solidFill>
                <a:latin typeface="Calibri" pitchFamily="34" charset="0"/>
                <a:ea typeface="Calibri" pitchFamily="34" charset="-122"/>
                <a:cs typeface="Calibri" pitchFamily="34" charset="-120"/>
              </a:rPr>
              <a:t>Weather information</a:t>
            </a:r>
            <a:endParaRPr lang="en-US" sz="1300" dirty="0"/>
          </a:p>
        </p:txBody>
      </p:sp>
      <p:sp>
        <p:nvSpPr>
          <p:cNvPr id="16" name="Shape 10"/>
          <p:cNvSpPr/>
          <p:nvPr/>
        </p:nvSpPr>
        <p:spPr>
          <a:xfrm>
            <a:off x="457200" y="3657600"/>
            <a:ext cx="2834640" cy="731520"/>
          </a:xfrm>
          <a:prstGeom prst="roundRect">
            <a:avLst>
              <a:gd name="adj" fmla="val 10000"/>
            </a:avLst>
          </a:prstGeom>
          <a:solidFill>
            <a:srgbClr val="F5F1E8"/>
          </a:solidFill>
          <a:ln w="12700">
            <a:solidFill>
              <a:srgbClr val="66BB6A"/>
            </a:solidFill>
            <a:prstDash val="solid"/>
          </a:ln>
        </p:spPr>
      </p:sp>
      <p:sp>
        <p:nvSpPr>
          <p:cNvPr id="17" name="Shape 11"/>
          <p:cNvSpPr/>
          <p:nvPr/>
        </p:nvSpPr>
        <p:spPr>
          <a:xfrm>
            <a:off x="566928" y="3794760"/>
            <a:ext cx="457200" cy="457200"/>
          </a:xfrm>
          <a:prstGeom prst="ellipse">
            <a:avLst/>
          </a:prstGeom>
          <a:solidFill>
            <a:srgbClr val="1B5E20"/>
          </a:solidFill>
          <a:ln w="12700">
            <a:solidFill>
              <a:srgbClr val="1B5E20"/>
            </a:solidFill>
            <a:prstDash val="solid"/>
          </a:ln>
        </p:spPr>
      </p:sp>
      <p:pic>
        <p:nvPicPr>
          <p:cNvPr id="18" name="Image 3" descr="preencoded.png">    </p:cNvPr>
          <p:cNvPicPr>
            <a:picLocks noChangeAspect="1"/>
          </p:cNvPicPr>
          <p:nvPr/>
        </p:nvPicPr>
        <p:blipFill>
          <a:blip r:embed="rId4"/>
          <a:stretch>
            <a:fillRect/>
          </a:stretch>
        </p:blipFill>
        <p:spPr>
          <a:xfrm>
            <a:off x="676656" y="3904488"/>
            <a:ext cx="237744" cy="237744"/>
          </a:xfrm>
          <a:prstGeom prst="rect">
            <a:avLst/>
          </a:prstGeom>
        </p:spPr>
      </p:pic>
      <p:sp>
        <p:nvSpPr>
          <p:cNvPr id="19" name="Text 12"/>
          <p:cNvSpPr txBox="1"/>
          <p:nvPr/>
        </p:nvSpPr>
        <p:spPr>
          <a:xfrm>
            <a:off x="1143000" y="3657600"/>
            <a:ext cx="2057400" cy="731520"/>
          </a:xfrm>
          <a:prstGeom prst="rect">
            <a:avLst/>
          </a:prstGeom>
          <a:noFill/>
          <a:ln/>
        </p:spPr>
        <p:txBody>
          <a:bodyPr wrap="square" lIns="0" tIns="0" rIns="0" bIns="0" rtlCol="0" anchor="ctr"/>
          <a:lstStyle/>
          <a:p>
            <a:pPr indent="0" marL="0">
              <a:buNone/>
            </a:pPr>
            <a:r>
              <a:rPr lang="en-US" sz="1300" b="1" dirty="0">
                <a:solidFill>
                  <a:srgbClr val="1F2A24"/>
                </a:solidFill>
                <a:latin typeface="Calibri" pitchFamily="34" charset="0"/>
                <a:ea typeface="Calibri" pitchFamily="34" charset="-122"/>
                <a:cs typeface="Calibri" pitchFamily="34" charset="-120"/>
              </a:rPr>
              <a:t>Irrigation guidance</a:t>
            </a:r>
            <a:endParaRPr lang="en-US" sz="1300" dirty="0"/>
          </a:p>
        </p:txBody>
      </p:sp>
      <p:sp>
        <p:nvSpPr>
          <p:cNvPr id="20" name="Shape 13"/>
          <p:cNvSpPr/>
          <p:nvPr/>
        </p:nvSpPr>
        <p:spPr>
          <a:xfrm>
            <a:off x="5852160" y="1051560"/>
            <a:ext cx="2834640" cy="731520"/>
          </a:xfrm>
          <a:prstGeom prst="roundRect">
            <a:avLst>
              <a:gd name="adj" fmla="val 10000"/>
            </a:avLst>
          </a:prstGeom>
          <a:solidFill>
            <a:srgbClr val="F5F1E8"/>
          </a:solidFill>
          <a:ln w="12700">
            <a:solidFill>
              <a:srgbClr val="66BB6A"/>
            </a:solidFill>
            <a:prstDash val="solid"/>
          </a:ln>
        </p:spPr>
      </p:sp>
      <p:sp>
        <p:nvSpPr>
          <p:cNvPr id="21" name="Shape 14"/>
          <p:cNvSpPr/>
          <p:nvPr/>
        </p:nvSpPr>
        <p:spPr>
          <a:xfrm>
            <a:off x="5961888" y="1188720"/>
            <a:ext cx="457200" cy="457200"/>
          </a:xfrm>
          <a:prstGeom prst="ellipse">
            <a:avLst/>
          </a:prstGeom>
          <a:solidFill>
            <a:srgbClr val="1B5E20"/>
          </a:solidFill>
          <a:ln w="12700">
            <a:solidFill>
              <a:srgbClr val="1B5E20"/>
            </a:solidFill>
            <a:prstDash val="solid"/>
          </a:ln>
        </p:spPr>
      </p:sp>
      <p:pic>
        <p:nvPicPr>
          <p:cNvPr id="22" name="Image 4" descr="preencoded.png">    </p:cNvPr>
          <p:cNvPicPr>
            <a:picLocks noChangeAspect="1"/>
          </p:cNvPicPr>
          <p:nvPr/>
        </p:nvPicPr>
        <p:blipFill>
          <a:blip r:embed="rId5"/>
          <a:stretch>
            <a:fillRect/>
          </a:stretch>
        </p:blipFill>
        <p:spPr>
          <a:xfrm>
            <a:off x="6071616" y="1298448"/>
            <a:ext cx="237744" cy="237744"/>
          </a:xfrm>
          <a:prstGeom prst="rect">
            <a:avLst/>
          </a:prstGeom>
        </p:spPr>
      </p:pic>
      <p:sp>
        <p:nvSpPr>
          <p:cNvPr id="23" name="Text 15"/>
          <p:cNvSpPr txBox="1"/>
          <p:nvPr/>
        </p:nvSpPr>
        <p:spPr>
          <a:xfrm>
            <a:off x="6537960" y="1051560"/>
            <a:ext cx="2057400" cy="731520"/>
          </a:xfrm>
          <a:prstGeom prst="rect">
            <a:avLst/>
          </a:prstGeom>
          <a:noFill/>
          <a:ln/>
        </p:spPr>
        <p:txBody>
          <a:bodyPr wrap="square" lIns="0" tIns="0" rIns="0" bIns="0" rtlCol="0" anchor="ctr"/>
          <a:lstStyle/>
          <a:p>
            <a:pPr indent="0" marL="0">
              <a:buNone/>
            </a:pPr>
            <a:r>
              <a:rPr lang="en-US" sz="1300" b="1" dirty="0">
                <a:solidFill>
                  <a:srgbClr val="1F2A24"/>
                </a:solidFill>
                <a:latin typeface="Calibri" pitchFamily="34" charset="0"/>
                <a:ea typeface="Calibri" pitchFamily="34" charset="-122"/>
                <a:cs typeface="Calibri" pitchFamily="34" charset="-120"/>
              </a:rPr>
              <a:t>Harvesting guidance</a:t>
            </a:r>
            <a:endParaRPr lang="en-US" sz="1300" dirty="0"/>
          </a:p>
        </p:txBody>
      </p:sp>
      <p:sp>
        <p:nvSpPr>
          <p:cNvPr id="24" name="Shape 16"/>
          <p:cNvSpPr/>
          <p:nvPr/>
        </p:nvSpPr>
        <p:spPr>
          <a:xfrm>
            <a:off x="5852160" y="1920240"/>
            <a:ext cx="2834640" cy="731520"/>
          </a:xfrm>
          <a:prstGeom prst="roundRect">
            <a:avLst>
              <a:gd name="adj" fmla="val 10000"/>
            </a:avLst>
          </a:prstGeom>
          <a:solidFill>
            <a:srgbClr val="F5F1E8"/>
          </a:solidFill>
          <a:ln w="12700">
            <a:solidFill>
              <a:srgbClr val="66BB6A"/>
            </a:solidFill>
            <a:prstDash val="solid"/>
          </a:ln>
        </p:spPr>
      </p:sp>
      <p:sp>
        <p:nvSpPr>
          <p:cNvPr id="25" name="Shape 17"/>
          <p:cNvSpPr/>
          <p:nvPr/>
        </p:nvSpPr>
        <p:spPr>
          <a:xfrm>
            <a:off x="5961888" y="2057400"/>
            <a:ext cx="457200" cy="457200"/>
          </a:xfrm>
          <a:prstGeom prst="ellipse">
            <a:avLst/>
          </a:prstGeom>
          <a:solidFill>
            <a:srgbClr val="1B5E20"/>
          </a:solidFill>
          <a:ln w="12700">
            <a:solidFill>
              <a:srgbClr val="1B5E20"/>
            </a:solidFill>
            <a:prstDash val="solid"/>
          </a:ln>
        </p:spPr>
      </p:sp>
      <p:pic>
        <p:nvPicPr>
          <p:cNvPr id="26" name="Image 5" descr="preencoded.png">    </p:cNvPr>
          <p:cNvPicPr>
            <a:picLocks noChangeAspect="1"/>
          </p:cNvPicPr>
          <p:nvPr/>
        </p:nvPicPr>
        <p:blipFill>
          <a:blip r:embed="rId6"/>
          <a:stretch>
            <a:fillRect/>
          </a:stretch>
        </p:blipFill>
        <p:spPr>
          <a:xfrm>
            <a:off x="6071616" y="2167128"/>
            <a:ext cx="237744" cy="237744"/>
          </a:xfrm>
          <a:prstGeom prst="rect">
            <a:avLst/>
          </a:prstGeom>
        </p:spPr>
      </p:pic>
      <p:sp>
        <p:nvSpPr>
          <p:cNvPr id="27" name="Text 18"/>
          <p:cNvSpPr txBox="1"/>
          <p:nvPr/>
        </p:nvSpPr>
        <p:spPr>
          <a:xfrm>
            <a:off x="6537960" y="1920240"/>
            <a:ext cx="2057400" cy="731520"/>
          </a:xfrm>
          <a:prstGeom prst="rect">
            <a:avLst/>
          </a:prstGeom>
          <a:noFill/>
          <a:ln/>
        </p:spPr>
        <p:txBody>
          <a:bodyPr wrap="square" lIns="0" tIns="0" rIns="0" bIns="0" rtlCol="0" anchor="ctr"/>
          <a:lstStyle/>
          <a:p>
            <a:pPr indent="0" marL="0">
              <a:buNone/>
            </a:pPr>
            <a:r>
              <a:rPr lang="en-US" sz="1300" b="1" dirty="0">
                <a:solidFill>
                  <a:srgbClr val="1F2A24"/>
                </a:solidFill>
                <a:latin typeface="Calibri" pitchFamily="34" charset="0"/>
                <a:ea typeface="Calibri" pitchFamily="34" charset="-122"/>
                <a:cs typeface="Calibri" pitchFamily="34" charset="-120"/>
              </a:rPr>
              <a:t>Market information</a:t>
            </a:r>
            <a:endParaRPr lang="en-US" sz="1300" dirty="0"/>
          </a:p>
        </p:txBody>
      </p:sp>
      <p:sp>
        <p:nvSpPr>
          <p:cNvPr id="28" name="Shape 19"/>
          <p:cNvSpPr/>
          <p:nvPr/>
        </p:nvSpPr>
        <p:spPr>
          <a:xfrm>
            <a:off x="5852160" y="2788920"/>
            <a:ext cx="2834640" cy="731520"/>
          </a:xfrm>
          <a:prstGeom prst="roundRect">
            <a:avLst>
              <a:gd name="adj" fmla="val 10000"/>
            </a:avLst>
          </a:prstGeom>
          <a:solidFill>
            <a:srgbClr val="F5F1E8"/>
          </a:solidFill>
          <a:ln w="12700">
            <a:solidFill>
              <a:srgbClr val="66BB6A"/>
            </a:solidFill>
            <a:prstDash val="solid"/>
          </a:ln>
        </p:spPr>
      </p:sp>
      <p:sp>
        <p:nvSpPr>
          <p:cNvPr id="29" name="Shape 20"/>
          <p:cNvSpPr/>
          <p:nvPr/>
        </p:nvSpPr>
        <p:spPr>
          <a:xfrm>
            <a:off x="5961888" y="2926080"/>
            <a:ext cx="457200" cy="457200"/>
          </a:xfrm>
          <a:prstGeom prst="ellipse">
            <a:avLst/>
          </a:prstGeom>
          <a:solidFill>
            <a:srgbClr val="1B5E20"/>
          </a:solidFill>
          <a:ln w="12700">
            <a:solidFill>
              <a:srgbClr val="1B5E20"/>
            </a:solidFill>
            <a:prstDash val="solid"/>
          </a:ln>
        </p:spPr>
      </p:sp>
      <p:pic>
        <p:nvPicPr>
          <p:cNvPr id="30" name="Image 6" descr="preencoded.png">    </p:cNvPr>
          <p:cNvPicPr>
            <a:picLocks noChangeAspect="1"/>
          </p:cNvPicPr>
          <p:nvPr/>
        </p:nvPicPr>
        <p:blipFill>
          <a:blip r:embed="rId7"/>
          <a:stretch>
            <a:fillRect/>
          </a:stretch>
        </p:blipFill>
        <p:spPr>
          <a:xfrm>
            <a:off x="6071616" y="3035808"/>
            <a:ext cx="237744" cy="237744"/>
          </a:xfrm>
          <a:prstGeom prst="rect">
            <a:avLst/>
          </a:prstGeom>
        </p:spPr>
      </p:pic>
      <p:sp>
        <p:nvSpPr>
          <p:cNvPr id="31" name="Text 21"/>
          <p:cNvSpPr txBox="1"/>
          <p:nvPr/>
        </p:nvSpPr>
        <p:spPr>
          <a:xfrm>
            <a:off x="6537960" y="2788920"/>
            <a:ext cx="2057400" cy="731520"/>
          </a:xfrm>
          <a:prstGeom prst="rect">
            <a:avLst/>
          </a:prstGeom>
          <a:noFill/>
          <a:ln/>
        </p:spPr>
        <p:txBody>
          <a:bodyPr wrap="square" lIns="0" tIns="0" rIns="0" bIns="0" rtlCol="0" anchor="ctr"/>
          <a:lstStyle/>
          <a:p>
            <a:pPr indent="0" marL="0">
              <a:buNone/>
            </a:pPr>
            <a:r>
              <a:rPr lang="en-US" sz="1300" b="1" dirty="0">
                <a:solidFill>
                  <a:srgbClr val="1F2A24"/>
                </a:solidFill>
                <a:latin typeface="Calibri" pitchFamily="34" charset="0"/>
                <a:ea typeface="Calibri" pitchFamily="34" charset="-122"/>
                <a:cs typeface="Calibri" pitchFamily="34" charset="-120"/>
              </a:rPr>
              <a:t>Customer connection</a:t>
            </a:r>
            <a:endParaRPr lang="en-US" sz="1300" dirty="0"/>
          </a:p>
        </p:txBody>
      </p:sp>
      <p:sp>
        <p:nvSpPr>
          <p:cNvPr id="32" name="Shape 22"/>
          <p:cNvSpPr/>
          <p:nvPr/>
        </p:nvSpPr>
        <p:spPr>
          <a:xfrm>
            <a:off x="5852160" y="3657600"/>
            <a:ext cx="2834640" cy="731520"/>
          </a:xfrm>
          <a:prstGeom prst="roundRect">
            <a:avLst>
              <a:gd name="adj" fmla="val 10000"/>
            </a:avLst>
          </a:prstGeom>
          <a:solidFill>
            <a:srgbClr val="F5F1E8"/>
          </a:solidFill>
          <a:ln w="12700">
            <a:solidFill>
              <a:srgbClr val="66BB6A"/>
            </a:solidFill>
            <a:prstDash val="solid"/>
          </a:ln>
        </p:spPr>
      </p:sp>
      <p:sp>
        <p:nvSpPr>
          <p:cNvPr id="33" name="Shape 23"/>
          <p:cNvSpPr/>
          <p:nvPr/>
        </p:nvSpPr>
        <p:spPr>
          <a:xfrm>
            <a:off x="5961888" y="3794760"/>
            <a:ext cx="457200" cy="457200"/>
          </a:xfrm>
          <a:prstGeom prst="ellipse">
            <a:avLst/>
          </a:prstGeom>
          <a:solidFill>
            <a:srgbClr val="1B5E20"/>
          </a:solidFill>
          <a:ln w="12700">
            <a:solidFill>
              <a:srgbClr val="1B5E20"/>
            </a:solidFill>
            <a:prstDash val="solid"/>
          </a:ln>
        </p:spPr>
      </p:sp>
      <p:pic>
        <p:nvPicPr>
          <p:cNvPr id="34" name="Image 7" descr="preencoded.png">    </p:cNvPr>
          <p:cNvPicPr>
            <a:picLocks noChangeAspect="1"/>
          </p:cNvPicPr>
          <p:nvPr/>
        </p:nvPicPr>
        <p:blipFill>
          <a:blip r:embed="rId8"/>
          <a:stretch>
            <a:fillRect/>
          </a:stretch>
        </p:blipFill>
        <p:spPr>
          <a:xfrm>
            <a:off x="6071616" y="3904488"/>
            <a:ext cx="237744" cy="237744"/>
          </a:xfrm>
          <a:prstGeom prst="rect">
            <a:avLst/>
          </a:prstGeom>
        </p:spPr>
      </p:pic>
      <p:sp>
        <p:nvSpPr>
          <p:cNvPr id="35" name="Text 24"/>
          <p:cNvSpPr txBox="1"/>
          <p:nvPr/>
        </p:nvSpPr>
        <p:spPr>
          <a:xfrm>
            <a:off x="6537960" y="3657600"/>
            <a:ext cx="2057400" cy="731520"/>
          </a:xfrm>
          <a:prstGeom prst="rect">
            <a:avLst/>
          </a:prstGeom>
          <a:noFill/>
          <a:ln/>
        </p:spPr>
        <p:txBody>
          <a:bodyPr wrap="square" lIns="0" tIns="0" rIns="0" bIns="0" rtlCol="0" anchor="ctr"/>
          <a:lstStyle/>
          <a:p>
            <a:pPr indent="0" marL="0">
              <a:buNone/>
            </a:pPr>
            <a:r>
              <a:rPr lang="en-US" sz="1300" b="1" dirty="0">
                <a:solidFill>
                  <a:srgbClr val="1F2A24"/>
                </a:solidFill>
                <a:latin typeface="Calibri" pitchFamily="34" charset="0"/>
                <a:ea typeface="Calibri" pitchFamily="34" charset="-122"/>
                <a:cs typeface="Calibri" pitchFamily="34" charset="-120"/>
              </a:rPr>
              <a:t>Transportation support</a:t>
            </a:r>
            <a:endParaRPr lang="en-US" sz="1300" dirty="0"/>
          </a:p>
        </p:txBody>
      </p:sp>
      <p:sp>
        <p:nvSpPr>
          <p:cNvPr id="36" name="Shape 25"/>
          <p:cNvSpPr/>
          <p:nvPr/>
        </p:nvSpPr>
        <p:spPr>
          <a:xfrm>
            <a:off x="3566160" y="1005840"/>
            <a:ext cx="2011680" cy="3429000"/>
          </a:xfrm>
          <a:prstGeom prst="roundRect">
            <a:avLst>
              <a:gd name="adj" fmla="val 3636"/>
            </a:avLst>
          </a:prstGeom>
          <a:solidFill>
            <a:srgbClr val="1F2A24"/>
          </a:solidFill>
          <a:ln w="12700">
            <a:solidFill>
              <a:srgbClr val="1F2A24"/>
            </a:solidFill>
            <a:prstDash val="solid"/>
          </a:ln>
        </p:spPr>
      </p:sp>
      <p:sp>
        <p:nvSpPr>
          <p:cNvPr id="37" name="Shape 26"/>
          <p:cNvSpPr/>
          <p:nvPr/>
        </p:nvSpPr>
        <p:spPr>
          <a:xfrm>
            <a:off x="3657600" y="1188720"/>
            <a:ext cx="1828800" cy="3063240"/>
          </a:xfrm>
          <a:prstGeom prst="roundRect">
            <a:avLst>
              <a:gd name="adj" fmla="val 4000"/>
            </a:avLst>
          </a:prstGeom>
          <a:solidFill>
            <a:srgbClr val="FFFFFF"/>
          </a:solidFill>
          <a:ln w="12700">
            <a:solidFill>
              <a:srgbClr val="FFFFFF"/>
            </a:solidFill>
            <a:prstDash val="solid"/>
          </a:ln>
        </p:spPr>
      </p:sp>
      <p:sp>
        <p:nvSpPr>
          <p:cNvPr id="38" name="Shape 27"/>
          <p:cNvSpPr/>
          <p:nvPr/>
        </p:nvSpPr>
        <p:spPr>
          <a:xfrm>
            <a:off x="3730752" y="1261872"/>
            <a:ext cx="1682496" cy="384048"/>
          </a:xfrm>
          <a:prstGeom prst="roundRect">
            <a:avLst>
              <a:gd name="adj" fmla="val 19048"/>
            </a:avLst>
          </a:prstGeom>
          <a:solidFill>
            <a:srgbClr val="1B5E20"/>
          </a:solidFill>
          <a:ln w="12700">
            <a:solidFill>
              <a:srgbClr val="1B5E20"/>
            </a:solidFill>
            <a:prstDash val="solid"/>
          </a:ln>
        </p:spPr>
      </p:sp>
      <p:sp>
        <p:nvSpPr>
          <p:cNvPr id="39" name="Text 28"/>
          <p:cNvSpPr txBox="1"/>
          <p:nvPr/>
        </p:nvSpPr>
        <p:spPr>
          <a:xfrm>
            <a:off x="3730752" y="126187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Farmer Dashboard</a:t>
            </a:r>
            <a:endParaRPr lang="en-US" sz="1100" dirty="0"/>
          </a:p>
        </p:txBody>
      </p:sp>
      <p:sp>
        <p:nvSpPr>
          <p:cNvPr id="40" name="Shape 29"/>
          <p:cNvSpPr/>
          <p:nvPr/>
        </p:nvSpPr>
        <p:spPr>
          <a:xfrm>
            <a:off x="3749040" y="1737360"/>
            <a:ext cx="777240" cy="777240"/>
          </a:xfrm>
          <a:prstGeom prst="roundRect">
            <a:avLst>
              <a:gd name="adj" fmla="val 9412"/>
            </a:avLst>
          </a:prstGeom>
          <a:solidFill>
            <a:srgbClr val="E8F5E9"/>
          </a:solidFill>
          <a:ln w="12700">
            <a:solidFill>
              <a:srgbClr val="66BB6A"/>
            </a:solidFill>
            <a:prstDash val="solid"/>
          </a:ln>
        </p:spPr>
      </p:sp>
      <p:pic>
        <p:nvPicPr>
          <p:cNvPr id="41" name="Image 8" descr="preencoded.png">    </p:cNvPr>
          <p:cNvPicPr>
            <a:picLocks noChangeAspect="1"/>
          </p:cNvPicPr>
          <p:nvPr/>
        </p:nvPicPr>
        <p:blipFill>
          <a:blip r:embed="rId9"/>
          <a:stretch>
            <a:fillRect/>
          </a:stretch>
        </p:blipFill>
        <p:spPr>
          <a:xfrm>
            <a:off x="4005072" y="1828800"/>
            <a:ext cx="274320" cy="274320"/>
          </a:xfrm>
          <a:prstGeom prst="rect">
            <a:avLst/>
          </a:prstGeom>
        </p:spPr>
      </p:pic>
      <p:sp>
        <p:nvSpPr>
          <p:cNvPr id="42" name="Text 30"/>
          <p:cNvSpPr txBox="1"/>
          <p:nvPr/>
        </p:nvSpPr>
        <p:spPr>
          <a:xfrm>
            <a:off x="3749040" y="2194560"/>
            <a:ext cx="777240" cy="274320"/>
          </a:xfrm>
          <a:prstGeom prst="rect">
            <a:avLst/>
          </a:prstGeom>
          <a:noFill/>
          <a:ln/>
        </p:spPr>
        <p:txBody>
          <a:bodyPr wrap="square" lIns="0" tIns="0" rIns="0" bIns="0" rtlCol="0" anchor="t"/>
          <a:lstStyle/>
          <a:p>
            <a:pPr algn="ctr" indent="0" marL="0">
              <a:buNone/>
            </a:pPr>
            <a:r>
              <a:rPr lang="en-US" sz="1000" b="1" dirty="0">
                <a:solidFill>
                  <a:srgbClr val="1F2A24"/>
                </a:solidFill>
                <a:latin typeface="Calibri" pitchFamily="34" charset="0"/>
                <a:ea typeface="Calibri" pitchFamily="34" charset="-122"/>
                <a:cs typeface="Calibri" pitchFamily="34" charset="-120"/>
              </a:rPr>
              <a:t>Crop</a:t>
            </a:r>
            <a:endParaRPr lang="en-US" sz="1000" dirty="0"/>
          </a:p>
        </p:txBody>
      </p:sp>
      <p:sp>
        <p:nvSpPr>
          <p:cNvPr id="43" name="Shape 31"/>
          <p:cNvSpPr/>
          <p:nvPr/>
        </p:nvSpPr>
        <p:spPr>
          <a:xfrm>
            <a:off x="4590288" y="1737360"/>
            <a:ext cx="777240" cy="777240"/>
          </a:xfrm>
          <a:prstGeom prst="roundRect">
            <a:avLst>
              <a:gd name="adj" fmla="val 9412"/>
            </a:avLst>
          </a:prstGeom>
          <a:solidFill>
            <a:srgbClr val="E8F5E9"/>
          </a:solidFill>
          <a:ln w="12700">
            <a:solidFill>
              <a:srgbClr val="66BB6A"/>
            </a:solidFill>
            <a:prstDash val="solid"/>
          </a:ln>
        </p:spPr>
      </p:sp>
      <p:pic>
        <p:nvPicPr>
          <p:cNvPr id="44" name="Image 9" descr="preencoded.png">    </p:cNvPr>
          <p:cNvPicPr>
            <a:picLocks noChangeAspect="1"/>
          </p:cNvPicPr>
          <p:nvPr/>
        </p:nvPicPr>
        <p:blipFill>
          <a:blip r:embed="rId10"/>
          <a:stretch>
            <a:fillRect/>
          </a:stretch>
        </p:blipFill>
        <p:spPr>
          <a:xfrm>
            <a:off x="4846320" y="1828800"/>
            <a:ext cx="274320" cy="274320"/>
          </a:xfrm>
          <a:prstGeom prst="rect">
            <a:avLst/>
          </a:prstGeom>
        </p:spPr>
      </p:pic>
      <p:sp>
        <p:nvSpPr>
          <p:cNvPr id="45" name="Text 32"/>
          <p:cNvSpPr txBox="1"/>
          <p:nvPr/>
        </p:nvSpPr>
        <p:spPr>
          <a:xfrm>
            <a:off x="4590288" y="2194560"/>
            <a:ext cx="777240" cy="274320"/>
          </a:xfrm>
          <a:prstGeom prst="rect">
            <a:avLst/>
          </a:prstGeom>
          <a:noFill/>
          <a:ln/>
        </p:spPr>
        <p:txBody>
          <a:bodyPr wrap="square" lIns="0" tIns="0" rIns="0" bIns="0" rtlCol="0" anchor="t"/>
          <a:lstStyle/>
          <a:p>
            <a:pPr algn="ctr" indent="0" marL="0">
              <a:buNone/>
            </a:pPr>
            <a:r>
              <a:rPr lang="en-US" sz="1000" b="1" dirty="0">
                <a:solidFill>
                  <a:srgbClr val="1F2A24"/>
                </a:solidFill>
                <a:latin typeface="Calibri" pitchFamily="34" charset="0"/>
                <a:ea typeface="Calibri" pitchFamily="34" charset="-122"/>
                <a:cs typeface="Calibri" pitchFamily="34" charset="-120"/>
              </a:rPr>
              <a:t>Weather</a:t>
            </a:r>
            <a:endParaRPr lang="en-US" sz="1000" dirty="0"/>
          </a:p>
        </p:txBody>
      </p:sp>
      <p:sp>
        <p:nvSpPr>
          <p:cNvPr id="46" name="Shape 33"/>
          <p:cNvSpPr/>
          <p:nvPr/>
        </p:nvSpPr>
        <p:spPr>
          <a:xfrm>
            <a:off x="3749040" y="2606040"/>
            <a:ext cx="777240" cy="777240"/>
          </a:xfrm>
          <a:prstGeom prst="roundRect">
            <a:avLst>
              <a:gd name="adj" fmla="val 9412"/>
            </a:avLst>
          </a:prstGeom>
          <a:solidFill>
            <a:srgbClr val="E8F5E9"/>
          </a:solidFill>
          <a:ln w="12700">
            <a:solidFill>
              <a:srgbClr val="66BB6A"/>
            </a:solidFill>
            <a:prstDash val="solid"/>
          </a:ln>
        </p:spPr>
      </p:sp>
      <p:pic>
        <p:nvPicPr>
          <p:cNvPr id="47" name="Image 10" descr="preencoded.png">    </p:cNvPr>
          <p:cNvPicPr>
            <a:picLocks noChangeAspect="1"/>
          </p:cNvPicPr>
          <p:nvPr/>
        </p:nvPicPr>
        <p:blipFill>
          <a:blip r:embed="rId11"/>
          <a:stretch>
            <a:fillRect/>
          </a:stretch>
        </p:blipFill>
        <p:spPr>
          <a:xfrm>
            <a:off x="4005072" y="2697480"/>
            <a:ext cx="274320" cy="274320"/>
          </a:xfrm>
          <a:prstGeom prst="rect">
            <a:avLst/>
          </a:prstGeom>
        </p:spPr>
      </p:pic>
      <p:sp>
        <p:nvSpPr>
          <p:cNvPr id="48" name="Text 34"/>
          <p:cNvSpPr txBox="1"/>
          <p:nvPr/>
        </p:nvSpPr>
        <p:spPr>
          <a:xfrm>
            <a:off x="3749040" y="3063240"/>
            <a:ext cx="777240" cy="274320"/>
          </a:xfrm>
          <a:prstGeom prst="rect">
            <a:avLst/>
          </a:prstGeom>
          <a:noFill/>
          <a:ln/>
        </p:spPr>
        <p:txBody>
          <a:bodyPr wrap="square" lIns="0" tIns="0" rIns="0" bIns="0" rtlCol="0" anchor="t"/>
          <a:lstStyle/>
          <a:p>
            <a:pPr algn="ctr" indent="0" marL="0">
              <a:buNone/>
            </a:pPr>
            <a:r>
              <a:rPr lang="en-US" sz="1000" b="1" dirty="0">
                <a:solidFill>
                  <a:srgbClr val="1F2A24"/>
                </a:solidFill>
                <a:latin typeface="Calibri" pitchFamily="34" charset="0"/>
                <a:ea typeface="Calibri" pitchFamily="34" charset="-122"/>
                <a:cs typeface="Calibri" pitchFamily="34" charset="-120"/>
              </a:rPr>
              <a:t>Market</a:t>
            </a:r>
            <a:endParaRPr lang="en-US" sz="1000" dirty="0"/>
          </a:p>
        </p:txBody>
      </p:sp>
      <p:sp>
        <p:nvSpPr>
          <p:cNvPr id="49" name="Shape 35"/>
          <p:cNvSpPr/>
          <p:nvPr/>
        </p:nvSpPr>
        <p:spPr>
          <a:xfrm>
            <a:off x="4590288" y="2606040"/>
            <a:ext cx="777240" cy="777240"/>
          </a:xfrm>
          <a:prstGeom prst="roundRect">
            <a:avLst>
              <a:gd name="adj" fmla="val 9412"/>
            </a:avLst>
          </a:prstGeom>
          <a:solidFill>
            <a:srgbClr val="E8F5E9"/>
          </a:solidFill>
          <a:ln w="12700">
            <a:solidFill>
              <a:srgbClr val="66BB6A"/>
            </a:solidFill>
            <a:prstDash val="solid"/>
          </a:ln>
        </p:spPr>
      </p:sp>
      <p:pic>
        <p:nvPicPr>
          <p:cNvPr id="50" name="Image 11" descr="preencoded.png">    </p:cNvPr>
          <p:cNvPicPr>
            <a:picLocks noChangeAspect="1"/>
          </p:cNvPicPr>
          <p:nvPr/>
        </p:nvPicPr>
        <p:blipFill>
          <a:blip r:embed="rId12"/>
          <a:stretch>
            <a:fillRect/>
          </a:stretch>
        </p:blipFill>
        <p:spPr>
          <a:xfrm>
            <a:off x="4846320" y="2697480"/>
            <a:ext cx="274320" cy="274320"/>
          </a:xfrm>
          <a:prstGeom prst="rect">
            <a:avLst/>
          </a:prstGeom>
        </p:spPr>
      </p:pic>
      <p:sp>
        <p:nvSpPr>
          <p:cNvPr id="51" name="Text 36"/>
          <p:cNvSpPr txBox="1"/>
          <p:nvPr/>
        </p:nvSpPr>
        <p:spPr>
          <a:xfrm>
            <a:off x="4590288" y="3063240"/>
            <a:ext cx="777240" cy="274320"/>
          </a:xfrm>
          <a:prstGeom prst="rect">
            <a:avLst/>
          </a:prstGeom>
          <a:noFill/>
          <a:ln/>
        </p:spPr>
        <p:txBody>
          <a:bodyPr wrap="square" lIns="0" tIns="0" rIns="0" bIns="0" rtlCol="0" anchor="t"/>
          <a:lstStyle/>
          <a:p>
            <a:pPr algn="ctr" indent="0" marL="0">
              <a:buNone/>
            </a:pPr>
            <a:r>
              <a:rPr lang="en-US" sz="1000" b="1" dirty="0">
                <a:solidFill>
                  <a:srgbClr val="1F2A24"/>
                </a:solidFill>
                <a:latin typeface="Calibri" pitchFamily="34" charset="0"/>
                <a:ea typeface="Calibri" pitchFamily="34" charset="-122"/>
                <a:cs typeface="Calibri" pitchFamily="34" charset="-120"/>
              </a:rPr>
              <a:t>Transport</a:t>
            </a:r>
            <a:endParaRPr lang="en-US" sz="1000" dirty="0"/>
          </a:p>
        </p:txBody>
      </p:sp>
      <p:sp>
        <p:nvSpPr>
          <p:cNvPr id="52" name="Shape 37"/>
          <p:cNvSpPr/>
          <p:nvPr/>
        </p:nvSpPr>
        <p:spPr>
          <a:xfrm>
            <a:off x="3749040" y="3520440"/>
            <a:ext cx="1645920" cy="137160"/>
          </a:xfrm>
          <a:prstGeom prst="roundRect">
            <a:avLst>
              <a:gd name="adj" fmla="val 53333"/>
            </a:avLst>
          </a:prstGeom>
          <a:solidFill>
            <a:srgbClr val="ECEFEC"/>
          </a:solidFill>
          <a:ln w="12700">
            <a:solidFill>
              <a:srgbClr val="ECEFEC"/>
            </a:solidFill>
            <a:prstDash val="solid"/>
          </a:ln>
        </p:spPr>
      </p:sp>
      <p:sp>
        <p:nvSpPr>
          <p:cNvPr id="53" name="Shape 38"/>
          <p:cNvSpPr/>
          <p:nvPr/>
        </p:nvSpPr>
        <p:spPr>
          <a:xfrm>
            <a:off x="3749040" y="3749040"/>
            <a:ext cx="1188720" cy="137160"/>
          </a:xfrm>
          <a:prstGeom prst="roundRect">
            <a:avLst>
              <a:gd name="adj" fmla="val 53333"/>
            </a:avLst>
          </a:prstGeom>
          <a:solidFill>
            <a:srgbClr val="ECEFEC"/>
          </a:solidFill>
          <a:ln w="12700">
            <a:solidFill>
              <a:srgbClr val="ECEFEC"/>
            </a:solidFill>
            <a:prstDash val="solid"/>
          </a:ln>
        </p:spPr>
      </p:sp>
      <p:sp>
        <p:nvSpPr>
          <p:cNvPr id="54" name="Shape 39"/>
          <p:cNvSpPr/>
          <p:nvPr/>
        </p:nvSpPr>
        <p:spPr>
          <a:xfrm>
            <a:off x="3749040" y="3977640"/>
            <a:ext cx="1371600" cy="137160"/>
          </a:xfrm>
          <a:prstGeom prst="roundRect">
            <a:avLst>
              <a:gd name="adj" fmla="val 53333"/>
            </a:avLst>
          </a:prstGeom>
          <a:solidFill>
            <a:srgbClr val="ECEFEC"/>
          </a:solidFill>
          <a:ln w="12700">
            <a:solidFill>
              <a:srgbClr val="ECEFEC"/>
            </a:solidFill>
            <a:prstDash val="solid"/>
          </a:ln>
        </p:spPr>
      </p:sp>
      <p:sp>
        <p:nvSpPr>
          <p:cNvPr id="55" name="Text 40"/>
          <p:cNvSpPr txBox="1"/>
          <p:nvPr/>
        </p:nvSpPr>
        <p:spPr>
          <a:xfrm>
            <a:off x="2286000" y="4526280"/>
            <a:ext cx="4572000" cy="228600"/>
          </a:xfrm>
          <a:prstGeom prst="rect">
            <a:avLst/>
          </a:prstGeom>
          <a:noFill/>
          <a:ln/>
        </p:spPr>
        <p:txBody>
          <a:bodyPr wrap="square" lIns="0" tIns="0" rIns="0" bIns="0" rtlCol="0" anchor="t"/>
          <a:lstStyle/>
          <a:p>
            <a:pPr indent="0" marL="0">
              <a:buNone/>
            </a:pPr>
            <a:r>
              <a:rPr lang="en-US" sz="1050" i="1" dirty="0">
                <a:solidFill>
                  <a:srgbClr val="5F6B61"/>
                </a:solidFill>
                <a:latin typeface="Calibri" pitchFamily="34" charset="0"/>
                <a:ea typeface="Calibri" pitchFamily="34" charset="-122"/>
                <a:cs typeface="Calibri" pitchFamily="34" charset="-120"/>
              </a:rPr>
              <a:t>Conceptual mockup - not an implemented application</a:t>
            </a:r>
            <a:endParaRPr lang="en-US" sz="1050" dirty="0"/>
          </a:p>
        </p:txBody>
      </p:sp>
      <p:sp>
        <p:nvSpPr>
          <p:cNvPr id="25" name="Slide Number Placeholder 0"/>
          <p:cNvSpPr>
            <a:spLocks noGrp="1"/>
          </p:cNvSpPr>
          <p:nvPr>
            <p:ph type="sldNum" sz="quarter" idx="4294967295"/>
          </p:nvPr>
        </p:nvSpPr>
        <p:spPr>
          <a:xfrm>
            <a:off x="822960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F6B61"/>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rgbClr val="1B5E20"/>
                </a:solidFill>
                <a:latin typeface="Calibri" pitchFamily="34" charset="0"/>
                <a:ea typeface="Calibri" pitchFamily="34" charset="-122"/>
                <a:cs typeface="Calibri" pitchFamily="34" charset="-120"/>
              </a:rPr>
              <a:t>System Architecture</a:t>
            </a:r>
            <a:endParaRPr lang="en-US" sz="2800" dirty="0"/>
          </a:p>
        </p:txBody>
      </p:sp>
      <p:sp>
        <p:nvSpPr>
          <p:cNvPr id="4" name="Shape 1"/>
          <p:cNvSpPr/>
          <p:nvPr/>
        </p:nvSpPr>
        <p:spPr>
          <a:xfrm>
            <a:off x="457200" y="1005840"/>
            <a:ext cx="1828800" cy="1005840"/>
          </a:xfrm>
          <a:prstGeom prst="roundRect">
            <a:avLst>
              <a:gd name="adj" fmla="val 7273"/>
            </a:avLst>
          </a:prstGeom>
          <a:solidFill>
            <a:srgbClr val="F5F1E8"/>
          </a:solidFill>
          <a:ln w="12700">
            <a:solidFill>
              <a:srgbClr val="66BB6A"/>
            </a:solidFill>
            <a:prstDash val="solid"/>
          </a:ln>
        </p:spPr>
      </p:sp>
      <p:pic>
        <p:nvPicPr>
          <p:cNvPr id="5" name="Image 0" descr="preencoded.png">    </p:cNvPr>
          <p:cNvPicPr>
            <a:picLocks noChangeAspect="1"/>
          </p:cNvPicPr>
          <p:nvPr/>
        </p:nvPicPr>
        <p:blipFill>
          <a:blip r:embed="rId1"/>
          <a:stretch>
            <a:fillRect/>
          </a:stretch>
        </p:blipFill>
        <p:spPr>
          <a:xfrm>
            <a:off x="1188720" y="1115568"/>
            <a:ext cx="365760" cy="365760"/>
          </a:xfrm>
          <a:prstGeom prst="rect">
            <a:avLst/>
          </a:prstGeom>
        </p:spPr>
      </p:pic>
      <p:sp>
        <p:nvSpPr>
          <p:cNvPr id="6" name="Text 2"/>
          <p:cNvSpPr txBox="1"/>
          <p:nvPr/>
        </p:nvSpPr>
        <p:spPr>
          <a:xfrm>
            <a:off x="548640" y="1554480"/>
            <a:ext cx="1645920" cy="411480"/>
          </a:xfrm>
          <a:prstGeom prst="rect">
            <a:avLst/>
          </a:prstGeom>
          <a:noFill/>
          <a:ln/>
        </p:spPr>
        <p:txBody>
          <a:bodyPr wrap="square" lIns="0" tIns="0" rIns="0" bIns="0" rtlCol="0" anchor="t"/>
          <a:lstStyle/>
          <a:p>
            <a:pPr algn="ctr" indent="0" marL="0">
              <a:buNone/>
            </a:pPr>
            <a:r>
              <a:rPr lang="en-US" sz="1300" b="1" dirty="0">
                <a:solidFill>
                  <a:srgbClr val="1F2A24"/>
                </a:solidFill>
                <a:latin typeface="Calibri" pitchFamily="34" charset="0"/>
                <a:ea typeface="Calibri" pitchFamily="34" charset="-122"/>
                <a:cs typeface="Calibri" pitchFamily="34" charset="-120"/>
              </a:rPr>
              <a:t>Farmer</a:t>
            </a:r>
            <a:endParaRPr lang="en-US" sz="1300" dirty="0"/>
          </a:p>
        </p:txBody>
      </p:sp>
      <p:sp>
        <p:nvSpPr>
          <p:cNvPr id="7" name="Shape 3"/>
          <p:cNvSpPr/>
          <p:nvPr/>
        </p:nvSpPr>
        <p:spPr>
          <a:xfrm>
            <a:off x="2322576" y="1508760"/>
            <a:ext cx="228600" cy="0"/>
          </a:xfrm>
          <a:prstGeom prst="line">
            <a:avLst/>
          </a:prstGeom>
          <a:noFill/>
          <a:ln w="28575">
            <a:solidFill>
              <a:srgbClr val="1B5E20"/>
            </a:solidFill>
            <a:prstDash val="solid"/>
            <a:tailEnd type="triangle"/>
          </a:ln>
        </p:spPr>
      </p:sp>
      <p:sp>
        <p:nvSpPr>
          <p:cNvPr id="8" name="Shape 4"/>
          <p:cNvSpPr/>
          <p:nvPr/>
        </p:nvSpPr>
        <p:spPr>
          <a:xfrm>
            <a:off x="2590495" y="1005840"/>
            <a:ext cx="1828800" cy="1005840"/>
          </a:xfrm>
          <a:prstGeom prst="roundRect">
            <a:avLst>
              <a:gd name="adj" fmla="val 7273"/>
            </a:avLst>
          </a:prstGeom>
          <a:solidFill>
            <a:srgbClr val="F5F1E8"/>
          </a:solidFill>
          <a:ln w="12700">
            <a:solidFill>
              <a:srgbClr val="66BB6A"/>
            </a:solidFill>
            <a:prstDash val="solid"/>
          </a:ln>
        </p:spPr>
      </p:sp>
      <p:pic>
        <p:nvPicPr>
          <p:cNvPr id="9" name="Image 1" descr="preencoded.png">    </p:cNvPr>
          <p:cNvPicPr>
            <a:picLocks noChangeAspect="1"/>
          </p:cNvPicPr>
          <p:nvPr/>
        </p:nvPicPr>
        <p:blipFill>
          <a:blip r:embed="rId2"/>
          <a:stretch>
            <a:fillRect/>
          </a:stretch>
        </p:blipFill>
        <p:spPr>
          <a:xfrm>
            <a:off x="3322015" y="1115568"/>
            <a:ext cx="365760" cy="365760"/>
          </a:xfrm>
          <a:prstGeom prst="rect">
            <a:avLst/>
          </a:prstGeom>
        </p:spPr>
      </p:pic>
      <p:sp>
        <p:nvSpPr>
          <p:cNvPr id="10" name="Text 5"/>
          <p:cNvSpPr txBox="1"/>
          <p:nvPr/>
        </p:nvSpPr>
        <p:spPr>
          <a:xfrm>
            <a:off x="2681935" y="1554480"/>
            <a:ext cx="1645920" cy="411480"/>
          </a:xfrm>
          <a:prstGeom prst="rect">
            <a:avLst/>
          </a:prstGeom>
          <a:noFill/>
          <a:ln/>
        </p:spPr>
        <p:txBody>
          <a:bodyPr wrap="square" lIns="0" tIns="0" rIns="0" bIns="0" rtlCol="0" anchor="t"/>
          <a:lstStyle/>
          <a:p>
            <a:pPr algn="ctr" indent="0" marL="0">
              <a:buNone/>
            </a:pPr>
            <a:r>
              <a:rPr lang="en-US" sz="1300" b="1" dirty="0">
                <a:solidFill>
                  <a:srgbClr val="1F2A24"/>
                </a:solidFill>
                <a:latin typeface="Calibri" pitchFamily="34" charset="0"/>
                <a:ea typeface="Calibri" pitchFamily="34" charset="-122"/>
                <a:cs typeface="Calibri" pitchFamily="34" charset="-120"/>
              </a:rPr>
              <a:t>Farm / Crop Information</a:t>
            </a:r>
            <a:endParaRPr lang="en-US" sz="1300" dirty="0"/>
          </a:p>
        </p:txBody>
      </p:sp>
      <p:sp>
        <p:nvSpPr>
          <p:cNvPr id="11" name="Shape 6"/>
          <p:cNvSpPr/>
          <p:nvPr/>
        </p:nvSpPr>
        <p:spPr>
          <a:xfrm>
            <a:off x="4455871" y="1508760"/>
            <a:ext cx="228600" cy="0"/>
          </a:xfrm>
          <a:prstGeom prst="line">
            <a:avLst/>
          </a:prstGeom>
          <a:noFill/>
          <a:ln w="28575">
            <a:solidFill>
              <a:srgbClr val="1B5E20"/>
            </a:solidFill>
            <a:prstDash val="solid"/>
            <a:tailEnd type="triangle"/>
          </a:ln>
        </p:spPr>
      </p:sp>
      <p:sp>
        <p:nvSpPr>
          <p:cNvPr id="12" name="Shape 7"/>
          <p:cNvSpPr/>
          <p:nvPr/>
        </p:nvSpPr>
        <p:spPr>
          <a:xfrm>
            <a:off x="4723790" y="1005840"/>
            <a:ext cx="1828800" cy="1005840"/>
          </a:xfrm>
          <a:prstGeom prst="roundRect">
            <a:avLst>
              <a:gd name="adj" fmla="val 7273"/>
            </a:avLst>
          </a:prstGeom>
          <a:solidFill>
            <a:srgbClr val="F5F1E8"/>
          </a:solidFill>
          <a:ln w="12700">
            <a:solidFill>
              <a:srgbClr val="66BB6A"/>
            </a:solidFill>
            <a:prstDash val="solid"/>
          </a:ln>
        </p:spPr>
      </p:sp>
      <p:pic>
        <p:nvPicPr>
          <p:cNvPr id="13" name="Image 2" descr="preencoded.png">    </p:cNvPr>
          <p:cNvPicPr>
            <a:picLocks noChangeAspect="1"/>
          </p:cNvPicPr>
          <p:nvPr/>
        </p:nvPicPr>
        <p:blipFill>
          <a:blip r:embed="rId3"/>
          <a:stretch>
            <a:fillRect/>
          </a:stretch>
        </p:blipFill>
        <p:spPr>
          <a:xfrm>
            <a:off x="5455310" y="1115568"/>
            <a:ext cx="365760" cy="365760"/>
          </a:xfrm>
          <a:prstGeom prst="rect">
            <a:avLst/>
          </a:prstGeom>
        </p:spPr>
      </p:pic>
      <p:sp>
        <p:nvSpPr>
          <p:cNvPr id="14" name="Text 8"/>
          <p:cNvSpPr txBox="1"/>
          <p:nvPr/>
        </p:nvSpPr>
        <p:spPr>
          <a:xfrm>
            <a:off x="4815230" y="1554480"/>
            <a:ext cx="1645920" cy="411480"/>
          </a:xfrm>
          <a:prstGeom prst="rect">
            <a:avLst/>
          </a:prstGeom>
          <a:noFill/>
          <a:ln/>
        </p:spPr>
        <p:txBody>
          <a:bodyPr wrap="square" lIns="0" tIns="0" rIns="0" bIns="0" rtlCol="0" anchor="t"/>
          <a:lstStyle/>
          <a:p>
            <a:pPr algn="ctr" indent="0" marL="0">
              <a:buNone/>
            </a:pPr>
            <a:r>
              <a:rPr lang="en-US" sz="1300" b="1" dirty="0">
                <a:solidFill>
                  <a:srgbClr val="1F2A24"/>
                </a:solidFill>
                <a:latin typeface="Calibri" pitchFamily="34" charset="0"/>
                <a:ea typeface="Calibri" pitchFamily="34" charset="-122"/>
                <a:cs typeface="Calibri" pitchFamily="34" charset="-120"/>
              </a:rPr>
              <a:t>Smart Advisory Platform</a:t>
            </a:r>
            <a:endParaRPr lang="en-US" sz="1300" dirty="0"/>
          </a:p>
        </p:txBody>
      </p:sp>
      <p:sp>
        <p:nvSpPr>
          <p:cNvPr id="15" name="Shape 9"/>
          <p:cNvSpPr/>
          <p:nvPr/>
        </p:nvSpPr>
        <p:spPr>
          <a:xfrm>
            <a:off x="6589166" y="1508760"/>
            <a:ext cx="228600" cy="0"/>
          </a:xfrm>
          <a:prstGeom prst="line">
            <a:avLst/>
          </a:prstGeom>
          <a:noFill/>
          <a:ln w="28575">
            <a:solidFill>
              <a:srgbClr val="1B5E20"/>
            </a:solidFill>
            <a:prstDash val="solid"/>
            <a:tailEnd type="triangle"/>
          </a:ln>
        </p:spPr>
      </p:sp>
      <p:sp>
        <p:nvSpPr>
          <p:cNvPr id="16" name="Shape 10"/>
          <p:cNvSpPr/>
          <p:nvPr/>
        </p:nvSpPr>
        <p:spPr>
          <a:xfrm>
            <a:off x="6857086" y="1005840"/>
            <a:ext cx="1828800" cy="1005840"/>
          </a:xfrm>
          <a:prstGeom prst="roundRect">
            <a:avLst>
              <a:gd name="adj" fmla="val 7273"/>
            </a:avLst>
          </a:prstGeom>
          <a:solidFill>
            <a:srgbClr val="F5F1E8"/>
          </a:solidFill>
          <a:ln w="12700">
            <a:solidFill>
              <a:srgbClr val="66BB6A"/>
            </a:solidFill>
            <a:prstDash val="solid"/>
          </a:ln>
        </p:spPr>
      </p:sp>
      <p:pic>
        <p:nvPicPr>
          <p:cNvPr id="17" name="Image 3" descr="preencoded.png">    </p:cNvPr>
          <p:cNvPicPr>
            <a:picLocks noChangeAspect="1"/>
          </p:cNvPicPr>
          <p:nvPr/>
        </p:nvPicPr>
        <p:blipFill>
          <a:blip r:embed="rId4"/>
          <a:stretch>
            <a:fillRect/>
          </a:stretch>
        </p:blipFill>
        <p:spPr>
          <a:xfrm>
            <a:off x="7588606" y="1115568"/>
            <a:ext cx="365760" cy="365760"/>
          </a:xfrm>
          <a:prstGeom prst="rect">
            <a:avLst/>
          </a:prstGeom>
        </p:spPr>
      </p:pic>
      <p:sp>
        <p:nvSpPr>
          <p:cNvPr id="18" name="Text 11"/>
          <p:cNvSpPr txBox="1"/>
          <p:nvPr/>
        </p:nvSpPr>
        <p:spPr>
          <a:xfrm>
            <a:off x="6948526" y="1554480"/>
            <a:ext cx="1645920" cy="411480"/>
          </a:xfrm>
          <a:prstGeom prst="rect">
            <a:avLst/>
          </a:prstGeom>
          <a:noFill/>
          <a:ln/>
        </p:spPr>
        <p:txBody>
          <a:bodyPr wrap="square" lIns="0" tIns="0" rIns="0" bIns="0" rtlCol="0" anchor="t"/>
          <a:lstStyle/>
          <a:p>
            <a:pPr algn="ctr" indent="0" marL="0">
              <a:buNone/>
            </a:pPr>
            <a:r>
              <a:rPr lang="en-US" sz="1300" b="1" dirty="0">
                <a:solidFill>
                  <a:srgbClr val="1F2A24"/>
                </a:solidFill>
                <a:latin typeface="Calibri" pitchFamily="34" charset="0"/>
                <a:ea typeface="Calibri" pitchFamily="34" charset="-122"/>
                <a:cs typeface="Calibri" pitchFamily="34" charset="-120"/>
              </a:rPr>
              <a:t>Data Processing and Recommendation</a:t>
            </a:r>
            <a:endParaRPr lang="en-US" sz="1300" dirty="0"/>
          </a:p>
        </p:txBody>
      </p:sp>
      <p:sp>
        <p:nvSpPr>
          <p:cNvPr id="19" name="Shape 12"/>
          <p:cNvSpPr/>
          <p:nvPr/>
        </p:nvSpPr>
        <p:spPr>
          <a:xfrm>
            <a:off x="7772400" y="2029968"/>
            <a:ext cx="0" cy="301752"/>
          </a:xfrm>
          <a:prstGeom prst="line">
            <a:avLst/>
          </a:prstGeom>
          <a:noFill/>
          <a:ln w="28575">
            <a:solidFill>
              <a:srgbClr val="1B5E20"/>
            </a:solidFill>
            <a:prstDash val="solid"/>
            <a:tailEnd type="triangle"/>
          </a:ln>
        </p:spPr>
      </p:sp>
      <p:sp>
        <p:nvSpPr>
          <p:cNvPr id="20" name="Shape 13"/>
          <p:cNvSpPr/>
          <p:nvPr/>
        </p:nvSpPr>
        <p:spPr>
          <a:xfrm>
            <a:off x="457200" y="2331720"/>
            <a:ext cx="8229600" cy="1234440"/>
          </a:xfrm>
          <a:prstGeom prst="roundRect">
            <a:avLst>
              <a:gd name="adj" fmla="val 5926"/>
            </a:avLst>
          </a:prstGeom>
          <a:solidFill>
            <a:srgbClr val="ECEFEC"/>
          </a:solidFill>
          <a:ln w="12700">
            <a:solidFill>
              <a:srgbClr val="ECEFEC"/>
            </a:solidFill>
            <a:prstDash val="solid"/>
          </a:ln>
        </p:spPr>
      </p:sp>
      <p:sp>
        <p:nvSpPr>
          <p:cNvPr id="21" name="Shape 14"/>
          <p:cNvSpPr/>
          <p:nvPr/>
        </p:nvSpPr>
        <p:spPr>
          <a:xfrm>
            <a:off x="658368" y="2423160"/>
            <a:ext cx="914400" cy="1051560"/>
          </a:xfrm>
          <a:prstGeom prst="roundRect">
            <a:avLst>
              <a:gd name="adj" fmla="val 8000"/>
            </a:avLst>
          </a:prstGeom>
          <a:solidFill>
            <a:srgbClr val="FFFFFF"/>
          </a:solidFill>
          <a:ln w="12700">
            <a:solidFill>
              <a:srgbClr val="66BB6A"/>
            </a:solidFill>
            <a:prstDash val="solid"/>
          </a:ln>
        </p:spPr>
      </p:sp>
      <p:pic>
        <p:nvPicPr>
          <p:cNvPr id="22" name="Image 4" descr="preencoded.png">    </p:cNvPr>
          <p:cNvPicPr>
            <a:picLocks noChangeAspect="1"/>
          </p:cNvPicPr>
          <p:nvPr/>
        </p:nvPicPr>
        <p:blipFill>
          <a:blip r:embed="rId5"/>
          <a:stretch>
            <a:fillRect/>
          </a:stretch>
        </p:blipFill>
        <p:spPr>
          <a:xfrm>
            <a:off x="932688" y="2514600"/>
            <a:ext cx="365760" cy="365760"/>
          </a:xfrm>
          <a:prstGeom prst="rect">
            <a:avLst/>
          </a:prstGeom>
        </p:spPr>
      </p:pic>
      <p:sp>
        <p:nvSpPr>
          <p:cNvPr id="23" name="Text 15"/>
          <p:cNvSpPr txBox="1"/>
          <p:nvPr/>
        </p:nvSpPr>
        <p:spPr>
          <a:xfrm>
            <a:off x="658368" y="2971800"/>
            <a:ext cx="914400" cy="365760"/>
          </a:xfrm>
          <a:prstGeom prst="rect">
            <a:avLst/>
          </a:prstGeom>
          <a:noFill/>
          <a:ln/>
        </p:spPr>
        <p:txBody>
          <a:bodyPr wrap="square" lIns="0" tIns="0" rIns="0" bIns="0" rtlCol="0" anchor="t"/>
          <a:lstStyle/>
          <a:p>
            <a:pPr algn="ctr" indent="0" marL="0">
              <a:buNone/>
            </a:pPr>
            <a:r>
              <a:rPr lang="en-US" sz="1100" b="1" dirty="0">
                <a:solidFill>
                  <a:srgbClr val="1F2A24"/>
                </a:solidFill>
                <a:latin typeface="Calibri" pitchFamily="34" charset="0"/>
                <a:ea typeface="Calibri" pitchFamily="34" charset="-122"/>
                <a:cs typeface="Calibri" pitchFamily="34" charset="-120"/>
              </a:rPr>
              <a:t>Crop</a:t>
            </a:r>
            <a:endParaRPr lang="en-US" sz="1100" dirty="0"/>
          </a:p>
        </p:txBody>
      </p:sp>
      <p:sp>
        <p:nvSpPr>
          <p:cNvPr id="24" name="Shape 16"/>
          <p:cNvSpPr/>
          <p:nvPr/>
        </p:nvSpPr>
        <p:spPr>
          <a:xfrm>
            <a:off x="1645920" y="2423160"/>
            <a:ext cx="914400" cy="1051560"/>
          </a:xfrm>
          <a:prstGeom prst="roundRect">
            <a:avLst>
              <a:gd name="adj" fmla="val 8000"/>
            </a:avLst>
          </a:prstGeom>
          <a:solidFill>
            <a:srgbClr val="FFFFFF"/>
          </a:solidFill>
          <a:ln w="12700">
            <a:solidFill>
              <a:srgbClr val="66BB6A"/>
            </a:solidFill>
            <a:prstDash val="solid"/>
          </a:ln>
        </p:spPr>
      </p:sp>
      <p:pic>
        <p:nvPicPr>
          <p:cNvPr id="25" name="Image 5" descr="preencoded.png">    </p:cNvPr>
          <p:cNvPicPr>
            <a:picLocks noChangeAspect="1"/>
          </p:cNvPicPr>
          <p:nvPr/>
        </p:nvPicPr>
        <p:blipFill>
          <a:blip r:embed="rId6"/>
          <a:stretch>
            <a:fillRect/>
          </a:stretch>
        </p:blipFill>
        <p:spPr>
          <a:xfrm>
            <a:off x="1920240" y="2514600"/>
            <a:ext cx="365760" cy="365760"/>
          </a:xfrm>
          <a:prstGeom prst="rect">
            <a:avLst/>
          </a:prstGeom>
        </p:spPr>
      </p:pic>
      <p:sp>
        <p:nvSpPr>
          <p:cNvPr id="26" name="Text 17"/>
          <p:cNvSpPr txBox="1"/>
          <p:nvPr/>
        </p:nvSpPr>
        <p:spPr>
          <a:xfrm>
            <a:off x="1645920" y="2971800"/>
            <a:ext cx="914400" cy="365760"/>
          </a:xfrm>
          <a:prstGeom prst="rect">
            <a:avLst/>
          </a:prstGeom>
          <a:noFill/>
          <a:ln/>
        </p:spPr>
        <p:txBody>
          <a:bodyPr wrap="square" lIns="0" tIns="0" rIns="0" bIns="0" rtlCol="0" anchor="t"/>
          <a:lstStyle/>
          <a:p>
            <a:pPr algn="ctr" indent="0" marL="0">
              <a:buNone/>
            </a:pPr>
            <a:r>
              <a:rPr lang="en-US" sz="1100" b="1" dirty="0">
                <a:solidFill>
                  <a:srgbClr val="1F2A24"/>
                </a:solidFill>
                <a:latin typeface="Calibri" pitchFamily="34" charset="0"/>
                <a:ea typeface="Calibri" pitchFamily="34" charset="-122"/>
                <a:cs typeface="Calibri" pitchFamily="34" charset="-120"/>
              </a:rPr>
              <a:t>Seed</a:t>
            </a:r>
            <a:endParaRPr lang="en-US" sz="1100" dirty="0"/>
          </a:p>
        </p:txBody>
      </p:sp>
      <p:sp>
        <p:nvSpPr>
          <p:cNvPr id="27" name="Shape 18"/>
          <p:cNvSpPr/>
          <p:nvPr/>
        </p:nvSpPr>
        <p:spPr>
          <a:xfrm>
            <a:off x="2633472" y="2423160"/>
            <a:ext cx="914400" cy="1051560"/>
          </a:xfrm>
          <a:prstGeom prst="roundRect">
            <a:avLst>
              <a:gd name="adj" fmla="val 8000"/>
            </a:avLst>
          </a:prstGeom>
          <a:solidFill>
            <a:srgbClr val="FFFFFF"/>
          </a:solidFill>
          <a:ln w="12700">
            <a:solidFill>
              <a:srgbClr val="66BB6A"/>
            </a:solidFill>
            <a:prstDash val="solid"/>
          </a:ln>
        </p:spPr>
      </p:sp>
      <p:pic>
        <p:nvPicPr>
          <p:cNvPr id="28" name="Image 6" descr="preencoded.png">    </p:cNvPr>
          <p:cNvPicPr>
            <a:picLocks noChangeAspect="1"/>
          </p:cNvPicPr>
          <p:nvPr/>
        </p:nvPicPr>
        <p:blipFill>
          <a:blip r:embed="rId7"/>
          <a:stretch>
            <a:fillRect/>
          </a:stretch>
        </p:blipFill>
        <p:spPr>
          <a:xfrm>
            <a:off x="2907792" y="2514600"/>
            <a:ext cx="365760" cy="365760"/>
          </a:xfrm>
          <a:prstGeom prst="rect">
            <a:avLst/>
          </a:prstGeom>
        </p:spPr>
      </p:pic>
      <p:sp>
        <p:nvSpPr>
          <p:cNvPr id="29" name="Text 19"/>
          <p:cNvSpPr txBox="1"/>
          <p:nvPr/>
        </p:nvSpPr>
        <p:spPr>
          <a:xfrm>
            <a:off x="2633472" y="2971800"/>
            <a:ext cx="914400" cy="365760"/>
          </a:xfrm>
          <a:prstGeom prst="rect">
            <a:avLst/>
          </a:prstGeom>
          <a:noFill/>
          <a:ln/>
        </p:spPr>
        <p:txBody>
          <a:bodyPr wrap="square" lIns="0" tIns="0" rIns="0" bIns="0" rtlCol="0" anchor="t"/>
          <a:lstStyle/>
          <a:p>
            <a:pPr algn="ctr" indent="0" marL="0">
              <a:buNone/>
            </a:pPr>
            <a:r>
              <a:rPr lang="en-US" sz="1100" b="1" dirty="0">
                <a:solidFill>
                  <a:srgbClr val="1F2A24"/>
                </a:solidFill>
                <a:latin typeface="Calibri" pitchFamily="34" charset="0"/>
                <a:ea typeface="Calibri" pitchFamily="34" charset="-122"/>
                <a:cs typeface="Calibri" pitchFamily="34" charset="-120"/>
              </a:rPr>
              <a:t>Weather</a:t>
            </a:r>
            <a:endParaRPr lang="en-US" sz="1100" dirty="0"/>
          </a:p>
        </p:txBody>
      </p:sp>
      <p:sp>
        <p:nvSpPr>
          <p:cNvPr id="30" name="Shape 20"/>
          <p:cNvSpPr/>
          <p:nvPr/>
        </p:nvSpPr>
        <p:spPr>
          <a:xfrm>
            <a:off x="3621024" y="2423160"/>
            <a:ext cx="914400" cy="1051560"/>
          </a:xfrm>
          <a:prstGeom prst="roundRect">
            <a:avLst>
              <a:gd name="adj" fmla="val 8000"/>
            </a:avLst>
          </a:prstGeom>
          <a:solidFill>
            <a:srgbClr val="FFFFFF"/>
          </a:solidFill>
          <a:ln w="12700">
            <a:solidFill>
              <a:srgbClr val="66BB6A"/>
            </a:solidFill>
            <a:prstDash val="solid"/>
          </a:ln>
        </p:spPr>
      </p:sp>
      <p:pic>
        <p:nvPicPr>
          <p:cNvPr id="31" name="Image 7" descr="preencoded.png">    </p:cNvPr>
          <p:cNvPicPr>
            <a:picLocks noChangeAspect="1"/>
          </p:cNvPicPr>
          <p:nvPr/>
        </p:nvPicPr>
        <p:blipFill>
          <a:blip r:embed="rId8"/>
          <a:stretch>
            <a:fillRect/>
          </a:stretch>
        </p:blipFill>
        <p:spPr>
          <a:xfrm>
            <a:off x="3895344" y="2514600"/>
            <a:ext cx="365760" cy="365760"/>
          </a:xfrm>
          <a:prstGeom prst="rect">
            <a:avLst/>
          </a:prstGeom>
        </p:spPr>
      </p:pic>
      <p:sp>
        <p:nvSpPr>
          <p:cNvPr id="32" name="Text 21"/>
          <p:cNvSpPr txBox="1"/>
          <p:nvPr/>
        </p:nvSpPr>
        <p:spPr>
          <a:xfrm>
            <a:off x="3621024" y="2971800"/>
            <a:ext cx="914400" cy="365760"/>
          </a:xfrm>
          <a:prstGeom prst="rect">
            <a:avLst/>
          </a:prstGeom>
          <a:noFill/>
          <a:ln/>
        </p:spPr>
        <p:txBody>
          <a:bodyPr wrap="square" lIns="0" tIns="0" rIns="0" bIns="0" rtlCol="0" anchor="t"/>
          <a:lstStyle/>
          <a:p>
            <a:pPr algn="ctr" indent="0" marL="0">
              <a:buNone/>
            </a:pPr>
            <a:r>
              <a:rPr lang="en-US" sz="1100" b="1" dirty="0">
                <a:solidFill>
                  <a:srgbClr val="1F2A24"/>
                </a:solidFill>
                <a:latin typeface="Calibri" pitchFamily="34" charset="0"/>
                <a:ea typeface="Calibri" pitchFamily="34" charset="-122"/>
                <a:cs typeface="Calibri" pitchFamily="34" charset="-120"/>
              </a:rPr>
              <a:t>Irrigation</a:t>
            </a:r>
            <a:endParaRPr lang="en-US" sz="1100" dirty="0"/>
          </a:p>
        </p:txBody>
      </p:sp>
      <p:sp>
        <p:nvSpPr>
          <p:cNvPr id="33" name="Shape 22"/>
          <p:cNvSpPr/>
          <p:nvPr/>
        </p:nvSpPr>
        <p:spPr>
          <a:xfrm>
            <a:off x="4608576" y="2423160"/>
            <a:ext cx="914400" cy="1051560"/>
          </a:xfrm>
          <a:prstGeom prst="roundRect">
            <a:avLst>
              <a:gd name="adj" fmla="val 8000"/>
            </a:avLst>
          </a:prstGeom>
          <a:solidFill>
            <a:srgbClr val="FFFFFF"/>
          </a:solidFill>
          <a:ln w="12700">
            <a:solidFill>
              <a:srgbClr val="66BB6A"/>
            </a:solidFill>
            <a:prstDash val="solid"/>
          </a:ln>
        </p:spPr>
      </p:sp>
      <p:pic>
        <p:nvPicPr>
          <p:cNvPr id="34" name="Image 8" descr="preencoded.png">    </p:cNvPr>
          <p:cNvPicPr>
            <a:picLocks noChangeAspect="1"/>
          </p:cNvPicPr>
          <p:nvPr/>
        </p:nvPicPr>
        <p:blipFill>
          <a:blip r:embed="rId9"/>
          <a:stretch>
            <a:fillRect/>
          </a:stretch>
        </p:blipFill>
        <p:spPr>
          <a:xfrm>
            <a:off x="4882896" y="2514600"/>
            <a:ext cx="365760" cy="365760"/>
          </a:xfrm>
          <a:prstGeom prst="rect">
            <a:avLst/>
          </a:prstGeom>
        </p:spPr>
      </p:pic>
      <p:sp>
        <p:nvSpPr>
          <p:cNvPr id="35" name="Text 23"/>
          <p:cNvSpPr txBox="1"/>
          <p:nvPr/>
        </p:nvSpPr>
        <p:spPr>
          <a:xfrm>
            <a:off x="4608576" y="2971800"/>
            <a:ext cx="914400" cy="365760"/>
          </a:xfrm>
          <a:prstGeom prst="rect">
            <a:avLst/>
          </a:prstGeom>
          <a:noFill/>
          <a:ln/>
        </p:spPr>
        <p:txBody>
          <a:bodyPr wrap="square" lIns="0" tIns="0" rIns="0" bIns="0" rtlCol="0" anchor="t"/>
          <a:lstStyle/>
          <a:p>
            <a:pPr algn="ctr" indent="0" marL="0">
              <a:buNone/>
            </a:pPr>
            <a:r>
              <a:rPr lang="en-US" sz="1100" b="1" dirty="0">
                <a:solidFill>
                  <a:srgbClr val="1F2A24"/>
                </a:solidFill>
                <a:latin typeface="Calibri" pitchFamily="34" charset="0"/>
                <a:ea typeface="Calibri" pitchFamily="34" charset="-122"/>
                <a:cs typeface="Calibri" pitchFamily="34" charset="-120"/>
              </a:rPr>
              <a:t>Harvest</a:t>
            </a:r>
            <a:endParaRPr lang="en-US" sz="1100" dirty="0"/>
          </a:p>
        </p:txBody>
      </p:sp>
      <p:sp>
        <p:nvSpPr>
          <p:cNvPr id="36" name="Shape 24"/>
          <p:cNvSpPr/>
          <p:nvPr/>
        </p:nvSpPr>
        <p:spPr>
          <a:xfrm>
            <a:off x="5596128" y="2423160"/>
            <a:ext cx="914400" cy="1051560"/>
          </a:xfrm>
          <a:prstGeom prst="roundRect">
            <a:avLst>
              <a:gd name="adj" fmla="val 8000"/>
            </a:avLst>
          </a:prstGeom>
          <a:solidFill>
            <a:srgbClr val="FFFFFF"/>
          </a:solidFill>
          <a:ln w="12700">
            <a:solidFill>
              <a:srgbClr val="66BB6A"/>
            </a:solidFill>
            <a:prstDash val="solid"/>
          </a:ln>
        </p:spPr>
      </p:sp>
      <p:pic>
        <p:nvPicPr>
          <p:cNvPr id="37" name="Image 9" descr="preencoded.png">    </p:cNvPr>
          <p:cNvPicPr>
            <a:picLocks noChangeAspect="1"/>
          </p:cNvPicPr>
          <p:nvPr/>
        </p:nvPicPr>
        <p:blipFill>
          <a:blip r:embed="rId10"/>
          <a:stretch>
            <a:fillRect/>
          </a:stretch>
        </p:blipFill>
        <p:spPr>
          <a:xfrm>
            <a:off x="5870448" y="2514600"/>
            <a:ext cx="365760" cy="365760"/>
          </a:xfrm>
          <a:prstGeom prst="rect">
            <a:avLst/>
          </a:prstGeom>
        </p:spPr>
      </p:pic>
      <p:sp>
        <p:nvSpPr>
          <p:cNvPr id="38" name="Text 25"/>
          <p:cNvSpPr txBox="1"/>
          <p:nvPr/>
        </p:nvSpPr>
        <p:spPr>
          <a:xfrm>
            <a:off x="5596128" y="2971800"/>
            <a:ext cx="914400" cy="365760"/>
          </a:xfrm>
          <a:prstGeom prst="rect">
            <a:avLst/>
          </a:prstGeom>
          <a:noFill/>
          <a:ln/>
        </p:spPr>
        <p:txBody>
          <a:bodyPr wrap="square" lIns="0" tIns="0" rIns="0" bIns="0" rtlCol="0" anchor="t"/>
          <a:lstStyle/>
          <a:p>
            <a:pPr algn="ctr" indent="0" marL="0">
              <a:buNone/>
            </a:pPr>
            <a:r>
              <a:rPr lang="en-US" sz="1100" b="1" dirty="0">
                <a:solidFill>
                  <a:srgbClr val="1F2A24"/>
                </a:solidFill>
                <a:latin typeface="Calibri" pitchFamily="34" charset="0"/>
                <a:ea typeface="Calibri" pitchFamily="34" charset="-122"/>
                <a:cs typeface="Calibri" pitchFamily="34" charset="-120"/>
              </a:rPr>
              <a:t>Market</a:t>
            </a:r>
            <a:endParaRPr lang="en-US" sz="1100" dirty="0"/>
          </a:p>
        </p:txBody>
      </p:sp>
      <p:sp>
        <p:nvSpPr>
          <p:cNvPr id="39" name="Shape 26"/>
          <p:cNvSpPr/>
          <p:nvPr/>
        </p:nvSpPr>
        <p:spPr>
          <a:xfrm>
            <a:off x="6583680" y="2423160"/>
            <a:ext cx="914400" cy="1051560"/>
          </a:xfrm>
          <a:prstGeom prst="roundRect">
            <a:avLst>
              <a:gd name="adj" fmla="val 8000"/>
            </a:avLst>
          </a:prstGeom>
          <a:solidFill>
            <a:srgbClr val="FFFFFF"/>
          </a:solidFill>
          <a:ln w="12700">
            <a:solidFill>
              <a:srgbClr val="66BB6A"/>
            </a:solidFill>
            <a:prstDash val="solid"/>
          </a:ln>
        </p:spPr>
      </p:sp>
      <p:pic>
        <p:nvPicPr>
          <p:cNvPr id="40" name="Image 10" descr="preencoded.png">    </p:cNvPr>
          <p:cNvPicPr>
            <a:picLocks noChangeAspect="1"/>
          </p:cNvPicPr>
          <p:nvPr/>
        </p:nvPicPr>
        <p:blipFill>
          <a:blip r:embed="rId11"/>
          <a:stretch>
            <a:fillRect/>
          </a:stretch>
        </p:blipFill>
        <p:spPr>
          <a:xfrm>
            <a:off x="6858000" y="2514600"/>
            <a:ext cx="365760" cy="365760"/>
          </a:xfrm>
          <a:prstGeom prst="rect">
            <a:avLst/>
          </a:prstGeom>
        </p:spPr>
      </p:pic>
      <p:sp>
        <p:nvSpPr>
          <p:cNvPr id="41" name="Text 27"/>
          <p:cNvSpPr txBox="1"/>
          <p:nvPr/>
        </p:nvSpPr>
        <p:spPr>
          <a:xfrm>
            <a:off x="6583680" y="2971800"/>
            <a:ext cx="914400" cy="365760"/>
          </a:xfrm>
          <a:prstGeom prst="rect">
            <a:avLst/>
          </a:prstGeom>
          <a:noFill/>
          <a:ln/>
        </p:spPr>
        <p:txBody>
          <a:bodyPr wrap="square" lIns="0" tIns="0" rIns="0" bIns="0" rtlCol="0" anchor="t"/>
          <a:lstStyle/>
          <a:p>
            <a:pPr algn="ctr" indent="0" marL="0">
              <a:buNone/>
            </a:pPr>
            <a:r>
              <a:rPr lang="en-US" sz="1100" b="1" dirty="0">
                <a:solidFill>
                  <a:srgbClr val="1F2A24"/>
                </a:solidFill>
                <a:latin typeface="Calibri" pitchFamily="34" charset="0"/>
                <a:ea typeface="Calibri" pitchFamily="34" charset="-122"/>
                <a:cs typeface="Calibri" pitchFamily="34" charset="-120"/>
              </a:rPr>
              <a:t>Customer</a:t>
            </a:r>
            <a:endParaRPr lang="en-US" sz="1100" dirty="0"/>
          </a:p>
        </p:txBody>
      </p:sp>
      <p:sp>
        <p:nvSpPr>
          <p:cNvPr id="42" name="Shape 28"/>
          <p:cNvSpPr/>
          <p:nvPr/>
        </p:nvSpPr>
        <p:spPr>
          <a:xfrm>
            <a:off x="7571232" y="2423160"/>
            <a:ext cx="914400" cy="1051560"/>
          </a:xfrm>
          <a:prstGeom prst="roundRect">
            <a:avLst>
              <a:gd name="adj" fmla="val 8000"/>
            </a:avLst>
          </a:prstGeom>
          <a:solidFill>
            <a:srgbClr val="FFFFFF"/>
          </a:solidFill>
          <a:ln w="12700">
            <a:solidFill>
              <a:srgbClr val="66BB6A"/>
            </a:solidFill>
            <a:prstDash val="solid"/>
          </a:ln>
        </p:spPr>
      </p:sp>
      <p:pic>
        <p:nvPicPr>
          <p:cNvPr id="43" name="Image 11" descr="preencoded.png">    </p:cNvPr>
          <p:cNvPicPr>
            <a:picLocks noChangeAspect="1"/>
          </p:cNvPicPr>
          <p:nvPr/>
        </p:nvPicPr>
        <p:blipFill>
          <a:blip r:embed="rId12"/>
          <a:stretch>
            <a:fillRect/>
          </a:stretch>
        </p:blipFill>
        <p:spPr>
          <a:xfrm>
            <a:off x="7845552" y="2514600"/>
            <a:ext cx="365760" cy="365760"/>
          </a:xfrm>
          <a:prstGeom prst="rect">
            <a:avLst/>
          </a:prstGeom>
        </p:spPr>
      </p:pic>
      <p:sp>
        <p:nvSpPr>
          <p:cNvPr id="44" name="Text 29"/>
          <p:cNvSpPr txBox="1"/>
          <p:nvPr/>
        </p:nvSpPr>
        <p:spPr>
          <a:xfrm>
            <a:off x="7571232" y="2971800"/>
            <a:ext cx="914400" cy="365760"/>
          </a:xfrm>
          <a:prstGeom prst="rect">
            <a:avLst/>
          </a:prstGeom>
          <a:noFill/>
          <a:ln/>
        </p:spPr>
        <p:txBody>
          <a:bodyPr wrap="square" lIns="0" tIns="0" rIns="0" bIns="0" rtlCol="0" anchor="t"/>
          <a:lstStyle/>
          <a:p>
            <a:pPr algn="ctr" indent="0" marL="0">
              <a:buNone/>
            </a:pPr>
            <a:r>
              <a:rPr lang="en-US" sz="1100" b="1" dirty="0">
                <a:solidFill>
                  <a:srgbClr val="1F2A24"/>
                </a:solidFill>
                <a:latin typeface="Calibri" pitchFamily="34" charset="0"/>
                <a:ea typeface="Calibri" pitchFamily="34" charset="-122"/>
                <a:cs typeface="Calibri" pitchFamily="34" charset="-120"/>
              </a:rPr>
              <a:t>Transport</a:t>
            </a:r>
            <a:endParaRPr lang="en-US" sz="1100" dirty="0"/>
          </a:p>
        </p:txBody>
      </p:sp>
      <p:sp>
        <p:nvSpPr>
          <p:cNvPr id="45" name="Shape 30"/>
          <p:cNvSpPr/>
          <p:nvPr/>
        </p:nvSpPr>
        <p:spPr>
          <a:xfrm>
            <a:off x="4572000" y="3584448"/>
            <a:ext cx="0" cy="301752"/>
          </a:xfrm>
          <a:prstGeom prst="line">
            <a:avLst/>
          </a:prstGeom>
          <a:noFill/>
          <a:ln w="28575">
            <a:solidFill>
              <a:srgbClr val="1B5E20"/>
            </a:solidFill>
            <a:prstDash val="solid"/>
            <a:tailEnd type="triangle"/>
          </a:ln>
        </p:spPr>
      </p:sp>
      <p:sp>
        <p:nvSpPr>
          <p:cNvPr id="46" name="Shape 31"/>
          <p:cNvSpPr/>
          <p:nvPr/>
        </p:nvSpPr>
        <p:spPr>
          <a:xfrm>
            <a:off x="3200400" y="3886200"/>
            <a:ext cx="2743200" cy="548640"/>
          </a:xfrm>
          <a:prstGeom prst="roundRect">
            <a:avLst>
              <a:gd name="adj" fmla="val 13333"/>
            </a:avLst>
          </a:prstGeom>
          <a:solidFill>
            <a:srgbClr val="1B5E20"/>
          </a:solidFill>
          <a:ln w="12700">
            <a:solidFill>
              <a:srgbClr val="1B5E20"/>
            </a:solidFill>
            <a:prstDash val="solid"/>
          </a:ln>
        </p:spPr>
      </p:sp>
      <p:sp>
        <p:nvSpPr>
          <p:cNvPr id="47" name="Text 32"/>
          <p:cNvSpPr txBox="1"/>
          <p:nvPr/>
        </p:nvSpPr>
        <p:spPr>
          <a:xfrm>
            <a:off x="3200400" y="3886200"/>
            <a:ext cx="274320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Farmer Decision</a:t>
            </a:r>
            <a:endParaRPr lang="en-US" sz="1700" dirty="0"/>
          </a:p>
        </p:txBody>
      </p:sp>
      <p:sp>
        <p:nvSpPr>
          <p:cNvPr id="48" name="Text 33"/>
          <p:cNvSpPr txBox="1"/>
          <p:nvPr/>
        </p:nvSpPr>
        <p:spPr>
          <a:xfrm>
            <a:off x="457200" y="4526280"/>
            <a:ext cx="5486400" cy="228600"/>
          </a:xfrm>
          <a:prstGeom prst="rect">
            <a:avLst/>
          </a:prstGeom>
          <a:noFill/>
          <a:ln/>
        </p:spPr>
        <p:txBody>
          <a:bodyPr wrap="square" lIns="0" tIns="0" rIns="0" bIns="0" rtlCol="0" anchor="t"/>
          <a:lstStyle/>
          <a:p>
            <a:pPr indent="0" marL="0">
              <a:buNone/>
            </a:pPr>
            <a:r>
              <a:rPr lang="en-US" sz="1050" i="1" dirty="0">
                <a:solidFill>
                  <a:srgbClr val="5F6B61"/>
                </a:solidFill>
                <a:latin typeface="Calibri" pitchFamily="34" charset="0"/>
                <a:ea typeface="Calibri" pitchFamily="34" charset="-122"/>
                <a:cs typeface="Calibri" pitchFamily="34" charset="-120"/>
              </a:rPr>
              <a:t>Proposed conceptual architecture - not an implemented system</a:t>
            </a:r>
            <a:endParaRPr lang="en-US" sz="1050" dirty="0"/>
          </a:p>
        </p:txBody>
      </p:sp>
      <p:sp>
        <p:nvSpPr>
          <p:cNvPr id="25" name="Slide Number Placeholder 0"/>
          <p:cNvSpPr>
            <a:spLocks noGrp="1"/>
          </p:cNvSpPr>
          <p:nvPr>
            <p:ph type="sldNum" sz="quarter" idx="4294967295"/>
          </p:nvPr>
        </p:nvSpPr>
        <p:spPr>
          <a:xfrm>
            <a:off x="822960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F6B61"/>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rgbClr val="1B5E20"/>
                </a:solidFill>
                <a:latin typeface="Calibri" pitchFamily="34" charset="0"/>
                <a:ea typeface="Calibri" pitchFamily="34" charset="-122"/>
                <a:cs typeface="Calibri" pitchFamily="34" charset="-120"/>
              </a:rPr>
              <a:t>Working Methodology</a:t>
            </a:r>
            <a:endParaRPr lang="en-US" sz="2800" dirty="0"/>
          </a:p>
        </p:txBody>
      </p:sp>
      <p:sp>
        <p:nvSpPr>
          <p:cNvPr id="4" name="Shape 1"/>
          <p:cNvSpPr/>
          <p:nvPr/>
        </p:nvSpPr>
        <p:spPr>
          <a:xfrm>
            <a:off x="457200" y="1097280"/>
            <a:ext cx="1828800" cy="1508760"/>
          </a:xfrm>
          <a:prstGeom prst="roundRect">
            <a:avLst>
              <a:gd name="adj" fmla="val 4848"/>
            </a:avLst>
          </a:prstGeom>
          <a:solidFill>
            <a:srgbClr val="F5F1E8"/>
          </a:solidFill>
          <a:ln w="12700">
            <a:solidFill>
              <a:srgbClr val="66BB6A"/>
            </a:solidFill>
            <a:prstDash val="solid"/>
          </a:ln>
        </p:spPr>
      </p:sp>
      <p:pic>
        <p:nvPicPr>
          <p:cNvPr id="5" name="Image 0" descr="preencoded.png">    </p:cNvPr>
          <p:cNvPicPr>
            <a:picLocks noChangeAspect="1"/>
          </p:cNvPicPr>
          <p:nvPr/>
        </p:nvPicPr>
        <p:blipFill>
          <a:blip r:embed="rId1"/>
          <a:stretch>
            <a:fillRect/>
          </a:stretch>
        </p:blipFill>
        <p:spPr>
          <a:xfrm>
            <a:off x="1188720" y="1207008"/>
            <a:ext cx="365760" cy="365760"/>
          </a:xfrm>
          <a:prstGeom prst="rect">
            <a:avLst/>
          </a:prstGeom>
        </p:spPr>
      </p:pic>
      <p:sp>
        <p:nvSpPr>
          <p:cNvPr id="6" name="Text 2"/>
          <p:cNvSpPr txBox="1"/>
          <p:nvPr/>
        </p:nvSpPr>
        <p:spPr>
          <a:xfrm>
            <a:off x="548640" y="1645920"/>
            <a:ext cx="1645920" cy="914400"/>
          </a:xfrm>
          <a:prstGeom prst="rect">
            <a:avLst/>
          </a:prstGeom>
          <a:noFill/>
          <a:ln/>
        </p:spPr>
        <p:txBody>
          <a:bodyPr wrap="square" lIns="0" tIns="0" rIns="0" bIns="0" rtlCol="0" anchor="t"/>
          <a:lstStyle/>
          <a:p>
            <a:pPr algn="ctr" indent="0" marL="0">
              <a:buNone/>
            </a:pPr>
            <a:r>
              <a:rPr lang="en-US" sz="1300" b="1" dirty="0">
                <a:solidFill>
                  <a:srgbClr val="1F2A24"/>
                </a:solidFill>
                <a:latin typeface="Calibri" pitchFamily="34" charset="0"/>
                <a:ea typeface="Calibri" pitchFamily="34" charset="-122"/>
                <a:cs typeface="Calibri" pitchFamily="34" charset="-120"/>
              </a:rPr>
              <a:t>Farmer registration</a:t>
            </a:r>
            <a:endParaRPr lang="en-US" sz="1300" dirty="0"/>
          </a:p>
        </p:txBody>
      </p:sp>
      <p:sp>
        <p:nvSpPr>
          <p:cNvPr id="7" name="Shape 3"/>
          <p:cNvSpPr/>
          <p:nvPr/>
        </p:nvSpPr>
        <p:spPr>
          <a:xfrm>
            <a:off x="530352" y="1170432"/>
            <a:ext cx="329184" cy="329184"/>
          </a:xfrm>
          <a:prstGeom prst="ellipse">
            <a:avLst/>
          </a:prstGeom>
          <a:solidFill>
            <a:srgbClr val="1B5E20"/>
          </a:solidFill>
          <a:ln w="12700">
            <a:solidFill>
              <a:srgbClr val="1B5E20"/>
            </a:solidFill>
            <a:prstDash val="solid"/>
          </a:ln>
        </p:spPr>
      </p:sp>
      <p:sp>
        <p:nvSpPr>
          <p:cNvPr id="8" name="Text 4"/>
          <p:cNvSpPr txBox="1"/>
          <p:nvPr/>
        </p:nvSpPr>
        <p:spPr>
          <a:xfrm>
            <a:off x="530352" y="11704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Shape 5"/>
          <p:cNvSpPr/>
          <p:nvPr/>
        </p:nvSpPr>
        <p:spPr>
          <a:xfrm>
            <a:off x="2322576" y="1847088"/>
            <a:ext cx="228600" cy="0"/>
          </a:xfrm>
          <a:prstGeom prst="line">
            <a:avLst/>
          </a:prstGeom>
          <a:noFill/>
          <a:ln w="28575">
            <a:solidFill>
              <a:srgbClr val="1B5E20"/>
            </a:solidFill>
            <a:prstDash val="solid"/>
            <a:tailEnd type="triangle"/>
          </a:ln>
        </p:spPr>
      </p:sp>
      <p:sp>
        <p:nvSpPr>
          <p:cNvPr id="10" name="Shape 6"/>
          <p:cNvSpPr/>
          <p:nvPr/>
        </p:nvSpPr>
        <p:spPr>
          <a:xfrm>
            <a:off x="2590495" y="1097280"/>
            <a:ext cx="1828800" cy="1508760"/>
          </a:xfrm>
          <a:prstGeom prst="roundRect">
            <a:avLst>
              <a:gd name="adj" fmla="val 4848"/>
            </a:avLst>
          </a:prstGeom>
          <a:solidFill>
            <a:srgbClr val="F5F1E8"/>
          </a:solidFill>
          <a:ln w="12700">
            <a:solidFill>
              <a:srgbClr val="66BB6A"/>
            </a:solidFill>
            <a:prstDash val="solid"/>
          </a:ln>
        </p:spPr>
      </p:sp>
      <p:pic>
        <p:nvPicPr>
          <p:cNvPr id="11" name="Image 1" descr="preencoded.png">    </p:cNvPr>
          <p:cNvPicPr>
            <a:picLocks noChangeAspect="1"/>
          </p:cNvPicPr>
          <p:nvPr/>
        </p:nvPicPr>
        <p:blipFill>
          <a:blip r:embed="rId2"/>
          <a:stretch>
            <a:fillRect/>
          </a:stretch>
        </p:blipFill>
        <p:spPr>
          <a:xfrm>
            <a:off x="3322015" y="1207008"/>
            <a:ext cx="365760" cy="365760"/>
          </a:xfrm>
          <a:prstGeom prst="rect">
            <a:avLst/>
          </a:prstGeom>
        </p:spPr>
      </p:pic>
      <p:sp>
        <p:nvSpPr>
          <p:cNvPr id="12" name="Text 7"/>
          <p:cNvSpPr txBox="1"/>
          <p:nvPr/>
        </p:nvSpPr>
        <p:spPr>
          <a:xfrm>
            <a:off x="2681935" y="1645920"/>
            <a:ext cx="1645920" cy="914400"/>
          </a:xfrm>
          <a:prstGeom prst="rect">
            <a:avLst/>
          </a:prstGeom>
          <a:noFill/>
          <a:ln/>
        </p:spPr>
        <p:txBody>
          <a:bodyPr wrap="square" lIns="0" tIns="0" rIns="0" bIns="0" rtlCol="0" anchor="t"/>
          <a:lstStyle/>
          <a:p>
            <a:pPr algn="ctr" indent="0" marL="0">
              <a:buNone/>
            </a:pPr>
            <a:r>
              <a:rPr lang="en-US" sz="1300" b="1" dirty="0">
                <a:solidFill>
                  <a:srgbClr val="1F2A24"/>
                </a:solidFill>
                <a:latin typeface="Calibri" pitchFamily="34" charset="0"/>
                <a:ea typeface="Calibri" pitchFamily="34" charset="-122"/>
                <a:cs typeface="Calibri" pitchFamily="34" charset="-120"/>
              </a:rPr>
              <a:t>Enter location and farm details</a:t>
            </a:r>
            <a:endParaRPr lang="en-US" sz="1300" dirty="0"/>
          </a:p>
        </p:txBody>
      </p:sp>
      <p:sp>
        <p:nvSpPr>
          <p:cNvPr id="13" name="Shape 8"/>
          <p:cNvSpPr/>
          <p:nvPr/>
        </p:nvSpPr>
        <p:spPr>
          <a:xfrm>
            <a:off x="2663647" y="1170432"/>
            <a:ext cx="329184" cy="329184"/>
          </a:xfrm>
          <a:prstGeom prst="ellipse">
            <a:avLst/>
          </a:prstGeom>
          <a:solidFill>
            <a:srgbClr val="1B5E20"/>
          </a:solidFill>
          <a:ln w="12700">
            <a:solidFill>
              <a:srgbClr val="1B5E20"/>
            </a:solidFill>
            <a:prstDash val="solid"/>
          </a:ln>
        </p:spPr>
      </p:sp>
      <p:sp>
        <p:nvSpPr>
          <p:cNvPr id="14" name="Text 9"/>
          <p:cNvSpPr txBox="1"/>
          <p:nvPr/>
        </p:nvSpPr>
        <p:spPr>
          <a:xfrm>
            <a:off x="2663647" y="11704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Shape 10"/>
          <p:cNvSpPr/>
          <p:nvPr/>
        </p:nvSpPr>
        <p:spPr>
          <a:xfrm>
            <a:off x="4455871" y="1847088"/>
            <a:ext cx="228600" cy="0"/>
          </a:xfrm>
          <a:prstGeom prst="line">
            <a:avLst/>
          </a:prstGeom>
          <a:noFill/>
          <a:ln w="28575">
            <a:solidFill>
              <a:srgbClr val="1B5E20"/>
            </a:solidFill>
            <a:prstDash val="solid"/>
            <a:tailEnd type="triangle"/>
          </a:ln>
        </p:spPr>
      </p:sp>
      <p:sp>
        <p:nvSpPr>
          <p:cNvPr id="16" name="Shape 11"/>
          <p:cNvSpPr/>
          <p:nvPr/>
        </p:nvSpPr>
        <p:spPr>
          <a:xfrm>
            <a:off x="4723790" y="1097280"/>
            <a:ext cx="1828800" cy="1508760"/>
          </a:xfrm>
          <a:prstGeom prst="roundRect">
            <a:avLst>
              <a:gd name="adj" fmla="val 4848"/>
            </a:avLst>
          </a:prstGeom>
          <a:solidFill>
            <a:srgbClr val="F5F1E8"/>
          </a:solidFill>
          <a:ln w="12700">
            <a:solidFill>
              <a:srgbClr val="66BB6A"/>
            </a:solidFill>
            <a:prstDash val="solid"/>
          </a:ln>
        </p:spPr>
      </p:sp>
      <p:pic>
        <p:nvPicPr>
          <p:cNvPr id="17" name="Image 2" descr="preencoded.png">    </p:cNvPr>
          <p:cNvPicPr>
            <a:picLocks noChangeAspect="1"/>
          </p:cNvPicPr>
          <p:nvPr/>
        </p:nvPicPr>
        <p:blipFill>
          <a:blip r:embed="rId3"/>
          <a:stretch>
            <a:fillRect/>
          </a:stretch>
        </p:blipFill>
        <p:spPr>
          <a:xfrm>
            <a:off x="5455310" y="1207008"/>
            <a:ext cx="365760" cy="365760"/>
          </a:xfrm>
          <a:prstGeom prst="rect">
            <a:avLst/>
          </a:prstGeom>
        </p:spPr>
      </p:pic>
      <p:sp>
        <p:nvSpPr>
          <p:cNvPr id="18" name="Text 12"/>
          <p:cNvSpPr txBox="1"/>
          <p:nvPr/>
        </p:nvSpPr>
        <p:spPr>
          <a:xfrm>
            <a:off x="4815230" y="1645920"/>
            <a:ext cx="1645920" cy="914400"/>
          </a:xfrm>
          <a:prstGeom prst="rect">
            <a:avLst/>
          </a:prstGeom>
          <a:noFill/>
          <a:ln/>
        </p:spPr>
        <p:txBody>
          <a:bodyPr wrap="square" lIns="0" tIns="0" rIns="0" bIns="0" rtlCol="0" anchor="t"/>
          <a:lstStyle/>
          <a:p>
            <a:pPr algn="ctr" indent="0" marL="0">
              <a:buNone/>
            </a:pPr>
            <a:r>
              <a:rPr lang="en-US" sz="1300" b="1" dirty="0">
                <a:solidFill>
                  <a:srgbClr val="1F2A24"/>
                </a:solidFill>
                <a:latin typeface="Calibri" pitchFamily="34" charset="0"/>
                <a:ea typeface="Calibri" pitchFamily="34" charset="-122"/>
                <a:cs typeface="Calibri" pitchFamily="34" charset="-120"/>
              </a:rPr>
              <a:t>System processes available information</a:t>
            </a:r>
            <a:endParaRPr lang="en-US" sz="1300" dirty="0"/>
          </a:p>
        </p:txBody>
      </p:sp>
      <p:sp>
        <p:nvSpPr>
          <p:cNvPr id="19" name="Shape 13"/>
          <p:cNvSpPr/>
          <p:nvPr/>
        </p:nvSpPr>
        <p:spPr>
          <a:xfrm>
            <a:off x="4796942" y="1170432"/>
            <a:ext cx="329184" cy="329184"/>
          </a:xfrm>
          <a:prstGeom prst="ellipse">
            <a:avLst/>
          </a:prstGeom>
          <a:solidFill>
            <a:srgbClr val="1B5E20"/>
          </a:solidFill>
          <a:ln w="12700">
            <a:solidFill>
              <a:srgbClr val="1B5E20"/>
            </a:solidFill>
            <a:prstDash val="solid"/>
          </a:ln>
        </p:spPr>
      </p:sp>
      <p:sp>
        <p:nvSpPr>
          <p:cNvPr id="20" name="Text 14"/>
          <p:cNvSpPr txBox="1"/>
          <p:nvPr/>
        </p:nvSpPr>
        <p:spPr>
          <a:xfrm>
            <a:off x="4796942" y="11704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Shape 15"/>
          <p:cNvSpPr/>
          <p:nvPr/>
        </p:nvSpPr>
        <p:spPr>
          <a:xfrm>
            <a:off x="6589166" y="1847088"/>
            <a:ext cx="228600" cy="0"/>
          </a:xfrm>
          <a:prstGeom prst="line">
            <a:avLst/>
          </a:prstGeom>
          <a:noFill/>
          <a:ln w="28575">
            <a:solidFill>
              <a:srgbClr val="1B5E20"/>
            </a:solidFill>
            <a:prstDash val="solid"/>
            <a:tailEnd type="triangle"/>
          </a:ln>
        </p:spPr>
      </p:sp>
      <p:sp>
        <p:nvSpPr>
          <p:cNvPr id="22" name="Shape 16"/>
          <p:cNvSpPr/>
          <p:nvPr/>
        </p:nvSpPr>
        <p:spPr>
          <a:xfrm>
            <a:off x="6857086" y="1097280"/>
            <a:ext cx="1828800" cy="1508760"/>
          </a:xfrm>
          <a:prstGeom prst="roundRect">
            <a:avLst>
              <a:gd name="adj" fmla="val 4848"/>
            </a:avLst>
          </a:prstGeom>
          <a:solidFill>
            <a:srgbClr val="F5F1E8"/>
          </a:solidFill>
          <a:ln w="12700">
            <a:solidFill>
              <a:srgbClr val="66BB6A"/>
            </a:solidFill>
            <a:prstDash val="solid"/>
          </a:ln>
        </p:spPr>
      </p:sp>
      <p:pic>
        <p:nvPicPr>
          <p:cNvPr id="23" name="Image 3" descr="preencoded.png">    </p:cNvPr>
          <p:cNvPicPr>
            <a:picLocks noChangeAspect="1"/>
          </p:cNvPicPr>
          <p:nvPr/>
        </p:nvPicPr>
        <p:blipFill>
          <a:blip r:embed="rId4"/>
          <a:stretch>
            <a:fillRect/>
          </a:stretch>
        </p:blipFill>
        <p:spPr>
          <a:xfrm>
            <a:off x="7588606" y="1207008"/>
            <a:ext cx="365760" cy="365760"/>
          </a:xfrm>
          <a:prstGeom prst="rect">
            <a:avLst/>
          </a:prstGeom>
        </p:spPr>
      </p:pic>
      <p:sp>
        <p:nvSpPr>
          <p:cNvPr id="24" name="Text 17"/>
          <p:cNvSpPr txBox="1"/>
          <p:nvPr/>
        </p:nvSpPr>
        <p:spPr>
          <a:xfrm>
            <a:off x="6948526" y="1645920"/>
            <a:ext cx="1645920" cy="914400"/>
          </a:xfrm>
          <a:prstGeom prst="rect">
            <a:avLst/>
          </a:prstGeom>
          <a:noFill/>
          <a:ln/>
        </p:spPr>
        <p:txBody>
          <a:bodyPr wrap="square" lIns="0" tIns="0" rIns="0" bIns="0" rtlCol="0" anchor="t"/>
          <a:lstStyle/>
          <a:p>
            <a:pPr algn="ctr" indent="0" marL="0">
              <a:buNone/>
            </a:pPr>
            <a:r>
              <a:rPr lang="en-US" sz="1300" b="1" dirty="0">
                <a:solidFill>
                  <a:srgbClr val="1F2A24"/>
                </a:solidFill>
                <a:latin typeface="Calibri" pitchFamily="34" charset="0"/>
                <a:ea typeface="Calibri" pitchFamily="34" charset="-122"/>
                <a:cs typeface="Calibri" pitchFamily="34" charset="-120"/>
              </a:rPr>
              <a:t>Crop and seed recommendations generated</a:t>
            </a:r>
            <a:endParaRPr lang="en-US" sz="1300" dirty="0"/>
          </a:p>
        </p:txBody>
      </p:sp>
      <p:sp>
        <p:nvSpPr>
          <p:cNvPr id="25" name="Shape 18"/>
          <p:cNvSpPr/>
          <p:nvPr/>
        </p:nvSpPr>
        <p:spPr>
          <a:xfrm>
            <a:off x="6930238" y="1170432"/>
            <a:ext cx="329184" cy="329184"/>
          </a:xfrm>
          <a:prstGeom prst="ellipse">
            <a:avLst/>
          </a:prstGeom>
          <a:solidFill>
            <a:srgbClr val="1B5E20"/>
          </a:solidFill>
          <a:ln w="12700">
            <a:solidFill>
              <a:srgbClr val="1B5E20"/>
            </a:solidFill>
            <a:prstDash val="solid"/>
          </a:ln>
        </p:spPr>
      </p:sp>
      <p:sp>
        <p:nvSpPr>
          <p:cNvPr id="26" name="Text 19"/>
          <p:cNvSpPr txBox="1"/>
          <p:nvPr/>
        </p:nvSpPr>
        <p:spPr>
          <a:xfrm>
            <a:off x="6930238" y="11704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Shape 20"/>
          <p:cNvSpPr/>
          <p:nvPr/>
        </p:nvSpPr>
        <p:spPr>
          <a:xfrm>
            <a:off x="457200" y="2926080"/>
            <a:ext cx="1828800" cy="1508760"/>
          </a:xfrm>
          <a:prstGeom prst="roundRect">
            <a:avLst>
              <a:gd name="adj" fmla="val 4848"/>
            </a:avLst>
          </a:prstGeom>
          <a:solidFill>
            <a:srgbClr val="F5F1E8"/>
          </a:solidFill>
          <a:ln w="12700">
            <a:solidFill>
              <a:srgbClr val="66BB6A"/>
            </a:solidFill>
            <a:prstDash val="solid"/>
          </a:ln>
        </p:spPr>
      </p:sp>
      <p:pic>
        <p:nvPicPr>
          <p:cNvPr id="28" name="Image 4" descr="preencoded.png">    </p:cNvPr>
          <p:cNvPicPr>
            <a:picLocks noChangeAspect="1"/>
          </p:cNvPicPr>
          <p:nvPr/>
        </p:nvPicPr>
        <p:blipFill>
          <a:blip r:embed="rId5"/>
          <a:stretch>
            <a:fillRect/>
          </a:stretch>
        </p:blipFill>
        <p:spPr>
          <a:xfrm>
            <a:off x="1188720" y="3035808"/>
            <a:ext cx="365760" cy="365760"/>
          </a:xfrm>
          <a:prstGeom prst="rect">
            <a:avLst/>
          </a:prstGeom>
        </p:spPr>
      </p:pic>
      <p:sp>
        <p:nvSpPr>
          <p:cNvPr id="29" name="Text 21"/>
          <p:cNvSpPr txBox="1"/>
          <p:nvPr/>
        </p:nvSpPr>
        <p:spPr>
          <a:xfrm>
            <a:off x="548640" y="3474720"/>
            <a:ext cx="1645920" cy="914400"/>
          </a:xfrm>
          <a:prstGeom prst="rect">
            <a:avLst/>
          </a:prstGeom>
          <a:noFill/>
          <a:ln/>
        </p:spPr>
        <p:txBody>
          <a:bodyPr wrap="square" lIns="0" tIns="0" rIns="0" bIns="0" rtlCol="0" anchor="t"/>
          <a:lstStyle/>
          <a:p>
            <a:pPr algn="ctr" indent="0" marL="0">
              <a:buNone/>
            </a:pPr>
            <a:r>
              <a:rPr lang="en-US" sz="1300" b="1" dirty="0">
                <a:solidFill>
                  <a:srgbClr val="1F2A24"/>
                </a:solidFill>
                <a:latin typeface="Calibri" pitchFamily="34" charset="0"/>
                <a:ea typeface="Calibri" pitchFamily="34" charset="-122"/>
                <a:cs typeface="Calibri" pitchFamily="34" charset="-120"/>
              </a:rPr>
              <a:t>Weather and irrigation support provided</a:t>
            </a:r>
            <a:endParaRPr lang="en-US" sz="1300" dirty="0"/>
          </a:p>
        </p:txBody>
      </p:sp>
      <p:sp>
        <p:nvSpPr>
          <p:cNvPr id="30" name="Shape 22"/>
          <p:cNvSpPr/>
          <p:nvPr/>
        </p:nvSpPr>
        <p:spPr>
          <a:xfrm>
            <a:off x="530352" y="2999232"/>
            <a:ext cx="329184" cy="329184"/>
          </a:xfrm>
          <a:prstGeom prst="ellipse">
            <a:avLst/>
          </a:prstGeom>
          <a:solidFill>
            <a:srgbClr val="1B5E20"/>
          </a:solidFill>
          <a:ln w="12700">
            <a:solidFill>
              <a:srgbClr val="1B5E20"/>
            </a:solidFill>
            <a:prstDash val="solid"/>
          </a:ln>
        </p:spPr>
      </p:sp>
      <p:sp>
        <p:nvSpPr>
          <p:cNvPr id="31" name="Text 23"/>
          <p:cNvSpPr txBox="1"/>
          <p:nvPr/>
        </p:nvSpPr>
        <p:spPr>
          <a:xfrm>
            <a:off x="530352" y="29992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2" name="Shape 24"/>
          <p:cNvSpPr/>
          <p:nvPr/>
        </p:nvSpPr>
        <p:spPr>
          <a:xfrm>
            <a:off x="2322576" y="3675888"/>
            <a:ext cx="228600" cy="0"/>
          </a:xfrm>
          <a:prstGeom prst="line">
            <a:avLst/>
          </a:prstGeom>
          <a:noFill/>
          <a:ln w="28575">
            <a:solidFill>
              <a:srgbClr val="1B5E20"/>
            </a:solidFill>
            <a:prstDash val="solid"/>
            <a:tailEnd type="triangle"/>
          </a:ln>
        </p:spPr>
      </p:sp>
      <p:sp>
        <p:nvSpPr>
          <p:cNvPr id="33" name="Shape 25"/>
          <p:cNvSpPr/>
          <p:nvPr/>
        </p:nvSpPr>
        <p:spPr>
          <a:xfrm>
            <a:off x="2590495" y="2926080"/>
            <a:ext cx="1828800" cy="1508760"/>
          </a:xfrm>
          <a:prstGeom prst="roundRect">
            <a:avLst>
              <a:gd name="adj" fmla="val 4848"/>
            </a:avLst>
          </a:prstGeom>
          <a:solidFill>
            <a:srgbClr val="F5F1E8"/>
          </a:solidFill>
          <a:ln w="12700">
            <a:solidFill>
              <a:srgbClr val="66BB6A"/>
            </a:solidFill>
            <a:prstDash val="solid"/>
          </a:ln>
        </p:spPr>
      </p:sp>
      <p:pic>
        <p:nvPicPr>
          <p:cNvPr id="34" name="Image 5" descr="preencoded.png">    </p:cNvPr>
          <p:cNvPicPr>
            <a:picLocks noChangeAspect="1"/>
          </p:cNvPicPr>
          <p:nvPr/>
        </p:nvPicPr>
        <p:blipFill>
          <a:blip r:embed="rId6"/>
          <a:stretch>
            <a:fillRect/>
          </a:stretch>
        </p:blipFill>
        <p:spPr>
          <a:xfrm>
            <a:off x="3322015" y="3035808"/>
            <a:ext cx="365760" cy="365760"/>
          </a:xfrm>
          <a:prstGeom prst="rect">
            <a:avLst/>
          </a:prstGeom>
        </p:spPr>
      </p:pic>
      <p:sp>
        <p:nvSpPr>
          <p:cNvPr id="35" name="Text 26"/>
          <p:cNvSpPr txBox="1"/>
          <p:nvPr/>
        </p:nvSpPr>
        <p:spPr>
          <a:xfrm>
            <a:off x="2681935" y="3474720"/>
            <a:ext cx="1645920" cy="914400"/>
          </a:xfrm>
          <a:prstGeom prst="rect">
            <a:avLst/>
          </a:prstGeom>
          <a:noFill/>
          <a:ln/>
        </p:spPr>
        <p:txBody>
          <a:bodyPr wrap="square" lIns="0" tIns="0" rIns="0" bIns="0" rtlCol="0" anchor="t"/>
          <a:lstStyle/>
          <a:p>
            <a:pPr algn="ctr" indent="0" marL="0">
              <a:buNone/>
            </a:pPr>
            <a:r>
              <a:rPr lang="en-US" sz="1300" b="1" dirty="0">
                <a:solidFill>
                  <a:srgbClr val="1F2A24"/>
                </a:solidFill>
                <a:latin typeface="Calibri" pitchFamily="34" charset="0"/>
                <a:ea typeface="Calibri" pitchFamily="34" charset="-122"/>
                <a:cs typeface="Calibri" pitchFamily="34" charset="-120"/>
              </a:rPr>
              <a:t>Harvest planning guidance provided</a:t>
            </a:r>
            <a:endParaRPr lang="en-US" sz="1300" dirty="0"/>
          </a:p>
        </p:txBody>
      </p:sp>
      <p:sp>
        <p:nvSpPr>
          <p:cNvPr id="36" name="Shape 27"/>
          <p:cNvSpPr/>
          <p:nvPr/>
        </p:nvSpPr>
        <p:spPr>
          <a:xfrm>
            <a:off x="2663647" y="2999232"/>
            <a:ext cx="329184" cy="329184"/>
          </a:xfrm>
          <a:prstGeom prst="ellipse">
            <a:avLst/>
          </a:prstGeom>
          <a:solidFill>
            <a:srgbClr val="1B5E20"/>
          </a:solidFill>
          <a:ln w="12700">
            <a:solidFill>
              <a:srgbClr val="1B5E20"/>
            </a:solidFill>
            <a:prstDash val="solid"/>
          </a:ln>
        </p:spPr>
      </p:sp>
      <p:sp>
        <p:nvSpPr>
          <p:cNvPr id="37" name="Text 28"/>
          <p:cNvSpPr txBox="1"/>
          <p:nvPr/>
        </p:nvSpPr>
        <p:spPr>
          <a:xfrm>
            <a:off x="2663647" y="29992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8" name="Shape 29"/>
          <p:cNvSpPr/>
          <p:nvPr/>
        </p:nvSpPr>
        <p:spPr>
          <a:xfrm>
            <a:off x="4455871" y="3675888"/>
            <a:ext cx="228600" cy="0"/>
          </a:xfrm>
          <a:prstGeom prst="line">
            <a:avLst/>
          </a:prstGeom>
          <a:noFill/>
          <a:ln w="28575">
            <a:solidFill>
              <a:srgbClr val="1B5E20"/>
            </a:solidFill>
            <a:prstDash val="solid"/>
            <a:tailEnd type="triangle"/>
          </a:ln>
        </p:spPr>
      </p:sp>
      <p:sp>
        <p:nvSpPr>
          <p:cNvPr id="39" name="Shape 30"/>
          <p:cNvSpPr/>
          <p:nvPr/>
        </p:nvSpPr>
        <p:spPr>
          <a:xfrm>
            <a:off x="4723790" y="2926080"/>
            <a:ext cx="1828800" cy="1508760"/>
          </a:xfrm>
          <a:prstGeom prst="roundRect">
            <a:avLst>
              <a:gd name="adj" fmla="val 4848"/>
            </a:avLst>
          </a:prstGeom>
          <a:solidFill>
            <a:srgbClr val="F5F1E8"/>
          </a:solidFill>
          <a:ln w="12700">
            <a:solidFill>
              <a:srgbClr val="66BB6A"/>
            </a:solidFill>
            <a:prstDash val="solid"/>
          </a:ln>
        </p:spPr>
      </p:sp>
      <p:pic>
        <p:nvPicPr>
          <p:cNvPr id="40" name="Image 6" descr="preencoded.png">    </p:cNvPr>
          <p:cNvPicPr>
            <a:picLocks noChangeAspect="1"/>
          </p:cNvPicPr>
          <p:nvPr/>
        </p:nvPicPr>
        <p:blipFill>
          <a:blip r:embed="rId7"/>
          <a:stretch>
            <a:fillRect/>
          </a:stretch>
        </p:blipFill>
        <p:spPr>
          <a:xfrm>
            <a:off x="5455310" y="3035808"/>
            <a:ext cx="365760" cy="365760"/>
          </a:xfrm>
          <a:prstGeom prst="rect">
            <a:avLst/>
          </a:prstGeom>
        </p:spPr>
      </p:pic>
      <p:sp>
        <p:nvSpPr>
          <p:cNvPr id="41" name="Text 31"/>
          <p:cNvSpPr txBox="1"/>
          <p:nvPr/>
        </p:nvSpPr>
        <p:spPr>
          <a:xfrm>
            <a:off x="4815230" y="3474720"/>
            <a:ext cx="1645920" cy="914400"/>
          </a:xfrm>
          <a:prstGeom prst="rect">
            <a:avLst/>
          </a:prstGeom>
          <a:noFill/>
          <a:ln/>
        </p:spPr>
        <p:txBody>
          <a:bodyPr wrap="square" lIns="0" tIns="0" rIns="0" bIns="0" rtlCol="0" anchor="t"/>
          <a:lstStyle/>
          <a:p>
            <a:pPr algn="ctr" indent="0" marL="0">
              <a:buNone/>
            </a:pPr>
            <a:r>
              <a:rPr lang="en-US" sz="1300" b="1" dirty="0">
                <a:solidFill>
                  <a:srgbClr val="1F2A24"/>
                </a:solidFill>
                <a:latin typeface="Calibri" pitchFamily="34" charset="0"/>
                <a:ea typeface="Calibri" pitchFamily="34" charset="-122"/>
                <a:cs typeface="Calibri" pitchFamily="34" charset="-120"/>
              </a:rPr>
              <a:t>Market information displayed</a:t>
            </a:r>
            <a:endParaRPr lang="en-US" sz="1300" dirty="0"/>
          </a:p>
        </p:txBody>
      </p:sp>
      <p:sp>
        <p:nvSpPr>
          <p:cNvPr id="42" name="Shape 32"/>
          <p:cNvSpPr/>
          <p:nvPr/>
        </p:nvSpPr>
        <p:spPr>
          <a:xfrm>
            <a:off x="4796942" y="2999232"/>
            <a:ext cx="329184" cy="329184"/>
          </a:xfrm>
          <a:prstGeom prst="ellipse">
            <a:avLst/>
          </a:prstGeom>
          <a:solidFill>
            <a:srgbClr val="1B5E20"/>
          </a:solidFill>
          <a:ln w="12700">
            <a:solidFill>
              <a:srgbClr val="1B5E20"/>
            </a:solidFill>
            <a:prstDash val="solid"/>
          </a:ln>
        </p:spPr>
      </p:sp>
      <p:sp>
        <p:nvSpPr>
          <p:cNvPr id="43" name="Text 33"/>
          <p:cNvSpPr txBox="1"/>
          <p:nvPr/>
        </p:nvSpPr>
        <p:spPr>
          <a:xfrm>
            <a:off x="4796942" y="29992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4" name="Shape 34"/>
          <p:cNvSpPr/>
          <p:nvPr/>
        </p:nvSpPr>
        <p:spPr>
          <a:xfrm>
            <a:off x="6589166" y="3675888"/>
            <a:ext cx="228600" cy="0"/>
          </a:xfrm>
          <a:prstGeom prst="line">
            <a:avLst/>
          </a:prstGeom>
          <a:noFill/>
          <a:ln w="28575">
            <a:solidFill>
              <a:srgbClr val="1B5E20"/>
            </a:solidFill>
            <a:prstDash val="solid"/>
            <a:tailEnd type="triangle"/>
          </a:ln>
        </p:spPr>
      </p:sp>
      <p:sp>
        <p:nvSpPr>
          <p:cNvPr id="45" name="Shape 35"/>
          <p:cNvSpPr/>
          <p:nvPr/>
        </p:nvSpPr>
        <p:spPr>
          <a:xfrm>
            <a:off x="6857086" y="2926080"/>
            <a:ext cx="1828800" cy="1508760"/>
          </a:xfrm>
          <a:prstGeom prst="roundRect">
            <a:avLst>
              <a:gd name="adj" fmla="val 4848"/>
            </a:avLst>
          </a:prstGeom>
          <a:solidFill>
            <a:srgbClr val="F5F1E8"/>
          </a:solidFill>
          <a:ln w="12700">
            <a:solidFill>
              <a:srgbClr val="66BB6A"/>
            </a:solidFill>
            <a:prstDash val="solid"/>
          </a:ln>
        </p:spPr>
      </p:sp>
      <p:pic>
        <p:nvPicPr>
          <p:cNvPr id="46" name="Image 7" descr="preencoded.png">    </p:cNvPr>
          <p:cNvPicPr>
            <a:picLocks noChangeAspect="1"/>
          </p:cNvPicPr>
          <p:nvPr/>
        </p:nvPicPr>
        <p:blipFill>
          <a:blip r:embed="rId8"/>
          <a:stretch>
            <a:fillRect/>
          </a:stretch>
        </p:blipFill>
        <p:spPr>
          <a:xfrm>
            <a:off x="7588606" y="3035808"/>
            <a:ext cx="365760" cy="365760"/>
          </a:xfrm>
          <a:prstGeom prst="rect">
            <a:avLst/>
          </a:prstGeom>
        </p:spPr>
      </p:pic>
      <p:sp>
        <p:nvSpPr>
          <p:cNvPr id="47" name="Text 36"/>
          <p:cNvSpPr txBox="1"/>
          <p:nvPr/>
        </p:nvSpPr>
        <p:spPr>
          <a:xfrm>
            <a:off x="6948526" y="3474720"/>
            <a:ext cx="1645920" cy="914400"/>
          </a:xfrm>
          <a:prstGeom prst="rect">
            <a:avLst/>
          </a:prstGeom>
          <a:noFill/>
          <a:ln/>
        </p:spPr>
        <p:txBody>
          <a:bodyPr wrap="square" lIns="0" tIns="0" rIns="0" bIns="0" rtlCol="0" anchor="t"/>
          <a:lstStyle/>
          <a:p>
            <a:pPr algn="ctr" indent="0" marL="0">
              <a:buNone/>
            </a:pPr>
            <a:r>
              <a:rPr lang="en-US" sz="1300" b="1" dirty="0">
                <a:solidFill>
                  <a:srgbClr val="1F2A24"/>
                </a:solidFill>
                <a:latin typeface="Calibri" pitchFamily="34" charset="0"/>
                <a:ea typeface="Calibri" pitchFamily="34" charset="-122"/>
                <a:cs typeface="Calibri" pitchFamily="34" charset="-120"/>
              </a:rPr>
              <a:t>Customer and transport services connected</a:t>
            </a:r>
            <a:endParaRPr lang="en-US" sz="1300" dirty="0"/>
          </a:p>
        </p:txBody>
      </p:sp>
      <p:sp>
        <p:nvSpPr>
          <p:cNvPr id="48" name="Shape 37"/>
          <p:cNvSpPr/>
          <p:nvPr/>
        </p:nvSpPr>
        <p:spPr>
          <a:xfrm>
            <a:off x="6930238" y="2999232"/>
            <a:ext cx="329184" cy="329184"/>
          </a:xfrm>
          <a:prstGeom prst="ellipse">
            <a:avLst/>
          </a:prstGeom>
          <a:solidFill>
            <a:srgbClr val="1B5E20"/>
          </a:solidFill>
          <a:ln w="12700">
            <a:solidFill>
              <a:srgbClr val="1B5E20"/>
            </a:solidFill>
            <a:prstDash val="solid"/>
          </a:ln>
        </p:spPr>
      </p:sp>
      <p:sp>
        <p:nvSpPr>
          <p:cNvPr id="49" name="Text 38"/>
          <p:cNvSpPr txBox="1"/>
          <p:nvPr/>
        </p:nvSpPr>
        <p:spPr>
          <a:xfrm>
            <a:off x="6930238" y="29992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50" name="Text 39"/>
          <p:cNvSpPr txBox="1"/>
          <p:nvPr/>
        </p:nvSpPr>
        <p:spPr>
          <a:xfrm>
            <a:off x="457200" y="4526280"/>
            <a:ext cx="5486400" cy="228600"/>
          </a:xfrm>
          <a:prstGeom prst="rect">
            <a:avLst/>
          </a:prstGeom>
          <a:noFill/>
          <a:ln/>
        </p:spPr>
        <p:txBody>
          <a:bodyPr wrap="square" lIns="0" tIns="0" rIns="0" bIns="0" rtlCol="0" anchor="t"/>
          <a:lstStyle/>
          <a:p>
            <a:pPr indent="0" marL="0">
              <a:buNone/>
            </a:pPr>
            <a:r>
              <a:rPr lang="en-US" sz="1050" i="1" dirty="0">
                <a:solidFill>
                  <a:srgbClr val="5F6B61"/>
                </a:solidFill>
                <a:latin typeface="Calibri" pitchFamily="34" charset="0"/>
                <a:ea typeface="Calibri" pitchFamily="34" charset="-122"/>
                <a:cs typeface="Calibri" pitchFamily="34" charset="-120"/>
              </a:rPr>
              <a:t>Steps 1-4 (top row) continue into steps 5-8 (bottom row)</a:t>
            </a:r>
            <a:endParaRPr lang="en-US" sz="1050" dirty="0"/>
          </a:p>
        </p:txBody>
      </p:sp>
      <p:sp>
        <p:nvSpPr>
          <p:cNvPr id="25" name="Slide Number Placeholder 0"/>
          <p:cNvSpPr>
            <a:spLocks noGrp="1"/>
          </p:cNvSpPr>
          <p:nvPr>
            <p:ph type="sldNum" sz="quarter" idx="4294967295"/>
          </p:nvPr>
        </p:nvSpPr>
        <p:spPr>
          <a:xfrm>
            <a:off x="822960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F6B61"/>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rgbClr val="1B5E20"/>
                </a:solidFill>
                <a:latin typeface="Calibri" pitchFamily="34" charset="0"/>
                <a:ea typeface="Calibri" pitchFamily="34" charset="-122"/>
                <a:cs typeface="Calibri" pitchFamily="34" charset="-120"/>
              </a:rPr>
              <a:t>Crop and Seed Recommendation</a:t>
            </a:r>
            <a:endParaRPr lang="en-US" sz="2800" dirty="0"/>
          </a:p>
        </p:txBody>
      </p:sp>
      <p:sp>
        <p:nvSpPr>
          <p:cNvPr id="4" name="Shape 1"/>
          <p:cNvSpPr/>
          <p:nvPr/>
        </p:nvSpPr>
        <p:spPr>
          <a:xfrm>
            <a:off x="457200" y="1051560"/>
            <a:ext cx="1965960" cy="411480"/>
          </a:xfrm>
          <a:prstGeom prst="roundRect">
            <a:avLst>
              <a:gd name="adj" fmla="val 17778"/>
            </a:avLst>
          </a:prstGeom>
          <a:solidFill>
            <a:srgbClr val="E8F5E9"/>
          </a:solidFill>
          <a:ln w="12700">
            <a:solidFill>
              <a:srgbClr val="66BB6A"/>
            </a:solidFill>
            <a:prstDash val="solid"/>
          </a:ln>
        </p:spPr>
      </p:sp>
      <p:sp>
        <p:nvSpPr>
          <p:cNvPr id="5" name="Text 2"/>
          <p:cNvSpPr txBox="1"/>
          <p:nvPr/>
        </p:nvSpPr>
        <p:spPr>
          <a:xfrm>
            <a:off x="457200" y="1051560"/>
            <a:ext cx="1965960" cy="411480"/>
          </a:xfrm>
          <a:prstGeom prst="rect">
            <a:avLst/>
          </a:prstGeom>
          <a:noFill/>
          <a:ln/>
        </p:spPr>
        <p:txBody>
          <a:bodyPr wrap="square" lIns="0" tIns="0" rIns="0" bIns="0" rtlCol="0" anchor="ctr"/>
          <a:lstStyle/>
          <a:p>
            <a:pPr algn="ctr" indent="0" marL="0">
              <a:buNone/>
            </a:pPr>
            <a:r>
              <a:rPr lang="en-US" sz="1200" b="1" dirty="0">
                <a:solidFill>
                  <a:srgbClr val="1F2A24"/>
                </a:solidFill>
                <a:latin typeface="Calibri" pitchFamily="34" charset="0"/>
                <a:ea typeface="Calibri" pitchFamily="34" charset="-122"/>
                <a:cs typeface="Calibri" pitchFamily="34" charset="-120"/>
              </a:rPr>
              <a:t>Nitrogen (N)</a:t>
            </a:r>
            <a:endParaRPr lang="en-US" sz="1200" dirty="0"/>
          </a:p>
        </p:txBody>
      </p:sp>
      <p:sp>
        <p:nvSpPr>
          <p:cNvPr id="6" name="Shape 3"/>
          <p:cNvSpPr/>
          <p:nvPr/>
        </p:nvSpPr>
        <p:spPr>
          <a:xfrm>
            <a:off x="2514600" y="1051560"/>
            <a:ext cx="1965960" cy="411480"/>
          </a:xfrm>
          <a:prstGeom prst="roundRect">
            <a:avLst>
              <a:gd name="adj" fmla="val 17778"/>
            </a:avLst>
          </a:prstGeom>
          <a:solidFill>
            <a:srgbClr val="E8F5E9"/>
          </a:solidFill>
          <a:ln w="12700">
            <a:solidFill>
              <a:srgbClr val="66BB6A"/>
            </a:solidFill>
            <a:prstDash val="solid"/>
          </a:ln>
        </p:spPr>
      </p:sp>
      <p:sp>
        <p:nvSpPr>
          <p:cNvPr id="7" name="Text 4"/>
          <p:cNvSpPr txBox="1"/>
          <p:nvPr/>
        </p:nvSpPr>
        <p:spPr>
          <a:xfrm>
            <a:off x="2514600" y="1051560"/>
            <a:ext cx="1965960" cy="411480"/>
          </a:xfrm>
          <a:prstGeom prst="rect">
            <a:avLst/>
          </a:prstGeom>
          <a:noFill/>
          <a:ln/>
        </p:spPr>
        <p:txBody>
          <a:bodyPr wrap="square" lIns="0" tIns="0" rIns="0" bIns="0" rtlCol="0" anchor="ctr"/>
          <a:lstStyle/>
          <a:p>
            <a:pPr algn="ctr" indent="0" marL="0">
              <a:buNone/>
            </a:pPr>
            <a:r>
              <a:rPr lang="en-US" sz="1200" b="1" dirty="0">
                <a:solidFill>
                  <a:srgbClr val="1F2A24"/>
                </a:solidFill>
                <a:latin typeface="Calibri" pitchFamily="34" charset="0"/>
                <a:ea typeface="Calibri" pitchFamily="34" charset="-122"/>
                <a:cs typeface="Calibri" pitchFamily="34" charset="-120"/>
              </a:rPr>
              <a:t>Phosphorus (P)</a:t>
            </a:r>
            <a:endParaRPr lang="en-US" sz="1200" dirty="0"/>
          </a:p>
        </p:txBody>
      </p:sp>
      <p:sp>
        <p:nvSpPr>
          <p:cNvPr id="8" name="Shape 5"/>
          <p:cNvSpPr/>
          <p:nvPr/>
        </p:nvSpPr>
        <p:spPr>
          <a:xfrm>
            <a:off x="457200" y="1554480"/>
            <a:ext cx="1965960" cy="411480"/>
          </a:xfrm>
          <a:prstGeom prst="roundRect">
            <a:avLst>
              <a:gd name="adj" fmla="val 17778"/>
            </a:avLst>
          </a:prstGeom>
          <a:solidFill>
            <a:srgbClr val="E8F5E9"/>
          </a:solidFill>
          <a:ln w="12700">
            <a:solidFill>
              <a:srgbClr val="66BB6A"/>
            </a:solidFill>
            <a:prstDash val="solid"/>
          </a:ln>
        </p:spPr>
      </p:sp>
      <p:sp>
        <p:nvSpPr>
          <p:cNvPr id="9" name="Text 6"/>
          <p:cNvSpPr txBox="1"/>
          <p:nvPr/>
        </p:nvSpPr>
        <p:spPr>
          <a:xfrm>
            <a:off x="457200" y="1554480"/>
            <a:ext cx="1965960" cy="411480"/>
          </a:xfrm>
          <a:prstGeom prst="rect">
            <a:avLst/>
          </a:prstGeom>
          <a:noFill/>
          <a:ln/>
        </p:spPr>
        <p:txBody>
          <a:bodyPr wrap="square" lIns="0" tIns="0" rIns="0" bIns="0" rtlCol="0" anchor="ctr"/>
          <a:lstStyle/>
          <a:p>
            <a:pPr algn="ctr" indent="0" marL="0">
              <a:buNone/>
            </a:pPr>
            <a:r>
              <a:rPr lang="en-US" sz="1200" b="1" dirty="0">
                <a:solidFill>
                  <a:srgbClr val="1F2A24"/>
                </a:solidFill>
                <a:latin typeface="Calibri" pitchFamily="34" charset="0"/>
                <a:ea typeface="Calibri" pitchFamily="34" charset="-122"/>
                <a:cs typeface="Calibri" pitchFamily="34" charset="-120"/>
              </a:rPr>
              <a:t>Potassium (K)</a:t>
            </a:r>
            <a:endParaRPr lang="en-US" sz="1200" dirty="0"/>
          </a:p>
        </p:txBody>
      </p:sp>
      <p:sp>
        <p:nvSpPr>
          <p:cNvPr id="10" name="Shape 7"/>
          <p:cNvSpPr/>
          <p:nvPr/>
        </p:nvSpPr>
        <p:spPr>
          <a:xfrm>
            <a:off x="2514600" y="1554480"/>
            <a:ext cx="1965960" cy="411480"/>
          </a:xfrm>
          <a:prstGeom prst="roundRect">
            <a:avLst>
              <a:gd name="adj" fmla="val 17778"/>
            </a:avLst>
          </a:prstGeom>
          <a:solidFill>
            <a:srgbClr val="E8F5E9"/>
          </a:solidFill>
          <a:ln w="12700">
            <a:solidFill>
              <a:srgbClr val="66BB6A"/>
            </a:solidFill>
            <a:prstDash val="solid"/>
          </a:ln>
        </p:spPr>
      </p:sp>
      <p:sp>
        <p:nvSpPr>
          <p:cNvPr id="11" name="Text 8"/>
          <p:cNvSpPr txBox="1"/>
          <p:nvPr/>
        </p:nvSpPr>
        <p:spPr>
          <a:xfrm>
            <a:off x="2514600" y="1554480"/>
            <a:ext cx="1965960" cy="411480"/>
          </a:xfrm>
          <a:prstGeom prst="rect">
            <a:avLst/>
          </a:prstGeom>
          <a:noFill/>
          <a:ln/>
        </p:spPr>
        <p:txBody>
          <a:bodyPr wrap="square" lIns="0" tIns="0" rIns="0" bIns="0" rtlCol="0" anchor="ctr"/>
          <a:lstStyle/>
          <a:p>
            <a:pPr algn="ctr" indent="0" marL="0">
              <a:buNone/>
            </a:pPr>
            <a:r>
              <a:rPr lang="en-US" sz="1200" b="1" dirty="0">
                <a:solidFill>
                  <a:srgbClr val="1F2A24"/>
                </a:solidFill>
                <a:latin typeface="Calibri" pitchFamily="34" charset="0"/>
                <a:ea typeface="Calibri" pitchFamily="34" charset="-122"/>
                <a:cs typeface="Calibri" pitchFamily="34" charset="-120"/>
              </a:rPr>
              <a:t>Soil pH</a:t>
            </a:r>
            <a:endParaRPr lang="en-US" sz="1200" dirty="0"/>
          </a:p>
        </p:txBody>
      </p:sp>
      <p:sp>
        <p:nvSpPr>
          <p:cNvPr id="12" name="Shape 9"/>
          <p:cNvSpPr/>
          <p:nvPr/>
        </p:nvSpPr>
        <p:spPr>
          <a:xfrm>
            <a:off x="457200" y="2057400"/>
            <a:ext cx="1965960" cy="411480"/>
          </a:xfrm>
          <a:prstGeom prst="roundRect">
            <a:avLst>
              <a:gd name="adj" fmla="val 17778"/>
            </a:avLst>
          </a:prstGeom>
          <a:solidFill>
            <a:srgbClr val="E8F5E9"/>
          </a:solidFill>
          <a:ln w="12700">
            <a:solidFill>
              <a:srgbClr val="66BB6A"/>
            </a:solidFill>
            <a:prstDash val="solid"/>
          </a:ln>
        </p:spPr>
      </p:sp>
      <p:sp>
        <p:nvSpPr>
          <p:cNvPr id="13" name="Text 10"/>
          <p:cNvSpPr txBox="1"/>
          <p:nvPr/>
        </p:nvSpPr>
        <p:spPr>
          <a:xfrm>
            <a:off x="457200" y="2057400"/>
            <a:ext cx="1965960" cy="411480"/>
          </a:xfrm>
          <a:prstGeom prst="rect">
            <a:avLst/>
          </a:prstGeom>
          <a:noFill/>
          <a:ln/>
        </p:spPr>
        <p:txBody>
          <a:bodyPr wrap="square" lIns="0" tIns="0" rIns="0" bIns="0" rtlCol="0" anchor="ctr"/>
          <a:lstStyle/>
          <a:p>
            <a:pPr algn="ctr" indent="0" marL="0">
              <a:buNone/>
            </a:pPr>
            <a:r>
              <a:rPr lang="en-US" sz="1200" b="1" dirty="0">
                <a:solidFill>
                  <a:srgbClr val="1F2A24"/>
                </a:solidFill>
                <a:latin typeface="Calibri" pitchFamily="34" charset="0"/>
                <a:ea typeface="Calibri" pitchFamily="34" charset="-122"/>
                <a:cs typeface="Calibri" pitchFamily="34" charset="-120"/>
              </a:rPr>
              <a:t>Temperature</a:t>
            </a:r>
            <a:endParaRPr lang="en-US" sz="1200" dirty="0"/>
          </a:p>
        </p:txBody>
      </p:sp>
      <p:sp>
        <p:nvSpPr>
          <p:cNvPr id="14" name="Shape 11"/>
          <p:cNvSpPr/>
          <p:nvPr/>
        </p:nvSpPr>
        <p:spPr>
          <a:xfrm>
            <a:off x="2514600" y="2057400"/>
            <a:ext cx="1965960" cy="411480"/>
          </a:xfrm>
          <a:prstGeom prst="roundRect">
            <a:avLst>
              <a:gd name="adj" fmla="val 17778"/>
            </a:avLst>
          </a:prstGeom>
          <a:solidFill>
            <a:srgbClr val="E8F5E9"/>
          </a:solidFill>
          <a:ln w="12700">
            <a:solidFill>
              <a:srgbClr val="66BB6A"/>
            </a:solidFill>
            <a:prstDash val="solid"/>
          </a:ln>
        </p:spPr>
      </p:sp>
      <p:sp>
        <p:nvSpPr>
          <p:cNvPr id="15" name="Text 12"/>
          <p:cNvSpPr txBox="1"/>
          <p:nvPr/>
        </p:nvSpPr>
        <p:spPr>
          <a:xfrm>
            <a:off x="2514600" y="2057400"/>
            <a:ext cx="1965960" cy="411480"/>
          </a:xfrm>
          <a:prstGeom prst="rect">
            <a:avLst/>
          </a:prstGeom>
          <a:noFill/>
          <a:ln/>
        </p:spPr>
        <p:txBody>
          <a:bodyPr wrap="square" lIns="0" tIns="0" rIns="0" bIns="0" rtlCol="0" anchor="ctr"/>
          <a:lstStyle/>
          <a:p>
            <a:pPr algn="ctr" indent="0" marL="0">
              <a:buNone/>
            </a:pPr>
            <a:r>
              <a:rPr lang="en-US" sz="1200" b="1" dirty="0">
                <a:solidFill>
                  <a:srgbClr val="1F2A24"/>
                </a:solidFill>
                <a:latin typeface="Calibri" pitchFamily="34" charset="0"/>
                <a:ea typeface="Calibri" pitchFamily="34" charset="-122"/>
                <a:cs typeface="Calibri" pitchFamily="34" charset="-120"/>
              </a:rPr>
              <a:t>Humidity</a:t>
            </a:r>
            <a:endParaRPr lang="en-US" sz="1200" dirty="0"/>
          </a:p>
        </p:txBody>
      </p:sp>
      <p:sp>
        <p:nvSpPr>
          <p:cNvPr id="16" name="Shape 13"/>
          <p:cNvSpPr/>
          <p:nvPr/>
        </p:nvSpPr>
        <p:spPr>
          <a:xfrm>
            <a:off x="457200" y="2560320"/>
            <a:ext cx="1965960" cy="411480"/>
          </a:xfrm>
          <a:prstGeom prst="roundRect">
            <a:avLst>
              <a:gd name="adj" fmla="val 17778"/>
            </a:avLst>
          </a:prstGeom>
          <a:solidFill>
            <a:srgbClr val="E8F5E9"/>
          </a:solidFill>
          <a:ln w="12700">
            <a:solidFill>
              <a:srgbClr val="66BB6A"/>
            </a:solidFill>
            <a:prstDash val="solid"/>
          </a:ln>
        </p:spPr>
      </p:sp>
      <p:sp>
        <p:nvSpPr>
          <p:cNvPr id="17" name="Text 14"/>
          <p:cNvSpPr txBox="1"/>
          <p:nvPr/>
        </p:nvSpPr>
        <p:spPr>
          <a:xfrm>
            <a:off x="457200" y="2560320"/>
            <a:ext cx="1965960" cy="411480"/>
          </a:xfrm>
          <a:prstGeom prst="rect">
            <a:avLst/>
          </a:prstGeom>
          <a:noFill/>
          <a:ln/>
        </p:spPr>
        <p:txBody>
          <a:bodyPr wrap="square" lIns="0" tIns="0" rIns="0" bIns="0" rtlCol="0" anchor="ctr"/>
          <a:lstStyle/>
          <a:p>
            <a:pPr algn="ctr" indent="0" marL="0">
              <a:buNone/>
            </a:pPr>
            <a:r>
              <a:rPr lang="en-US" sz="1200" b="1" dirty="0">
                <a:solidFill>
                  <a:srgbClr val="1F2A24"/>
                </a:solidFill>
                <a:latin typeface="Calibri" pitchFamily="34" charset="0"/>
                <a:ea typeface="Calibri" pitchFamily="34" charset="-122"/>
                <a:cs typeface="Calibri" pitchFamily="34" charset="-120"/>
              </a:rPr>
              <a:t>Rainfall</a:t>
            </a:r>
            <a:endParaRPr lang="en-US" sz="1200" dirty="0"/>
          </a:p>
        </p:txBody>
      </p:sp>
      <p:sp>
        <p:nvSpPr>
          <p:cNvPr id="18" name="Shape 15"/>
          <p:cNvSpPr/>
          <p:nvPr/>
        </p:nvSpPr>
        <p:spPr>
          <a:xfrm>
            <a:off x="2514600" y="2560320"/>
            <a:ext cx="1965960" cy="411480"/>
          </a:xfrm>
          <a:prstGeom prst="roundRect">
            <a:avLst>
              <a:gd name="adj" fmla="val 17778"/>
            </a:avLst>
          </a:prstGeom>
          <a:solidFill>
            <a:srgbClr val="E8F5E9"/>
          </a:solidFill>
          <a:ln w="12700">
            <a:solidFill>
              <a:srgbClr val="66BB6A"/>
            </a:solidFill>
            <a:prstDash val="solid"/>
          </a:ln>
        </p:spPr>
      </p:sp>
      <p:sp>
        <p:nvSpPr>
          <p:cNvPr id="19" name="Text 16"/>
          <p:cNvSpPr txBox="1"/>
          <p:nvPr/>
        </p:nvSpPr>
        <p:spPr>
          <a:xfrm>
            <a:off x="2514600" y="2560320"/>
            <a:ext cx="1965960" cy="411480"/>
          </a:xfrm>
          <a:prstGeom prst="rect">
            <a:avLst/>
          </a:prstGeom>
          <a:noFill/>
          <a:ln/>
        </p:spPr>
        <p:txBody>
          <a:bodyPr wrap="square" lIns="0" tIns="0" rIns="0" bIns="0" rtlCol="0" anchor="ctr"/>
          <a:lstStyle/>
          <a:p>
            <a:pPr algn="ctr" indent="0" marL="0">
              <a:buNone/>
            </a:pPr>
            <a:r>
              <a:rPr lang="en-US" sz="1200" b="1" dirty="0">
                <a:solidFill>
                  <a:srgbClr val="1F2A24"/>
                </a:solidFill>
                <a:latin typeface="Calibri" pitchFamily="34" charset="0"/>
                <a:ea typeface="Calibri" pitchFamily="34" charset="-122"/>
                <a:cs typeface="Calibri" pitchFamily="34" charset="-120"/>
              </a:rPr>
              <a:t>Environmental parameters</a:t>
            </a:r>
            <a:endParaRPr lang="en-US" sz="1200" dirty="0"/>
          </a:p>
        </p:txBody>
      </p:sp>
      <p:sp>
        <p:nvSpPr>
          <p:cNvPr id="20" name="Text 17"/>
          <p:cNvSpPr txBox="1"/>
          <p:nvPr/>
        </p:nvSpPr>
        <p:spPr>
          <a:xfrm>
            <a:off x="457200" y="3200400"/>
            <a:ext cx="4023360" cy="14630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F2A24"/>
                </a:solidFill>
                <a:latin typeface="Calibri" pitchFamily="34" charset="0"/>
                <a:ea typeface="Calibri" pitchFamily="34" charset="-122"/>
                <a:cs typeface="Calibri" pitchFamily="34" charset="-120"/>
              </a:rPr>
              <a:t>Soil and climate data guide crop choice</a:t>
            </a:r>
            <a:endParaRPr lang="en-US" sz="1400" dirty="0"/>
          </a:p>
          <a:p>
            <a:pPr marL="342900" indent="-342900">
              <a:spcAft>
                <a:spcPts val="500"/>
              </a:spcAft>
              <a:buSzPct val="100000"/>
              <a:buChar char="•"/>
            </a:pPr>
            <a:r>
              <a:rPr lang="en-US" sz="1400" dirty="0">
                <a:solidFill>
                  <a:srgbClr val="1F2A24"/>
                </a:solidFill>
                <a:latin typeface="Calibri" pitchFamily="34" charset="0"/>
                <a:ea typeface="Calibri" pitchFamily="34" charset="-122"/>
                <a:cs typeface="Calibri" pitchFamily="34" charset="-120"/>
              </a:rPr>
              <a:t>Helps match suitable seeds to local conditions</a:t>
            </a:r>
            <a:endParaRPr lang="en-US" sz="1400" dirty="0"/>
          </a:p>
          <a:p>
            <a:pPr marL="342900" indent="-342900">
              <a:spcAft>
                <a:spcPts val="500"/>
              </a:spcAft>
              <a:buSzPct val="100000"/>
              <a:buChar char="•"/>
            </a:pPr>
            <a:r>
              <a:rPr lang="en-US" sz="1400" dirty="0">
                <a:solidFill>
                  <a:srgbClr val="1F2A24"/>
                </a:solidFill>
                <a:latin typeface="Calibri" pitchFamily="34" charset="0"/>
                <a:ea typeface="Calibri" pitchFamily="34" charset="-122"/>
                <a:cs typeface="Calibri" pitchFamily="34" charset="-120"/>
              </a:rPr>
              <a:t>Recommendations are proposed, not validated</a:t>
            </a:r>
            <a:endParaRPr lang="en-US" sz="1400" dirty="0"/>
          </a:p>
        </p:txBody>
      </p:sp>
      <p:sp>
        <p:nvSpPr>
          <p:cNvPr id="21" name="Shape 18"/>
          <p:cNvSpPr/>
          <p:nvPr/>
        </p:nvSpPr>
        <p:spPr>
          <a:xfrm>
            <a:off x="4754880" y="1051560"/>
            <a:ext cx="1965960" cy="1508760"/>
          </a:xfrm>
          <a:prstGeom prst="roundRect">
            <a:avLst>
              <a:gd name="adj" fmla="val 4848"/>
            </a:avLst>
          </a:prstGeom>
          <a:solidFill>
            <a:srgbClr val="E8F5E9"/>
          </a:solidFill>
          <a:ln w="12700">
            <a:solidFill>
              <a:srgbClr val="66BB6A"/>
            </a:solidFill>
            <a:prstDash val="solid"/>
          </a:ln>
        </p:spPr>
      </p:sp>
      <p:pic>
        <p:nvPicPr>
          <p:cNvPr id="22" name="Image 0" descr="preencoded.png">    </p:cNvPr>
          <p:cNvPicPr>
            <a:picLocks noChangeAspect="1"/>
          </p:cNvPicPr>
          <p:nvPr/>
        </p:nvPicPr>
        <p:blipFill>
          <a:blip r:embed="rId1"/>
          <a:stretch>
            <a:fillRect/>
          </a:stretch>
        </p:blipFill>
        <p:spPr>
          <a:xfrm>
            <a:off x="5554980" y="1303020"/>
            <a:ext cx="365760" cy="365760"/>
          </a:xfrm>
          <a:prstGeom prst="rect">
            <a:avLst/>
          </a:prstGeom>
        </p:spPr>
      </p:pic>
      <p:sp>
        <p:nvSpPr>
          <p:cNvPr id="23" name="Text 19"/>
          <p:cNvSpPr txBox="1"/>
          <p:nvPr/>
        </p:nvSpPr>
        <p:spPr>
          <a:xfrm>
            <a:off x="4864608" y="1760220"/>
            <a:ext cx="1746504" cy="662940"/>
          </a:xfrm>
          <a:prstGeom prst="rect">
            <a:avLst/>
          </a:prstGeom>
          <a:noFill/>
          <a:ln/>
        </p:spPr>
        <p:txBody>
          <a:bodyPr wrap="square" lIns="0" tIns="0" rIns="0" bIns="0" rtlCol="0" anchor="t"/>
          <a:lstStyle/>
          <a:p>
            <a:pPr algn="ctr" indent="0" marL="0">
              <a:buNone/>
            </a:pPr>
            <a:r>
              <a:rPr lang="en-US" sz="1100" dirty="0">
                <a:solidFill>
                  <a:srgbClr val="5F6B61"/>
                </a:solidFill>
                <a:latin typeface="Calibri" pitchFamily="34" charset="0"/>
                <a:ea typeface="Calibri" pitchFamily="34" charset="-122"/>
                <a:cs typeface="Calibri" pitchFamily="34" charset="-120"/>
              </a:rPr>
              <a:t>PHOTO: Indian farmer examining crops</a:t>
            </a:r>
            <a:endParaRPr lang="en-US" sz="1100" dirty="0"/>
          </a:p>
        </p:txBody>
      </p:sp>
      <p:sp>
        <p:nvSpPr>
          <p:cNvPr id="24" name="Shape 20"/>
          <p:cNvSpPr/>
          <p:nvPr/>
        </p:nvSpPr>
        <p:spPr>
          <a:xfrm>
            <a:off x="6812280" y="1051560"/>
            <a:ext cx="1874520" cy="1508760"/>
          </a:xfrm>
          <a:prstGeom prst="roundRect">
            <a:avLst>
              <a:gd name="adj" fmla="val 4848"/>
            </a:avLst>
          </a:prstGeom>
          <a:solidFill>
            <a:srgbClr val="E8F5E9"/>
          </a:solidFill>
          <a:ln w="12700">
            <a:solidFill>
              <a:srgbClr val="66BB6A"/>
            </a:solidFill>
            <a:prstDash val="solid"/>
          </a:ln>
        </p:spPr>
      </p:sp>
      <p:pic>
        <p:nvPicPr>
          <p:cNvPr id="25" name="Image 1" descr="preencoded.png">    </p:cNvPr>
          <p:cNvPicPr>
            <a:picLocks noChangeAspect="1"/>
          </p:cNvPicPr>
          <p:nvPr/>
        </p:nvPicPr>
        <p:blipFill>
          <a:blip r:embed="rId2"/>
          <a:stretch>
            <a:fillRect/>
          </a:stretch>
        </p:blipFill>
        <p:spPr>
          <a:xfrm>
            <a:off x="7566660" y="1303020"/>
            <a:ext cx="365760" cy="365760"/>
          </a:xfrm>
          <a:prstGeom prst="rect">
            <a:avLst/>
          </a:prstGeom>
        </p:spPr>
      </p:pic>
      <p:sp>
        <p:nvSpPr>
          <p:cNvPr id="26" name="Text 21"/>
          <p:cNvSpPr txBox="1"/>
          <p:nvPr/>
        </p:nvSpPr>
        <p:spPr>
          <a:xfrm>
            <a:off x="6922008" y="1760220"/>
            <a:ext cx="1655064" cy="662940"/>
          </a:xfrm>
          <a:prstGeom prst="rect">
            <a:avLst/>
          </a:prstGeom>
          <a:noFill/>
          <a:ln/>
        </p:spPr>
        <p:txBody>
          <a:bodyPr wrap="square" lIns="0" tIns="0" rIns="0" bIns="0" rtlCol="0" anchor="t"/>
          <a:lstStyle/>
          <a:p>
            <a:pPr algn="ctr" indent="0" marL="0">
              <a:buNone/>
            </a:pPr>
            <a:r>
              <a:rPr lang="en-US" sz="1100" dirty="0">
                <a:solidFill>
                  <a:srgbClr val="5F6B61"/>
                </a:solidFill>
                <a:latin typeface="Calibri" pitchFamily="34" charset="0"/>
                <a:ea typeface="Calibri" pitchFamily="34" charset="-122"/>
                <a:cs typeface="Calibri" pitchFamily="34" charset="-120"/>
              </a:rPr>
              <a:t>PHOTO: Different agricultural seeds</a:t>
            </a:r>
            <a:endParaRPr lang="en-US" sz="1100" dirty="0"/>
          </a:p>
        </p:txBody>
      </p:sp>
      <p:sp>
        <p:nvSpPr>
          <p:cNvPr id="27" name="Shape 22"/>
          <p:cNvSpPr/>
          <p:nvPr/>
        </p:nvSpPr>
        <p:spPr>
          <a:xfrm>
            <a:off x="4754880" y="2697480"/>
            <a:ext cx="1965960" cy="1508760"/>
          </a:xfrm>
          <a:prstGeom prst="roundRect">
            <a:avLst>
              <a:gd name="adj" fmla="val 4848"/>
            </a:avLst>
          </a:prstGeom>
          <a:solidFill>
            <a:srgbClr val="E8F5E9"/>
          </a:solidFill>
          <a:ln w="12700">
            <a:solidFill>
              <a:srgbClr val="66BB6A"/>
            </a:solidFill>
            <a:prstDash val="solid"/>
          </a:ln>
        </p:spPr>
      </p:sp>
      <p:pic>
        <p:nvPicPr>
          <p:cNvPr id="28" name="Image 2" descr="preencoded.png">    </p:cNvPr>
          <p:cNvPicPr>
            <a:picLocks noChangeAspect="1"/>
          </p:cNvPicPr>
          <p:nvPr/>
        </p:nvPicPr>
        <p:blipFill>
          <a:blip r:embed="rId3"/>
          <a:stretch>
            <a:fillRect/>
          </a:stretch>
        </p:blipFill>
        <p:spPr>
          <a:xfrm>
            <a:off x="5554980" y="2948940"/>
            <a:ext cx="365760" cy="365760"/>
          </a:xfrm>
          <a:prstGeom prst="rect">
            <a:avLst/>
          </a:prstGeom>
        </p:spPr>
      </p:pic>
      <p:sp>
        <p:nvSpPr>
          <p:cNvPr id="29" name="Text 23"/>
          <p:cNvSpPr txBox="1"/>
          <p:nvPr/>
        </p:nvSpPr>
        <p:spPr>
          <a:xfrm>
            <a:off x="4864608" y="3406140"/>
            <a:ext cx="1746504" cy="662940"/>
          </a:xfrm>
          <a:prstGeom prst="rect">
            <a:avLst/>
          </a:prstGeom>
          <a:noFill/>
          <a:ln/>
        </p:spPr>
        <p:txBody>
          <a:bodyPr wrap="square" lIns="0" tIns="0" rIns="0" bIns="0" rtlCol="0" anchor="t"/>
          <a:lstStyle/>
          <a:p>
            <a:pPr algn="ctr" indent="0" marL="0">
              <a:buNone/>
            </a:pPr>
            <a:r>
              <a:rPr lang="en-US" sz="1100" dirty="0">
                <a:solidFill>
                  <a:srgbClr val="5F6B61"/>
                </a:solidFill>
                <a:latin typeface="Calibri" pitchFamily="34" charset="0"/>
                <a:ea typeface="Calibri" pitchFamily="34" charset="-122"/>
                <a:cs typeface="Calibri" pitchFamily="34" charset="-120"/>
              </a:rPr>
              <a:t>PHOTO: Healthy crop varieties in the field</a:t>
            </a:r>
            <a:endParaRPr lang="en-US" sz="1100" dirty="0"/>
          </a:p>
        </p:txBody>
      </p:sp>
      <p:sp>
        <p:nvSpPr>
          <p:cNvPr id="30" name="Shape 24"/>
          <p:cNvSpPr/>
          <p:nvPr/>
        </p:nvSpPr>
        <p:spPr>
          <a:xfrm>
            <a:off x="6812280" y="2697480"/>
            <a:ext cx="1874520" cy="1508760"/>
          </a:xfrm>
          <a:prstGeom prst="roundRect">
            <a:avLst>
              <a:gd name="adj" fmla="val 4848"/>
            </a:avLst>
          </a:prstGeom>
          <a:solidFill>
            <a:srgbClr val="FFFFFF"/>
          </a:solidFill>
          <a:ln w="12700">
            <a:solidFill>
              <a:srgbClr val="66BB6A"/>
            </a:solidFill>
            <a:prstDash val="solid"/>
          </a:ln>
        </p:spPr>
      </p:sp>
      <p:sp>
        <p:nvSpPr>
          <p:cNvPr id="31" name="Text 25"/>
          <p:cNvSpPr txBox="1"/>
          <p:nvPr/>
        </p:nvSpPr>
        <p:spPr>
          <a:xfrm>
            <a:off x="6858000" y="2743200"/>
            <a:ext cx="1783080" cy="228600"/>
          </a:xfrm>
          <a:prstGeom prst="rect">
            <a:avLst/>
          </a:prstGeom>
          <a:noFill/>
          <a:ln/>
        </p:spPr>
        <p:txBody>
          <a:bodyPr wrap="square" lIns="0" tIns="0" rIns="0" bIns="0" rtlCol="0" anchor="t"/>
          <a:lstStyle/>
          <a:p>
            <a:pPr algn="ctr" indent="0" marL="0">
              <a:buNone/>
            </a:pPr>
            <a:r>
              <a:rPr lang="en-US" sz="1000" b="1" dirty="0">
                <a:solidFill>
                  <a:srgbClr val="1B5E20"/>
                </a:solidFill>
                <a:latin typeface="Calibri" pitchFamily="34" charset="0"/>
                <a:ea typeface="Calibri" pitchFamily="34" charset="-122"/>
                <a:cs typeface="Calibri" pitchFamily="34" charset="-120"/>
              </a:rPr>
              <a:t>Crop Recommendation</a:t>
            </a:r>
            <a:endParaRPr lang="en-US" sz="1000" dirty="0"/>
          </a:p>
        </p:txBody>
      </p:sp>
      <p:sp>
        <p:nvSpPr>
          <p:cNvPr id="32" name="Text 26"/>
          <p:cNvSpPr txBox="1"/>
          <p:nvPr/>
        </p:nvSpPr>
        <p:spPr>
          <a:xfrm>
            <a:off x="6903720" y="3063240"/>
            <a:ext cx="228600" cy="201168"/>
          </a:xfrm>
          <a:prstGeom prst="rect">
            <a:avLst/>
          </a:prstGeom>
          <a:noFill/>
          <a:ln/>
        </p:spPr>
        <p:txBody>
          <a:bodyPr wrap="square" lIns="0" tIns="0" rIns="0" bIns="0" rtlCol="0" anchor="t"/>
          <a:lstStyle/>
          <a:p>
            <a:pPr indent="0" marL="0">
              <a:buNone/>
            </a:pPr>
            <a:r>
              <a:rPr lang="en-US" sz="1000" b="1" dirty="0">
                <a:solidFill>
                  <a:srgbClr val="1F2A24"/>
                </a:solidFill>
                <a:latin typeface="Calibri" pitchFamily="34" charset="0"/>
                <a:ea typeface="Calibri" pitchFamily="34" charset="-122"/>
                <a:cs typeface="Calibri" pitchFamily="34" charset="-120"/>
              </a:rPr>
              <a:t>N</a:t>
            </a:r>
            <a:endParaRPr lang="en-US" sz="1000" dirty="0"/>
          </a:p>
        </p:txBody>
      </p:sp>
      <p:sp>
        <p:nvSpPr>
          <p:cNvPr id="33" name="Shape 27"/>
          <p:cNvSpPr/>
          <p:nvPr/>
        </p:nvSpPr>
        <p:spPr>
          <a:xfrm>
            <a:off x="7178040" y="3090672"/>
            <a:ext cx="1371600" cy="146304"/>
          </a:xfrm>
          <a:prstGeom prst="roundRect">
            <a:avLst>
              <a:gd name="adj" fmla="val 50000"/>
            </a:avLst>
          </a:prstGeom>
          <a:solidFill>
            <a:srgbClr val="ECEFEC"/>
          </a:solidFill>
          <a:ln w="12700">
            <a:solidFill>
              <a:srgbClr val="ECEFEC"/>
            </a:solidFill>
            <a:prstDash val="solid"/>
          </a:ln>
        </p:spPr>
      </p:sp>
      <p:sp>
        <p:nvSpPr>
          <p:cNvPr id="34" name="Shape 28"/>
          <p:cNvSpPr/>
          <p:nvPr/>
        </p:nvSpPr>
        <p:spPr>
          <a:xfrm>
            <a:off x="7178040" y="3090672"/>
            <a:ext cx="1097280" cy="146304"/>
          </a:xfrm>
          <a:prstGeom prst="roundRect">
            <a:avLst>
              <a:gd name="adj" fmla="val 50000"/>
            </a:avLst>
          </a:prstGeom>
          <a:solidFill>
            <a:srgbClr val="66BB6A"/>
          </a:solidFill>
          <a:ln w="12700">
            <a:solidFill>
              <a:srgbClr val="66BB6A"/>
            </a:solidFill>
            <a:prstDash val="solid"/>
          </a:ln>
        </p:spPr>
      </p:sp>
      <p:sp>
        <p:nvSpPr>
          <p:cNvPr id="35" name="Text 29"/>
          <p:cNvSpPr txBox="1"/>
          <p:nvPr/>
        </p:nvSpPr>
        <p:spPr>
          <a:xfrm>
            <a:off x="6903720" y="3355848"/>
            <a:ext cx="228600" cy="201168"/>
          </a:xfrm>
          <a:prstGeom prst="rect">
            <a:avLst/>
          </a:prstGeom>
          <a:noFill/>
          <a:ln/>
        </p:spPr>
        <p:txBody>
          <a:bodyPr wrap="square" lIns="0" tIns="0" rIns="0" bIns="0" rtlCol="0" anchor="t"/>
          <a:lstStyle/>
          <a:p>
            <a:pPr indent="0" marL="0">
              <a:buNone/>
            </a:pPr>
            <a:r>
              <a:rPr lang="en-US" sz="1000" b="1" dirty="0">
                <a:solidFill>
                  <a:srgbClr val="1F2A24"/>
                </a:solidFill>
                <a:latin typeface="Calibri" pitchFamily="34" charset="0"/>
                <a:ea typeface="Calibri" pitchFamily="34" charset="-122"/>
                <a:cs typeface="Calibri" pitchFamily="34" charset="-120"/>
              </a:rPr>
              <a:t>P</a:t>
            </a:r>
            <a:endParaRPr lang="en-US" sz="1000" dirty="0"/>
          </a:p>
        </p:txBody>
      </p:sp>
      <p:sp>
        <p:nvSpPr>
          <p:cNvPr id="36" name="Shape 30"/>
          <p:cNvSpPr/>
          <p:nvPr/>
        </p:nvSpPr>
        <p:spPr>
          <a:xfrm>
            <a:off x="7178040" y="3383280"/>
            <a:ext cx="1371600" cy="146304"/>
          </a:xfrm>
          <a:prstGeom prst="roundRect">
            <a:avLst>
              <a:gd name="adj" fmla="val 50000"/>
            </a:avLst>
          </a:prstGeom>
          <a:solidFill>
            <a:srgbClr val="ECEFEC"/>
          </a:solidFill>
          <a:ln w="12700">
            <a:solidFill>
              <a:srgbClr val="ECEFEC"/>
            </a:solidFill>
            <a:prstDash val="solid"/>
          </a:ln>
        </p:spPr>
      </p:sp>
      <p:sp>
        <p:nvSpPr>
          <p:cNvPr id="37" name="Shape 31"/>
          <p:cNvSpPr/>
          <p:nvPr/>
        </p:nvSpPr>
        <p:spPr>
          <a:xfrm>
            <a:off x="7178040" y="3383280"/>
            <a:ext cx="754380" cy="146304"/>
          </a:xfrm>
          <a:prstGeom prst="roundRect">
            <a:avLst>
              <a:gd name="adj" fmla="val 50000"/>
            </a:avLst>
          </a:prstGeom>
          <a:solidFill>
            <a:srgbClr val="66BB6A"/>
          </a:solidFill>
          <a:ln w="12700">
            <a:solidFill>
              <a:srgbClr val="66BB6A"/>
            </a:solidFill>
            <a:prstDash val="solid"/>
          </a:ln>
        </p:spPr>
      </p:sp>
      <p:sp>
        <p:nvSpPr>
          <p:cNvPr id="38" name="Text 32"/>
          <p:cNvSpPr txBox="1"/>
          <p:nvPr/>
        </p:nvSpPr>
        <p:spPr>
          <a:xfrm>
            <a:off x="6903720" y="3648456"/>
            <a:ext cx="228600" cy="201168"/>
          </a:xfrm>
          <a:prstGeom prst="rect">
            <a:avLst/>
          </a:prstGeom>
          <a:noFill/>
          <a:ln/>
        </p:spPr>
        <p:txBody>
          <a:bodyPr wrap="square" lIns="0" tIns="0" rIns="0" bIns="0" rtlCol="0" anchor="t"/>
          <a:lstStyle/>
          <a:p>
            <a:pPr indent="0" marL="0">
              <a:buNone/>
            </a:pPr>
            <a:r>
              <a:rPr lang="en-US" sz="1000" b="1" dirty="0">
                <a:solidFill>
                  <a:srgbClr val="1F2A24"/>
                </a:solidFill>
                <a:latin typeface="Calibri" pitchFamily="34" charset="0"/>
                <a:ea typeface="Calibri" pitchFamily="34" charset="-122"/>
                <a:cs typeface="Calibri" pitchFamily="34" charset="-120"/>
              </a:rPr>
              <a:t>K</a:t>
            </a:r>
            <a:endParaRPr lang="en-US" sz="1000" dirty="0"/>
          </a:p>
        </p:txBody>
      </p:sp>
      <p:sp>
        <p:nvSpPr>
          <p:cNvPr id="39" name="Shape 33"/>
          <p:cNvSpPr/>
          <p:nvPr/>
        </p:nvSpPr>
        <p:spPr>
          <a:xfrm>
            <a:off x="7178040" y="3675888"/>
            <a:ext cx="1371600" cy="146304"/>
          </a:xfrm>
          <a:prstGeom prst="roundRect">
            <a:avLst>
              <a:gd name="adj" fmla="val 50000"/>
            </a:avLst>
          </a:prstGeom>
          <a:solidFill>
            <a:srgbClr val="ECEFEC"/>
          </a:solidFill>
          <a:ln w="12700">
            <a:solidFill>
              <a:srgbClr val="ECEFEC"/>
            </a:solidFill>
            <a:prstDash val="solid"/>
          </a:ln>
        </p:spPr>
      </p:sp>
      <p:sp>
        <p:nvSpPr>
          <p:cNvPr id="40" name="Shape 34"/>
          <p:cNvSpPr/>
          <p:nvPr/>
        </p:nvSpPr>
        <p:spPr>
          <a:xfrm>
            <a:off x="7178040" y="3675888"/>
            <a:ext cx="960120" cy="146304"/>
          </a:xfrm>
          <a:prstGeom prst="roundRect">
            <a:avLst>
              <a:gd name="adj" fmla="val 50000"/>
            </a:avLst>
          </a:prstGeom>
          <a:solidFill>
            <a:srgbClr val="66BB6A"/>
          </a:solidFill>
          <a:ln w="12700">
            <a:solidFill>
              <a:srgbClr val="66BB6A"/>
            </a:solidFill>
            <a:prstDash val="solid"/>
          </a:ln>
        </p:spPr>
      </p:sp>
      <p:sp>
        <p:nvSpPr>
          <p:cNvPr id="41" name="Shape 35"/>
          <p:cNvSpPr/>
          <p:nvPr/>
        </p:nvSpPr>
        <p:spPr>
          <a:xfrm>
            <a:off x="6903720" y="3931920"/>
            <a:ext cx="1691640" cy="201168"/>
          </a:xfrm>
          <a:prstGeom prst="roundRect">
            <a:avLst>
              <a:gd name="adj" fmla="val 36364"/>
            </a:avLst>
          </a:prstGeom>
          <a:solidFill>
            <a:srgbClr val="1B5E20"/>
          </a:solidFill>
          <a:ln w="12700">
            <a:solidFill>
              <a:srgbClr val="1B5E20"/>
            </a:solidFill>
            <a:prstDash val="solid"/>
          </a:ln>
        </p:spPr>
      </p:sp>
      <p:sp>
        <p:nvSpPr>
          <p:cNvPr id="42" name="Text 36"/>
          <p:cNvSpPr txBox="1"/>
          <p:nvPr/>
        </p:nvSpPr>
        <p:spPr>
          <a:xfrm>
            <a:off x="6903720" y="3931920"/>
            <a:ext cx="1691640" cy="201168"/>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Suggested crop: sample</a:t>
            </a:r>
            <a:endParaRPr lang="en-US" sz="950" dirty="0"/>
          </a:p>
        </p:txBody>
      </p:sp>
      <p:sp>
        <p:nvSpPr>
          <p:cNvPr id="43" name="Text 37"/>
          <p:cNvSpPr txBox="1"/>
          <p:nvPr/>
        </p:nvSpPr>
        <p:spPr>
          <a:xfrm>
            <a:off x="4754880" y="4297680"/>
            <a:ext cx="3931920" cy="228600"/>
          </a:xfrm>
          <a:prstGeom prst="rect">
            <a:avLst/>
          </a:prstGeom>
          <a:noFill/>
          <a:ln/>
        </p:spPr>
        <p:txBody>
          <a:bodyPr wrap="square" lIns="0" tIns="0" rIns="0" bIns="0" rtlCol="0" anchor="t"/>
          <a:lstStyle/>
          <a:p>
            <a:pPr indent="0" marL="0">
              <a:buNone/>
            </a:pPr>
            <a:r>
              <a:rPr lang="en-US" sz="1050" i="1" dirty="0">
                <a:solidFill>
                  <a:srgbClr val="5F6B61"/>
                </a:solidFill>
                <a:latin typeface="Calibri" pitchFamily="34" charset="0"/>
                <a:ea typeface="Calibri" pitchFamily="34" charset="-122"/>
                <a:cs typeface="Calibri" pitchFamily="34" charset="-120"/>
              </a:rPr>
              <a:t>Conceptual dashboard - illustrative only</a:t>
            </a:r>
            <a:endParaRPr lang="en-US" sz="1050" dirty="0"/>
          </a:p>
        </p:txBody>
      </p:sp>
      <p:sp>
        <p:nvSpPr>
          <p:cNvPr id="25" name="Slide Number Placeholder 0"/>
          <p:cNvSpPr>
            <a:spLocks noGrp="1"/>
          </p:cNvSpPr>
          <p:nvPr>
            <p:ph type="sldNum" sz="quarter" idx="4294967295"/>
          </p:nvPr>
        </p:nvSpPr>
        <p:spPr>
          <a:xfrm>
            <a:off x="822960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F6B61"/>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rgbClr val="1B5E20"/>
                </a:solidFill>
                <a:latin typeface="Calibri" pitchFamily="34" charset="0"/>
                <a:ea typeface="Calibri" pitchFamily="34" charset="-122"/>
                <a:cs typeface="Calibri" pitchFamily="34" charset="-120"/>
              </a:rPr>
              <a:t>Weather Information and Irrigation Support</a:t>
            </a:r>
            <a:endParaRPr lang="en-US" sz="2800" dirty="0"/>
          </a:p>
        </p:txBody>
      </p:sp>
      <p:sp>
        <p:nvSpPr>
          <p:cNvPr id="4" name="Shape 1"/>
          <p:cNvSpPr/>
          <p:nvPr/>
        </p:nvSpPr>
        <p:spPr>
          <a:xfrm>
            <a:off x="457200" y="1005840"/>
            <a:ext cx="2286000" cy="822960"/>
          </a:xfrm>
          <a:prstGeom prst="roundRect">
            <a:avLst>
              <a:gd name="adj" fmla="val 8889"/>
            </a:avLst>
          </a:prstGeom>
          <a:solidFill>
            <a:srgbClr val="1B5E20"/>
          </a:solidFill>
          <a:ln w="12700">
            <a:solidFill>
              <a:srgbClr val="1B5E20"/>
            </a:solidFill>
            <a:prstDash val="solid"/>
          </a:ln>
        </p:spPr>
      </p:sp>
      <p:pic>
        <p:nvPicPr>
          <p:cNvPr id="5" name="Image 0" descr="preencoded.png">    </p:cNvPr>
          <p:cNvPicPr>
            <a:picLocks noChangeAspect="1"/>
          </p:cNvPicPr>
          <p:nvPr/>
        </p:nvPicPr>
        <p:blipFill>
          <a:blip r:embed="rId1"/>
          <a:stretch>
            <a:fillRect/>
          </a:stretch>
        </p:blipFill>
        <p:spPr>
          <a:xfrm>
            <a:off x="594360" y="1234440"/>
            <a:ext cx="365760" cy="365760"/>
          </a:xfrm>
          <a:prstGeom prst="rect">
            <a:avLst/>
          </a:prstGeom>
        </p:spPr>
      </p:pic>
      <p:sp>
        <p:nvSpPr>
          <p:cNvPr id="6" name="Text 2"/>
          <p:cNvSpPr txBox="1"/>
          <p:nvPr/>
        </p:nvSpPr>
        <p:spPr>
          <a:xfrm>
            <a:off x="1051560" y="1005840"/>
            <a:ext cx="1600200" cy="8229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Weather and Environmental Information</a:t>
            </a:r>
            <a:endParaRPr lang="en-US" sz="1300" dirty="0"/>
          </a:p>
        </p:txBody>
      </p:sp>
      <p:sp>
        <p:nvSpPr>
          <p:cNvPr id="7" name="Shape 3"/>
          <p:cNvSpPr/>
          <p:nvPr/>
        </p:nvSpPr>
        <p:spPr>
          <a:xfrm>
            <a:off x="2779776" y="1417320"/>
            <a:ext cx="612648" cy="0"/>
          </a:xfrm>
          <a:prstGeom prst="line">
            <a:avLst/>
          </a:prstGeom>
          <a:noFill/>
          <a:ln w="28575">
            <a:solidFill>
              <a:srgbClr val="1B5E20"/>
            </a:solidFill>
            <a:prstDash val="solid"/>
            <a:tailEnd type="triangle"/>
          </a:ln>
        </p:spPr>
      </p:sp>
      <p:sp>
        <p:nvSpPr>
          <p:cNvPr id="8" name="Shape 4"/>
          <p:cNvSpPr/>
          <p:nvPr/>
        </p:nvSpPr>
        <p:spPr>
          <a:xfrm>
            <a:off x="3429000" y="1005840"/>
            <a:ext cx="2286000" cy="822960"/>
          </a:xfrm>
          <a:prstGeom prst="roundRect">
            <a:avLst>
              <a:gd name="adj" fmla="val 8889"/>
            </a:avLst>
          </a:prstGeom>
          <a:solidFill>
            <a:srgbClr val="1B5E20"/>
          </a:solidFill>
          <a:ln w="12700">
            <a:solidFill>
              <a:srgbClr val="1B5E20"/>
            </a:solidFill>
            <a:prstDash val="solid"/>
          </a:ln>
        </p:spPr>
      </p:sp>
      <p:pic>
        <p:nvPicPr>
          <p:cNvPr id="9" name="Image 1" descr="preencoded.png">    </p:cNvPr>
          <p:cNvPicPr>
            <a:picLocks noChangeAspect="1"/>
          </p:cNvPicPr>
          <p:nvPr/>
        </p:nvPicPr>
        <p:blipFill>
          <a:blip r:embed="rId2"/>
          <a:stretch>
            <a:fillRect/>
          </a:stretch>
        </p:blipFill>
        <p:spPr>
          <a:xfrm>
            <a:off x="3566160" y="1234440"/>
            <a:ext cx="365760" cy="365760"/>
          </a:xfrm>
          <a:prstGeom prst="rect">
            <a:avLst/>
          </a:prstGeom>
        </p:spPr>
      </p:pic>
      <p:sp>
        <p:nvSpPr>
          <p:cNvPr id="10" name="Text 5"/>
          <p:cNvSpPr txBox="1"/>
          <p:nvPr/>
        </p:nvSpPr>
        <p:spPr>
          <a:xfrm>
            <a:off x="4023360" y="1005840"/>
            <a:ext cx="1600200" cy="8229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Irrigation Planning</a:t>
            </a:r>
            <a:endParaRPr lang="en-US" sz="1300" dirty="0"/>
          </a:p>
        </p:txBody>
      </p:sp>
      <p:sp>
        <p:nvSpPr>
          <p:cNvPr id="11" name="Shape 6"/>
          <p:cNvSpPr/>
          <p:nvPr/>
        </p:nvSpPr>
        <p:spPr>
          <a:xfrm>
            <a:off x="5751576" y="1417320"/>
            <a:ext cx="612648" cy="0"/>
          </a:xfrm>
          <a:prstGeom prst="line">
            <a:avLst/>
          </a:prstGeom>
          <a:noFill/>
          <a:ln w="28575">
            <a:solidFill>
              <a:srgbClr val="1B5E20"/>
            </a:solidFill>
            <a:prstDash val="solid"/>
            <a:tailEnd type="triangle"/>
          </a:ln>
        </p:spPr>
      </p:sp>
      <p:sp>
        <p:nvSpPr>
          <p:cNvPr id="12" name="Shape 7"/>
          <p:cNvSpPr/>
          <p:nvPr/>
        </p:nvSpPr>
        <p:spPr>
          <a:xfrm>
            <a:off x="6400800" y="1005840"/>
            <a:ext cx="2286000" cy="822960"/>
          </a:xfrm>
          <a:prstGeom prst="roundRect">
            <a:avLst>
              <a:gd name="adj" fmla="val 8889"/>
            </a:avLst>
          </a:prstGeom>
          <a:solidFill>
            <a:srgbClr val="1B5E20"/>
          </a:solidFill>
          <a:ln w="12700">
            <a:solidFill>
              <a:srgbClr val="1B5E20"/>
            </a:solidFill>
            <a:prstDash val="solid"/>
          </a:ln>
        </p:spPr>
      </p:sp>
      <p:pic>
        <p:nvPicPr>
          <p:cNvPr id="13" name="Image 2" descr="preencoded.png">    </p:cNvPr>
          <p:cNvPicPr>
            <a:picLocks noChangeAspect="1"/>
          </p:cNvPicPr>
          <p:nvPr/>
        </p:nvPicPr>
        <p:blipFill>
          <a:blip r:embed="rId3"/>
          <a:stretch>
            <a:fillRect/>
          </a:stretch>
        </p:blipFill>
        <p:spPr>
          <a:xfrm>
            <a:off x="6537960" y="1234440"/>
            <a:ext cx="365760" cy="365760"/>
          </a:xfrm>
          <a:prstGeom prst="rect">
            <a:avLst/>
          </a:prstGeom>
        </p:spPr>
      </p:pic>
      <p:sp>
        <p:nvSpPr>
          <p:cNvPr id="14" name="Text 8"/>
          <p:cNvSpPr txBox="1"/>
          <p:nvPr/>
        </p:nvSpPr>
        <p:spPr>
          <a:xfrm>
            <a:off x="6995160" y="1005840"/>
            <a:ext cx="1600200" cy="8229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Farmer Decision</a:t>
            </a:r>
            <a:endParaRPr lang="en-US" sz="1300" dirty="0"/>
          </a:p>
        </p:txBody>
      </p:sp>
      <p:sp>
        <p:nvSpPr>
          <p:cNvPr id="15" name="Text 9"/>
          <p:cNvSpPr txBox="1"/>
          <p:nvPr/>
        </p:nvSpPr>
        <p:spPr>
          <a:xfrm>
            <a:off x="457200" y="2103120"/>
            <a:ext cx="3931920" cy="246888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rgbClr val="1F2A24"/>
                </a:solidFill>
                <a:latin typeface="Calibri" pitchFamily="34" charset="0"/>
                <a:ea typeface="Calibri" pitchFamily="34" charset="-122"/>
                <a:cs typeface="Calibri" pitchFamily="34" charset="-120"/>
              </a:rPr>
              <a:t>Weather awareness</a:t>
            </a:r>
            <a:endParaRPr lang="en-US" sz="1500" dirty="0"/>
          </a:p>
          <a:p>
            <a:pPr marL="342900" indent="-342900">
              <a:spcAft>
                <a:spcPts val="500"/>
              </a:spcAft>
              <a:buSzPct val="100000"/>
              <a:buChar char="•"/>
            </a:pPr>
            <a:r>
              <a:rPr lang="en-US" sz="1500" dirty="0">
                <a:solidFill>
                  <a:srgbClr val="1F2A24"/>
                </a:solidFill>
                <a:latin typeface="Calibri" pitchFamily="34" charset="0"/>
                <a:ea typeface="Calibri" pitchFamily="34" charset="-122"/>
                <a:cs typeface="Calibri" pitchFamily="34" charset="-120"/>
              </a:rPr>
              <a:t>Rainfall information</a:t>
            </a:r>
            <a:endParaRPr lang="en-US" sz="1500" dirty="0"/>
          </a:p>
          <a:p>
            <a:pPr marL="342900" indent="-342900">
              <a:spcAft>
                <a:spcPts val="500"/>
              </a:spcAft>
              <a:buSzPct val="100000"/>
              <a:buChar char="•"/>
            </a:pPr>
            <a:r>
              <a:rPr lang="en-US" sz="1500" dirty="0">
                <a:solidFill>
                  <a:srgbClr val="1F2A24"/>
                </a:solidFill>
                <a:latin typeface="Calibri" pitchFamily="34" charset="0"/>
                <a:ea typeface="Calibri" pitchFamily="34" charset="-122"/>
                <a:cs typeface="Calibri" pitchFamily="34" charset="-120"/>
              </a:rPr>
              <a:t>Temperature and humidity</a:t>
            </a:r>
            <a:endParaRPr lang="en-US" sz="1500" dirty="0"/>
          </a:p>
          <a:p>
            <a:pPr marL="342900" indent="-342900">
              <a:spcAft>
                <a:spcPts val="500"/>
              </a:spcAft>
              <a:buSzPct val="100000"/>
              <a:buChar char="•"/>
            </a:pPr>
            <a:r>
              <a:rPr lang="en-US" sz="1500" dirty="0">
                <a:solidFill>
                  <a:srgbClr val="1F2A24"/>
                </a:solidFill>
                <a:latin typeface="Calibri" pitchFamily="34" charset="0"/>
                <a:ea typeface="Calibri" pitchFamily="34" charset="-122"/>
                <a:cs typeface="Calibri" pitchFamily="34" charset="-120"/>
              </a:rPr>
              <a:t>Irrigation planning</a:t>
            </a:r>
            <a:endParaRPr lang="en-US" sz="1500" dirty="0"/>
          </a:p>
          <a:p>
            <a:pPr marL="342900" indent="-342900">
              <a:spcAft>
                <a:spcPts val="500"/>
              </a:spcAft>
              <a:buSzPct val="100000"/>
              <a:buChar char="•"/>
            </a:pPr>
            <a:r>
              <a:rPr lang="en-US" sz="1500" dirty="0">
                <a:solidFill>
                  <a:srgbClr val="1F2A24"/>
                </a:solidFill>
                <a:latin typeface="Calibri" pitchFamily="34" charset="0"/>
                <a:ea typeface="Calibri" pitchFamily="34" charset="-122"/>
                <a:cs typeface="Calibri" pitchFamily="34" charset="-120"/>
              </a:rPr>
              <a:t>Water management</a:t>
            </a:r>
            <a:endParaRPr lang="en-US" sz="1500" dirty="0"/>
          </a:p>
        </p:txBody>
      </p:sp>
      <p:sp>
        <p:nvSpPr>
          <p:cNvPr id="16" name="Shape 10"/>
          <p:cNvSpPr/>
          <p:nvPr/>
        </p:nvSpPr>
        <p:spPr>
          <a:xfrm>
            <a:off x="4572000" y="2011680"/>
            <a:ext cx="2011680" cy="1280160"/>
          </a:xfrm>
          <a:prstGeom prst="roundRect">
            <a:avLst>
              <a:gd name="adj" fmla="val 5714"/>
            </a:avLst>
          </a:prstGeom>
          <a:solidFill>
            <a:srgbClr val="E8F5E9"/>
          </a:solidFill>
          <a:ln w="12700">
            <a:solidFill>
              <a:srgbClr val="66BB6A"/>
            </a:solidFill>
            <a:prstDash val="solid"/>
          </a:ln>
        </p:spPr>
      </p:sp>
      <p:pic>
        <p:nvPicPr>
          <p:cNvPr id="17" name="Image 3" descr="preencoded.png">    </p:cNvPr>
          <p:cNvPicPr>
            <a:picLocks noChangeAspect="1"/>
          </p:cNvPicPr>
          <p:nvPr/>
        </p:nvPicPr>
        <p:blipFill>
          <a:blip r:embed="rId4"/>
          <a:stretch>
            <a:fillRect/>
          </a:stretch>
        </p:blipFill>
        <p:spPr>
          <a:xfrm>
            <a:off x="5394960" y="2148840"/>
            <a:ext cx="365760" cy="365760"/>
          </a:xfrm>
          <a:prstGeom prst="rect">
            <a:avLst/>
          </a:prstGeom>
        </p:spPr>
      </p:pic>
      <p:sp>
        <p:nvSpPr>
          <p:cNvPr id="18" name="Text 11"/>
          <p:cNvSpPr txBox="1"/>
          <p:nvPr/>
        </p:nvSpPr>
        <p:spPr>
          <a:xfrm>
            <a:off x="4681728" y="2606040"/>
            <a:ext cx="1792224" cy="548640"/>
          </a:xfrm>
          <a:prstGeom prst="rect">
            <a:avLst/>
          </a:prstGeom>
          <a:noFill/>
          <a:ln/>
        </p:spPr>
        <p:txBody>
          <a:bodyPr wrap="square" lIns="0" tIns="0" rIns="0" bIns="0" rtlCol="0" anchor="t"/>
          <a:lstStyle/>
          <a:p>
            <a:pPr algn="ctr" indent="0" marL="0">
              <a:buNone/>
            </a:pPr>
            <a:r>
              <a:rPr lang="en-US" sz="1100" dirty="0">
                <a:solidFill>
                  <a:srgbClr val="5F6B61"/>
                </a:solidFill>
                <a:latin typeface="Calibri" pitchFamily="34" charset="0"/>
                <a:ea typeface="Calibri" pitchFamily="34" charset="-122"/>
                <a:cs typeface="Calibri" pitchFamily="34" charset="-120"/>
              </a:rPr>
              <a:t>PHOTO: Indian farm under changing weather, dark clouds and sun</a:t>
            </a:r>
            <a:endParaRPr lang="en-US" sz="1100" dirty="0"/>
          </a:p>
        </p:txBody>
      </p:sp>
      <p:sp>
        <p:nvSpPr>
          <p:cNvPr id="19" name="Shape 12"/>
          <p:cNvSpPr/>
          <p:nvPr/>
        </p:nvSpPr>
        <p:spPr>
          <a:xfrm>
            <a:off x="6675120" y="2011680"/>
            <a:ext cx="2011680" cy="1280160"/>
          </a:xfrm>
          <a:prstGeom prst="roundRect">
            <a:avLst>
              <a:gd name="adj" fmla="val 5714"/>
            </a:avLst>
          </a:prstGeom>
          <a:solidFill>
            <a:srgbClr val="E8F5E9"/>
          </a:solidFill>
          <a:ln w="12700">
            <a:solidFill>
              <a:srgbClr val="66BB6A"/>
            </a:solidFill>
            <a:prstDash val="solid"/>
          </a:ln>
        </p:spPr>
      </p:sp>
      <p:pic>
        <p:nvPicPr>
          <p:cNvPr id="20" name="Image 4" descr="preencoded.png">    </p:cNvPr>
          <p:cNvPicPr>
            <a:picLocks noChangeAspect="1"/>
          </p:cNvPicPr>
          <p:nvPr/>
        </p:nvPicPr>
        <p:blipFill>
          <a:blip r:embed="rId5"/>
          <a:stretch>
            <a:fillRect/>
          </a:stretch>
        </p:blipFill>
        <p:spPr>
          <a:xfrm>
            <a:off x="7498080" y="2148840"/>
            <a:ext cx="365760" cy="365760"/>
          </a:xfrm>
          <a:prstGeom prst="rect">
            <a:avLst/>
          </a:prstGeom>
        </p:spPr>
      </p:pic>
      <p:sp>
        <p:nvSpPr>
          <p:cNvPr id="21" name="Text 13"/>
          <p:cNvSpPr txBox="1"/>
          <p:nvPr/>
        </p:nvSpPr>
        <p:spPr>
          <a:xfrm>
            <a:off x="6784848" y="2606040"/>
            <a:ext cx="1792224" cy="548640"/>
          </a:xfrm>
          <a:prstGeom prst="rect">
            <a:avLst/>
          </a:prstGeom>
          <a:noFill/>
          <a:ln/>
        </p:spPr>
        <p:txBody>
          <a:bodyPr wrap="square" lIns="0" tIns="0" rIns="0" bIns="0" rtlCol="0" anchor="t"/>
          <a:lstStyle/>
          <a:p>
            <a:pPr algn="ctr" indent="0" marL="0">
              <a:buNone/>
            </a:pPr>
            <a:r>
              <a:rPr lang="en-US" sz="1100" dirty="0">
                <a:solidFill>
                  <a:srgbClr val="5F6B61"/>
                </a:solidFill>
                <a:latin typeface="Calibri" pitchFamily="34" charset="0"/>
                <a:ea typeface="Calibri" pitchFamily="34" charset="-122"/>
                <a:cs typeface="Calibri" pitchFamily="34" charset="-120"/>
              </a:rPr>
              <a:t>PHOTO: Irrigation water flowing through crop rows</a:t>
            </a:r>
            <a:endParaRPr lang="en-US" sz="1100" dirty="0"/>
          </a:p>
        </p:txBody>
      </p:sp>
      <p:sp>
        <p:nvSpPr>
          <p:cNvPr id="22" name="Shape 14"/>
          <p:cNvSpPr/>
          <p:nvPr/>
        </p:nvSpPr>
        <p:spPr>
          <a:xfrm>
            <a:off x="4572000" y="3429000"/>
            <a:ext cx="2011680" cy="1188720"/>
          </a:xfrm>
          <a:prstGeom prst="roundRect">
            <a:avLst>
              <a:gd name="adj" fmla="val 6154"/>
            </a:avLst>
          </a:prstGeom>
          <a:solidFill>
            <a:srgbClr val="FFFFFF"/>
          </a:solidFill>
          <a:ln w="12700">
            <a:solidFill>
              <a:srgbClr val="66BB6A"/>
            </a:solidFill>
            <a:prstDash val="solid"/>
          </a:ln>
        </p:spPr>
      </p:sp>
      <p:pic>
        <p:nvPicPr>
          <p:cNvPr id="23" name="Image 5" descr="preencoded.png">    </p:cNvPr>
          <p:cNvPicPr>
            <a:picLocks noChangeAspect="1"/>
          </p:cNvPicPr>
          <p:nvPr/>
        </p:nvPicPr>
        <p:blipFill>
          <a:blip r:embed="rId6"/>
          <a:stretch>
            <a:fillRect/>
          </a:stretch>
        </p:blipFill>
        <p:spPr>
          <a:xfrm>
            <a:off x="4663440" y="3520440"/>
            <a:ext cx="320040" cy="320040"/>
          </a:xfrm>
          <a:prstGeom prst="rect">
            <a:avLst/>
          </a:prstGeom>
        </p:spPr>
      </p:pic>
      <p:sp>
        <p:nvSpPr>
          <p:cNvPr id="24" name="Text 15"/>
          <p:cNvSpPr txBox="1"/>
          <p:nvPr/>
        </p:nvSpPr>
        <p:spPr>
          <a:xfrm>
            <a:off x="5029200" y="3520440"/>
            <a:ext cx="1508760" cy="320040"/>
          </a:xfrm>
          <a:prstGeom prst="rect">
            <a:avLst/>
          </a:prstGeom>
          <a:noFill/>
          <a:ln/>
        </p:spPr>
        <p:txBody>
          <a:bodyPr wrap="square" lIns="0" tIns="0" rIns="0" bIns="0"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Weather (sample)</a:t>
            </a:r>
            <a:endParaRPr lang="en-US" sz="1100" dirty="0"/>
          </a:p>
        </p:txBody>
      </p:sp>
      <p:sp>
        <p:nvSpPr>
          <p:cNvPr id="25" name="Text 16"/>
          <p:cNvSpPr txBox="1"/>
          <p:nvPr/>
        </p:nvSpPr>
        <p:spPr>
          <a:xfrm>
            <a:off x="4663440" y="3931920"/>
            <a:ext cx="1828800" cy="274320"/>
          </a:xfrm>
          <a:prstGeom prst="rect">
            <a:avLst/>
          </a:prstGeom>
          <a:noFill/>
          <a:ln/>
        </p:spPr>
        <p:txBody>
          <a:bodyPr wrap="square" lIns="0" tIns="0" rIns="0" bIns="0" rtlCol="0" anchor="t"/>
          <a:lstStyle/>
          <a:p>
            <a:pPr indent="0" marL="0">
              <a:buNone/>
            </a:pPr>
            <a:r>
              <a:rPr lang="en-US" sz="1300" b="1" dirty="0">
                <a:solidFill>
                  <a:srgbClr val="1B5E20"/>
                </a:solidFill>
                <a:latin typeface="Calibri" pitchFamily="34" charset="0"/>
                <a:ea typeface="Calibri" pitchFamily="34" charset="-122"/>
                <a:cs typeface="Calibri" pitchFamily="34" charset="-120"/>
              </a:rPr>
              <a:t>-- C   -- %   -- mm</a:t>
            </a:r>
            <a:endParaRPr lang="en-US" sz="1300" dirty="0"/>
          </a:p>
        </p:txBody>
      </p:sp>
      <p:sp>
        <p:nvSpPr>
          <p:cNvPr id="26" name="Text 17"/>
          <p:cNvSpPr txBox="1"/>
          <p:nvPr/>
        </p:nvSpPr>
        <p:spPr>
          <a:xfrm>
            <a:off x="4663440" y="4297680"/>
            <a:ext cx="1828800" cy="228600"/>
          </a:xfrm>
          <a:prstGeom prst="rect">
            <a:avLst/>
          </a:prstGeom>
          <a:noFill/>
          <a:ln/>
        </p:spPr>
        <p:txBody>
          <a:bodyPr wrap="square" lIns="0" tIns="0" rIns="0" bIns="0" rtlCol="0" anchor="t"/>
          <a:lstStyle/>
          <a:p>
            <a:pPr indent="0" marL="0">
              <a:buNone/>
            </a:pPr>
            <a:r>
              <a:rPr lang="en-US" sz="1000" i="1" dirty="0">
                <a:solidFill>
                  <a:srgbClr val="5F6B61"/>
                </a:solidFill>
                <a:latin typeface="Calibri" pitchFamily="34" charset="0"/>
                <a:ea typeface="Calibri" pitchFamily="34" charset="-122"/>
                <a:cs typeface="Calibri" pitchFamily="34" charset="-120"/>
              </a:rPr>
              <a:t>Illustrative values</a:t>
            </a:r>
            <a:endParaRPr lang="en-US" sz="1000" dirty="0"/>
          </a:p>
        </p:txBody>
      </p:sp>
      <p:sp>
        <p:nvSpPr>
          <p:cNvPr id="27" name="Shape 18"/>
          <p:cNvSpPr/>
          <p:nvPr/>
        </p:nvSpPr>
        <p:spPr>
          <a:xfrm>
            <a:off x="6675120" y="3429000"/>
            <a:ext cx="2011680" cy="1188720"/>
          </a:xfrm>
          <a:prstGeom prst="roundRect">
            <a:avLst>
              <a:gd name="adj" fmla="val 6154"/>
            </a:avLst>
          </a:prstGeom>
          <a:solidFill>
            <a:srgbClr val="FFFFFF"/>
          </a:solidFill>
          <a:ln w="12700">
            <a:solidFill>
              <a:srgbClr val="66BB6A"/>
            </a:solidFill>
            <a:prstDash val="solid"/>
          </a:ln>
        </p:spPr>
      </p:sp>
      <p:sp>
        <p:nvSpPr>
          <p:cNvPr id="28" name="Text 19"/>
          <p:cNvSpPr txBox="1"/>
          <p:nvPr/>
        </p:nvSpPr>
        <p:spPr>
          <a:xfrm>
            <a:off x="6766560" y="3520440"/>
            <a:ext cx="1828800" cy="274320"/>
          </a:xfrm>
          <a:prstGeom prst="rect">
            <a:avLst/>
          </a:prstGeom>
          <a:noFill/>
          <a:ln/>
        </p:spPr>
        <p:txBody>
          <a:bodyPr wrap="square" lIns="0" tIns="0" rIns="0" bIns="0" rtlCol="0" anchor="t"/>
          <a:lstStyle/>
          <a:p>
            <a:pPr indent="0" marL="0">
              <a:buNone/>
            </a:pPr>
            <a:r>
              <a:rPr lang="en-US" sz="1100" b="1" dirty="0">
                <a:solidFill>
                  <a:srgbClr val="1F2A24"/>
                </a:solidFill>
                <a:latin typeface="Calibri" pitchFamily="34" charset="0"/>
                <a:ea typeface="Calibri" pitchFamily="34" charset="-122"/>
                <a:cs typeface="Calibri" pitchFamily="34" charset="-120"/>
              </a:rPr>
              <a:t>Soil moisture</a:t>
            </a:r>
            <a:endParaRPr lang="en-US" sz="1100" dirty="0"/>
          </a:p>
        </p:txBody>
      </p:sp>
      <p:sp>
        <p:nvSpPr>
          <p:cNvPr id="29" name="Shape 20"/>
          <p:cNvSpPr/>
          <p:nvPr/>
        </p:nvSpPr>
        <p:spPr>
          <a:xfrm>
            <a:off x="6766560" y="3931920"/>
            <a:ext cx="1828800" cy="201168"/>
          </a:xfrm>
          <a:prstGeom prst="roundRect">
            <a:avLst>
              <a:gd name="adj" fmla="val 36364"/>
            </a:avLst>
          </a:prstGeom>
          <a:solidFill>
            <a:srgbClr val="ECEFEC"/>
          </a:solidFill>
          <a:ln w="12700">
            <a:solidFill>
              <a:srgbClr val="ECEFEC"/>
            </a:solidFill>
            <a:prstDash val="solid"/>
          </a:ln>
        </p:spPr>
      </p:sp>
      <p:sp>
        <p:nvSpPr>
          <p:cNvPr id="30" name="Shape 21"/>
          <p:cNvSpPr/>
          <p:nvPr/>
        </p:nvSpPr>
        <p:spPr>
          <a:xfrm>
            <a:off x="6766560" y="3931920"/>
            <a:ext cx="1097280" cy="201168"/>
          </a:xfrm>
          <a:prstGeom prst="roundRect">
            <a:avLst>
              <a:gd name="adj" fmla="val 36364"/>
            </a:avLst>
          </a:prstGeom>
          <a:solidFill>
            <a:srgbClr val="66BB6A"/>
          </a:solidFill>
          <a:ln w="12700">
            <a:solidFill>
              <a:srgbClr val="66BB6A"/>
            </a:solidFill>
            <a:prstDash val="solid"/>
          </a:ln>
        </p:spPr>
      </p:sp>
      <p:sp>
        <p:nvSpPr>
          <p:cNvPr id="31" name="Text 22"/>
          <p:cNvSpPr txBox="1"/>
          <p:nvPr/>
        </p:nvSpPr>
        <p:spPr>
          <a:xfrm>
            <a:off x="6766560" y="4297680"/>
            <a:ext cx="1828800" cy="228600"/>
          </a:xfrm>
          <a:prstGeom prst="rect">
            <a:avLst/>
          </a:prstGeom>
          <a:noFill/>
          <a:ln/>
        </p:spPr>
        <p:txBody>
          <a:bodyPr wrap="square" lIns="0" tIns="0" rIns="0" bIns="0" rtlCol="0" anchor="t"/>
          <a:lstStyle/>
          <a:p>
            <a:pPr indent="0" marL="0">
              <a:buNone/>
            </a:pPr>
            <a:r>
              <a:rPr lang="en-US" sz="1000" i="1" dirty="0">
                <a:solidFill>
                  <a:srgbClr val="5F6B61"/>
                </a:solidFill>
                <a:latin typeface="Calibri" pitchFamily="34" charset="0"/>
                <a:ea typeface="Calibri" pitchFamily="34" charset="-122"/>
                <a:cs typeface="Calibri" pitchFamily="34" charset="-120"/>
              </a:rPr>
              <a:t>Illustrative water management</a:t>
            </a:r>
            <a:endParaRPr lang="en-US" sz="1000" dirty="0"/>
          </a:p>
        </p:txBody>
      </p:sp>
      <p:sp>
        <p:nvSpPr>
          <p:cNvPr id="25" name="Slide Number Placeholder 0"/>
          <p:cNvSpPr>
            <a:spLocks noGrp="1"/>
          </p:cNvSpPr>
          <p:nvPr>
            <p:ph type="sldNum" sz="quarter" idx="4294967295"/>
          </p:nvPr>
        </p:nvSpPr>
        <p:spPr>
          <a:xfrm>
            <a:off x="822960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F6B61"/>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rgbClr val="1B5E20"/>
                </a:solidFill>
                <a:latin typeface="Calibri" pitchFamily="34" charset="0"/>
                <a:ea typeface="Calibri" pitchFamily="34" charset="-122"/>
                <a:cs typeface="Calibri" pitchFamily="34" charset="-120"/>
              </a:rPr>
              <a:t>Harvesting Guidance</a:t>
            </a:r>
            <a:endParaRPr lang="en-US" sz="2800" dirty="0"/>
          </a:p>
        </p:txBody>
      </p:sp>
      <p:sp>
        <p:nvSpPr>
          <p:cNvPr id="4" name="Shape 1"/>
          <p:cNvSpPr/>
          <p:nvPr/>
        </p:nvSpPr>
        <p:spPr>
          <a:xfrm>
            <a:off x="457200" y="1005840"/>
            <a:ext cx="1783080" cy="1051560"/>
          </a:xfrm>
          <a:prstGeom prst="roundRect">
            <a:avLst>
              <a:gd name="adj" fmla="val 6957"/>
            </a:avLst>
          </a:prstGeom>
          <a:solidFill>
            <a:srgbClr val="F5F1E8"/>
          </a:solidFill>
          <a:ln w="12700">
            <a:solidFill>
              <a:srgbClr val="66BB6A"/>
            </a:solidFill>
            <a:prstDash val="solid"/>
          </a:ln>
        </p:spPr>
      </p:sp>
      <p:pic>
        <p:nvPicPr>
          <p:cNvPr id="5" name="Image 0" descr="preencoded.png">    </p:cNvPr>
          <p:cNvPicPr>
            <a:picLocks noChangeAspect="1"/>
          </p:cNvPicPr>
          <p:nvPr/>
        </p:nvPicPr>
        <p:blipFill>
          <a:blip r:embed="rId1"/>
          <a:stretch>
            <a:fillRect/>
          </a:stretch>
        </p:blipFill>
        <p:spPr>
          <a:xfrm>
            <a:off x="1165860" y="1115568"/>
            <a:ext cx="365760" cy="365760"/>
          </a:xfrm>
          <a:prstGeom prst="rect">
            <a:avLst/>
          </a:prstGeom>
        </p:spPr>
      </p:pic>
      <p:sp>
        <p:nvSpPr>
          <p:cNvPr id="6" name="Text 2"/>
          <p:cNvSpPr txBox="1"/>
          <p:nvPr/>
        </p:nvSpPr>
        <p:spPr>
          <a:xfrm>
            <a:off x="548640" y="1554480"/>
            <a:ext cx="1600200" cy="457200"/>
          </a:xfrm>
          <a:prstGeom prst="rect">
            <a:avLst/>
          </a:prstGeom>
          <a:noFill/>
          <a:ln/>
        </p:spPr>
        <p:txBody>
          <a:bodyPr wrap="square" lIns="0" tIns="0" rIns="0" bIns="0" rtlCol="0" anchor="t"/>
          <a:lstStyle/>
          <a:p>
            <a:pPr algn="ctr" indent="0" marL="0">
              <a:buNone/>
            </a:pPr>
            <a:r>
              <a:rPr lang="en-US" sz="1400" b="1" dirty="0">
                <a:solidFill>
                  <a:srgbClr val="1F2A24"/>
                </a:solidFill>
                <a:latin typeface="Calibri" pitchFamily="34" charset="0"/>
                <a:ea typeface="Calibri" pitchFamily="34" charset="-122"/>
                <a:cs typeface="Calibri" pitchFamily="34" charset="-120"/>
              </a:rPr>
              <a:t>Crop Monitoring</a:t>
            </a:r>
            <a:endParaRPr lang="en-US" sz="1400" dirty="0"/>
          </a:p>
        </p:txBody>
      </p:sp>
      <p:sp>
        <p:nvSpPr>
          <p:cNvPr id="7" name="Shape 3"/>
          <p:cNvSpPr/>
          <p:nvPr/>
        </p:nvSpPr>
        <p:spPr>
          <a:xfrm>
            <a:off x="2276856" y="1531620"/>
            <a:ext cx="292608" cy="0"/>
          </a:xfrm>
          <a:prstGeom prst="line">
            <a:avLst/>
          </a:prstGeom>
          <a:noFill/>
          <a:ln w="28575">
            <a:solidFill>
              <a:srgbClr val="1B5E20"/>
            </a:solidFill>
            <a:prstDash val="solid"/>
            <a:tailEnd type="triangle"/>
          </a:ln>
        </p:spPr>
      </p:sp>
      <p:sp>
        <p:nvSpPr>
          <p:cNvPr id="8" name="Shape 4"/>
          <p:cNvSpPr/>
          <p:nvPr/>
        </p:nvSpPr>
        <p:spPr>
          <a:xfrm>
            <a:off x="2606040" y="1005840"/>
            <a:ext cx="1783080" cy="1051560"/>
          </a:xfrm>
          <a:prstGeom prst="roundRect">
            <a:avLst>
              <a:gd name="adj" fmla="val 6957"/>
            </a:avLst>
          </a:prstGeom>
          <a:solidFill>
            <a:srgbClr val="F5F1E8"/>
          </a:solidFill>
          <a:ln w="12700">
            <a:solidFill>
              <a:srgbClr val="66BB6A"/>
            </a:solidFill>
            <a:prstDash val="solid"/>
          </a:ln>
        </p:spPr>
      </p:sp>
      <p:pic>
        <p:nvPicPr>
          <p:cNvPr id="9" name="Image 1" descr="preencoded.png">    </p:cNvPr>
          <p:cNvPicPr>
            <a:picLocks noChangeAspect="1"/>
          </p:cNvPicPr>
          <p:nvPr/>
        </p:nvPicPr>
        <p:blipFill>
          <a:blip r:embed="rId2"/>
          <a:stretch>
            <a:fillRect/>
          </a:stretch>
        </p:blipFill>
        <p:spPr>
          <a:xfrm>
            <a:off x="3314700" y="1115568"/>
            <a:ext cx="365760" cy="365760"/>
          </a:xfrm>
          <a:prstGeom prst="rect">
            <a:avLst/>
          </a:prstGeom>
        </p:spPr>
      </p:pic>
      <p:sp>
        <p:nvSpPr>
          <p:cNvPr id="10" name="Text 5"/>
          <p:cNvSpPr txBox="1"/>
          <p:nvPr/>
        </p:nvSpPr>
        <p:spPr>
          <a:xfrm>
            <a:off x="2697480" y="1554480"/>
            <a:ext cx="1600200" cy="457200"/>
          </a:xfrm>
          <a:prstGeom prst="rect">
            <a:avLst/>
          </a:prstGeom>
          <a:noFill/>
          <a:ln/>
        </p:spPr>
        <p:txBody>
          <a:bodyPr wrap="square" lIns="0" tIns="0" rIns="0" bIns="0" rtlCol="0" anchor="t"/>
          <a:lstStyle/>
          <a:p>
            <a:pPr algn="ctr" indent="0" marL="0">
              <a:buNone/>
            </a:pPr>
            <a:r>
              <a:rPr lang="en-US" sz="1400" b="1" dirty="0">
                <a:solidFill>
                  <a:srgbClr val="1F2A24"/>
                </a:solidFill>
                <a:latin typeface="Calibri" pitchFamily="34" charset="0"/>
                <a:ea typeface="Calibri" pitchFamily="34" charset="-122"/>
                <a:cs typeface="Calibri" pitchFamily="34" charset="-120"/>
              </a:rPr>
              <a:t>Harvest Planning</a:t>
            </a:r>
            <a:endParaRPr lang="en-US" sz="1400" dirty="0"/>
          </a:p>
        </p:txBody>
      </p:sp>
      <p:sp>
        <p:nvSpPr>
          <p:cNvPr id="11" name="Shape 6"/>
          <p:cNvSpPr/>
          <p:nvPr/>
        </p:nvSpPr>
        <p:spPr>
          <a:xfrm>
            <a:off x="4425696" y="1531620"/>
            <a:ext cx="292608" cy="0"/>
          </a:xfrm>
          <a:prstGeom prst="line">
            <a:avLst/>
          </a:prstGeom>
          <a:noFill/>
          <a:ln w="28575">
            <a:solidFill>
              <a:srgbClr val="1B5E20"/>
            </a:solidFill>
            <a:prstDash val="solid"/>
            <a:tailEnd type="triangle"/>
          </a:ln>
        </p:spPr>
      </p:sp>
      <p:sp>
        <p:nvSpPr>
          <p:cNvPr id="12" name="Shape 7"/>
          <p:cNvSpPr/>
          <p:nvPr/>
        </p:nvSpPr>
        <p:spPr>
          <a:xfrm>
            <a:off x="4754880" y="1005840"/>
            <a:ext cx="1783080" cy="1051560"/>
          </a:xfrm>
          <a:prstGeom prst="roundRect">
            <a:avLst>
              <a:gd name="adj" fmla="val 6957"/>
            </a:avLst>
          </a:prstGeom>
          <a:solidFill>
            <a:srgbClr val="F5F1E8"/>
          </a:solidFill>
          <a:ln w="12700">
            <a:solidFill>
              <a:srgbClr val="66BB6A"/>
            </a:solidFill>
            <a:prstDash val="solid"/>
          </a:ln>
        </p:spPr>
      </p:sp>
      <p:pic>
        <p:nvPicPr>
          <p:cNvPr id="13" name="Image 2" descr="preencoded.png">    </p:cNvPr>
          <p:cNvPicPr>
            <a:picLocks noChangeAspect="1"/>
          </p:cNvPicPr>
          <p:nvPr/>
        </p:nvPicPr>
        <p:blipFill>
          <a:blip r:embed="rId3"/>
          <a:stretch>
            <a:fillRect/>
          </a:stretch>
        </p:blipFill>
        <p:spPr>
          <a:xfrm>
            <a:off x="5463540" y="1115568"/>
            <a:ext cx="365760" cy="365760"/>
          </a:xfrm>
          <a:prstGeom prst="rect">
            <a:avLst/>
          </a:prstGeom>
        </p:spPr>
      </p:pic>
      <p:sp>
        <p:nvSpPr>
          <p:cNvPr id="14" name="Text 8"/>
          <p:cNvSpPr txBox="1"/>
          <p:nvPr/>
        </p:nvSpPr>
        <p:spPr>
          <a:xfrm>
            <a:off x="4846320" y="1554480"/>
            <a:ext cx="1600200" cy="457200"/>
          </a:xfrm>
          <a:prstGeom prst="rect">
            <a:avLst/>
          </a:prstGeom>
          <a:noFill/>
          <a:ln/>
        </p:spPr>
        <p:txBody>
          <a:bodyPr wrap="square" lIns="0" tIns="0" rIns="0" bIns="0" rtlCol="0" anchor="t"/>
          <a:lstStyle/>
          <a:p>
            <a:pPr algn="ctr" indent="0" marL="0">
              <a:buNone/>
            </a:pPr>
            <a:r>
              <a:rPr lang="en-US" sz="1400" b="1" dirty="0">
                <a:solidFill>
                  <a:srgbClr val="1F2A24"/>
                </a:solidFill>
                <a:latin typeface="Calibri" pitchFamily="34" charset="0"/>
                <a:ea typeface="Calibri" pitchFamily="34" charset="-122"/>
                <a:cs typeface="Calibri" pitchFamily="34" charset="-120"/>
              </a:rPr>
              <a:t>Harvesting</a:t>
            </a:r>
            <a:endParaRPr lang="en-US" sz="1400" dirty="0"/>
          </a:p>
        </p:txBody>
      </p:sp>
      <p:sp>
        <p:nvSpPr>
          <p:cNvPr id="15" name="Shape 9"/>
          <p:cNvSpPr/>
          <p:nvPr/>
        </p:nvSpPr>
        <p:spPr>
          <a:xfrm>
            <a:off x="6574536" y="1531620"/>
            <a:ext cx="292608" cy="0"/>
          </a:xfrm>
          <a:prstGeom prst="line">
            <a:avLst/>
          </a:prstGeom>
          <a:noFill/>
          <a:ln w="28575">
            <a:solidFill>
              <a:srgbClr val="1B5E20"/>
            </a:solidFill>
            <a:prstDash val="solid"/>
            <a:tailEnd type="triangle"/>
          </a:ln>
        </p:spPr>
      </p:sp>
      <p:sp>
        <p:nvSpPr>
          <p:cNvPr id="16" name="Shape 10"/>
          <p:cNvSpPr/>
          <p:nvPr/>
        </p:nvSpPr>
        <p:spPr>
          <a:xfrm>
            <a:off x="6903720" y="1005840"/>
            <a:ext cx="1783080" cy="1051560"/>
          </a:xfrm>
          <a:prstGeom prst="roundRect">
            <a:avLst>
              <a:gd name="adj" fmla="val 6957"/>
            </a:avLst>
          </a:prstGeom>
          <a:solidFill>
            <a:srgbClr val="F5F1E8"/>
          </a:solidFill>
          <a:ln w="12700">
            <a:solidFill>
              <a:srgbClr val="66BB6A"/>
            </a:solidFill>
            <a:prstDash val="solid"/>
          </a:ln>
        </p:spPr>
      </p:sp>
      <p:pic>
        <p:nvPicPr>
          <p:cNvPr id="17" name="Image 3" descr="preencoded.png">    </p:cNvPr>
          <p:cNvPicPr>
            <a:picLocks noChangeAspect="1"/>
          </p:cNvPicPr>
          <p:nvPr/>
        </p:nvPicPr>
        <p:blipFill>
          <a:blip r:embed="rId4"/>
          <a:stretch>
            <a:fillRect/>
          </a:stretch>
        </p:blipFill>
        <p:spPr>
          <a:xfrm>
            <a:off x="7612380" y="1115568"/>
            <a:ext cx="365760" cy="365760"/>
          </a:xfrm>
          <a:prstGeom prst="rect">
            <a:avLst/>
          </a:prstGeom>
        </p:spPr>
      </p:pic>
      <p:sp>
        <p:nvSpPr>
          <p:cNvPr id="18" name="Text 11"/>
          <p:cNvSpPr txBox="1"/>
          <p:nvPr/>
        </p:nvSpPr>
        <p:spPr>
          <a:xfrm>
            <a:off x="6995160" y="1554480"/>
            <a:ext cx="1600200" cy="457200"/>
          </a:xfrm>
          <a:prstGeom prst="rect">
            <a:avLst/>
          </a:prstGeom>
          <a:noFill/>
          <a:ln/>
        </p:spPr>
        <p:txBody>
          <a:bodyPr wrap="square" lIns="0" tIns="0" rIns="0" bIns="0" rtlCol="0" anchor="t"/>
          <a:lstStyle/>
          <a:p>
            <a:pPr algn="ctr" indent="0" marL="0">
              <a:buNone/>
            </a:pPr>
            <a:r>
              <a:rPr lang="en-US" sz="1400" b="1" dirty="0">
                <a:solidFill>
                  <a:srgbClr val="1F2A24"/>
                </a:solidFill>
                <a:latin typeface="Calibri" pitchFamily="34" charset="0"/>
                <a:ea typeface="Calibri" pitchFamily="34" charset="-122"/>
                <a:cs typeface="Calibri" pitchFamily="34" charset="-120"/>
              </a:rPr>
              <a:t>Post-Harvest Handling</a:t>
            </a:r>
            <a:endParaRPr lang="en-US" sz="1400" dirty="0"/>
          </a:p>
        </p:txBody>
      </p:sp>
      <p:sp>
        <p:nvSpPr>
          <p:cNvPr id="19" name="Text 12"/>
          <p:cNvSpPr txBox="1"/>
          <p:nvPr/>
        </p:nvSpPr>
        <p:spPr>
          <a:xfrm>
            <a:off x="457200" y="2377440"/>
            <a:ext cx="4023360" cy="201168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rgbClr val="1F2A24"/>
                </a:solidFill>
                <a:latin typeface="Calibri" pitchFamily="34" charset="0"/>
                <a:ea typeface="Calibri" pitchFamily="34" charset="-122"/>
                <a:cs typeface="Calibri" pitchFamily="34" charset="-120"/>
              </a:rPr>
              <a:t>Harvest planning</a:t>
            </a:r>
            <a:endParaRPr lang="en-US" sz="1500" dirty="0"/>
          </a:p>
          <a:p>
            <a:pPr marL="342900" indent="-342900">
              <a:spcAft>
                <a:spcPts val="500"/>
              </a:spcAft>
              <a:buSzPct val="100000"/>
              <a:buChar char="•"/>
            </a:pPr>
            <a:r>
              <a:rPr lang="en-US" sz="1500" dirty="0">
                <a:solidFill>
                  <a:srgbClr val="1F2A24"/>
                </a:solidFill>
                <a:latin typeface="Calibri" pitchFamily="34" charset="0"/>
                <a:ea typeface="Calibri" pitchFamily="34" charset="-122"/>
                <a:cs typeface="Calibri" pitchFamily="34" charset="-120"/>
              </a:rPr>
              <a:t>Identifying appropriate harvesting activities</a:t>
            </a:r>
            <a:endParaRPr lang="en-US" sz="1500" dirty="0"/>
          </a:p>
          <a:p>
            <a:pPr marL="342900" indent="-342900">
              <a:spcAft>
                <a:spcPts val="500"/>
              </a:spcAft>
              <a:buSzPct val="100000"/>
              <a:buChar char="•"/>
            </a:pPr>
            <a:r>
              <a:rPr lang="en-US" sz="1500" dirty="0">
                <a:solidFill>
                  <a:srgbClr val="1F2A24"/>
                </a:solidFill>
                <a:latin typeface="Calibri" pitchFamily="34" charset="0"/>
                <a:ea typeface="Calibri" pitchFamily="34" charset="-122"/>
                <a:cs typeface="Calibri" pitchFamily="34" charset="-120"/>
              </a:rPr>
              <a:t>Harvested crop handling</a:t>
            </a:r>
            <a:endParaRPr lang="en-US" sz="1500" dirty="0"/>
          </a:p>
          <a:p>
            <a:pPr marL="342900" indent="-342900">
              <a:spcAft>
                <a:spcPts val="500"/>
              </a:spcAft>
              <a:buSzPct val="100000"/>
              <a:buChar char="•"/>
            </a:pPr>
            <a:r>
              <a:rPr lang="en-US" sz="1500" dirty="0">
                <a:solidFill>
                  <a:srgbClr val="1F2A24"/>
                </a:solidFill>
                <a:latin typeface="Calibri" pitchFamily="34" charset="0"/>
                <a:ea typeface="Calibri" pitchFamily="34" charset="-122"/>
                <a:cs typeface="Calibri" pitchFamily="34" charset="-120"/>
              </a:rPr>
              <a:t>Preparation for selling and transportation</a:t>
            </a:r>
            <a:endParaRPr lang="en-US" sz="1500" dirty="0"/>
          </a:p>
        </p:txBody>
      </p:sp>
      <p:sp>
        <p:nvSpPr>
          <p:cNvPr id="20" name="Shape 13"/>
          <p:cNvSpPr/>
          <p:nvPr/>
        </p:nvSpPr>
        <p:spPr>
          <a:xfrm>
            <a:off x="4754880" y="2377440"/>
            <a:ext cx="1965960" cy="2011680"/>
          </a:xfrm>
          <a:prstGeom prst="roundRect">
            <a:avLst>
              <a:gd name="adj" fmla="val 3721"/>
            </a:avLst>
          </a:prstGeom>
          <a:solidFill>
            <a:srgbClr val="E8F5E9"/>
          </a:solidFill>
          <a:ln w="12700">
            <a:solidFill>
              <a:srgbClr val="66BB6A"/>
            </a:solidFill>
            <a:prstDash val="solid"/>
          </a:ln>
        </p:spPr>
      </p:sp>
      <p:pic>
        <p:nvPicPr>
          <p:cNvPr id="21" name="Image 4" descr="preencoded.png">    </p:cNvPr>
          <p:cNvPicPr>
            <a:picLocks noChangeAspect="1"/>
          </p:cNvPicPr>
          <p:nvPr/>
        </p:nvPicPr>
        <p:blipFill>
          <a:blip r:embed="rId5"/>
          <a:stretch>
            <a:fillRect/>
          </a:stretch>
        </p:blipFill>
        <p:spPr>
          <a:xfrm>
            <a:off x="5554980" y="2880360"/>
            <a:ext cx="365760" cy="365760"/>
          </a:xfrm>
          <a:prstGeom prst="rect">
            <a:avLst/>
          </a:prstGeom>
        </p:spPr>
      </p:pic>
      <p:sp>
        <p:nvSpPr>
          <p:cNvPr id="22" name="Text 14"/>
          <p:cNvSpPr txBox="1"/>
          <p:nvPr/>
        </p:nvSpPr>
        <p:spPr>
          <a:xfrm>
            <a:off x="4864608" y="3337560"/>
            <a:ext cx="1746504" cy="914400"/>
          </a:xfrm>
          <a:prstGeom prst="rect">
            <a:avLst/>
          </a:prstGeom>
          <a:noFill/>
          <a:ln/>
        </p:spPr>
        <p:txBody>
          <a:bodyPr wrap="square" lIns="0" tIns="0" rIns="0" bIns="0" rtlCol="0" anchor="t"/>
          <a:lstStyle/>
          <a:p>
            <a:pPr algn="ctr" indent="0" marL="0">
              <a:buNone/>
            </a:pPr>
            <a:r>
              <a:rPr lang="en-US" sz="1100" dirty="0">
                <a:solidFill>
                  <a:srgbClr val="5F6B61"/>
                </a:solidFill>
                <a:latin typeface="Calibri" pitchFamily="34" charset="0"/>
                <a:ea typeface="Calibri" pitchFamily="34" charset="-122"/>
                <a:cs typeface="Calibri" pitchFamily="34" charset="-120"/>
              </a:rPr>
              <a:t>PHOTO: Indian farmers harvesting mature paddy</a:t>
            </a:r>
            <a:endParaRPr lang="en-US" sz="1100" dirty="0"/>
          </a:p>
        </p:txBody>
      </p:sp>
      <p:sp>
        <p:nvSpPr>
          <p:cNvPr id="23" name="Shape 15"/>
          <p:cNvSpPr/>
          <p:nvPr/>
        </p:nvSpPr>
        <p:spPr>
          <a:xfrm>
            <a:off x="6812280" y="2377440"/>
            <a:ext cx="1874520" cy="2011680"/>
          </a:xfrm>
          <a:prstGeom prst="roundRect">
            <a:avLst>
              <a:gd name="adj" fmla="val 3902"/>
            </a:avLst>
          </a:prstGeom>
          <a:solidFill>
            <a:srgbClr val="E8F5E9"/>
          </a:solidFill>
          <a:ln w="12700">
            <a:solidFill>
              <a:srgbClr val="66BB6A"/>
            </a:solidFill>
            <a:prstDash val="solid"/>
          </a:ln>
        </p:spPr>
      </p:sp>
      <p:pic>
        <p:nvPicPr>
          <p:cNvPr id="24" name="Image 5" descr="preencoded.png">    </p:cNvPr>
          <p:cNvPicPr>
            <a:picLocks noChangeAspect="1"/>
          </p:cNvPicPr>
          <p:nvPr/>
        </p:nvPicPr>
        <p:blipFill>
          <a:blip r:embed="rId6"/>
          <a:stretch>
            <a:fillRect/>
          </a:stretch>
        </p:blipFill>
        <p:spPr>
          <a:xfrm>
            <a:off x="7566660" y="2880360"/>
            <a:ext cx="365760" cy="365760"/>
          </a:xfrm>
          <a:prstGeom prst="rect">
            <a:avLst/>
          </a:prstGeom>
        </p:spPr>
      </p:pic>
      <p:sp>
        <p:nvSpPr>
          <p:cNvPr id="25" name="Text 16"/>
          <p:cNvSpPr txBox="1"/>
          <p:nvPr/>
        </p:nvSpPr>
        <p:spPr>
          <a:xfrm>
            <a:off x="6922008" y="3337560"/>
            <a:ext cx="1655064" cy="914400"/>
          </a:xfrm>
          <a:prstGeom prst="rect">
            <a:avLst/>
          </a:prstGeom>
          <a:noFill/>
          <a:ln/>
        </p:spPr>
        <p:txBody>
          <a:bodyPr wrap="square" lIns="0" tIns="0" rIns="0" bIns="0" rtlCol="0" anchor="t"/>
          <a:lstStyle/>
          <a:p>
            <a:pPr algn="ctr" indent="0" marL="0">
              <a:buNone/>
            </a:pPr>
            <a:r>
              <a:rPr lang="en-US" sz="1100" dirty="0">
                <a:solidFill>
                  <a:srgbClr val="5F6B61"/>
                </a:solidFill>
                <a:latin typeface="Calibri" pitchFamily="34" charset="0"/>
                <a:ea typeface="Calibri" pitchFamily="34" charset="-122"/>
                <a:cs typeface="Calibri" pitchFamily="34" charset="-120"/>
              </a:rPr>
              <a:t>PHOTO: Harvested grains, vegetables or crop samples</a:t>
            </a:r>
            <a:endParaRPr lang="en-US" sz="1100" dirty="0"/>
          </a:p>
        </p:txBody>
      </p:sp>
      <p:sp>
        <p:nvSpPr>
          <p:cNvPr id="26" name="Text 17"/>
          <p:cNvSpPr txBox="1"/>
          <p:nvPr/>
        </p:nvSpPr>
        <p:spPr>
          <a:xfrm>
            <a:off x="457200" y="4526280"/>
            <a:ext cx="6400800" cy="228600"/>
          </a:xfrm>
          <a:prstGeom prst="rect">
            <a:avLst/>
          </a:prstGeom>
          <a:noFill/>
          <a:ln/>
        </p:spPr>
        <p:txBody>
          <a:bodyPr wrap="square" lIns="0" tIns="0" rIns="0" bIns="0" rtlCol="0" anchor="t"/>
          <a:lstStyle/>
          <a:p>
            <a:pPr indent="0" marL="0">
              <a:buNone/>
            </a:pPr>
            <a:r>
              <a:rPr lang="en-US" sz="1050" i="1" dirty="0">
                <a:solidFill>
                  <a:srgbClr val="5F6B61"/>
                </a:solidFill>
                <a:latin typeface="Calibri" pitchFamily="34" charset="0"/>
                <a:ea typeface="Calibri" pitchFamily="34" charset="-122"/>
                <a:cs typeface="Calibri" pitchFamily="34" charset="-120"/>
              </a:rPr>
              <a:t>Guidance only - automatic maturity prediction is a future enhancement</a:t>
            </a:r>
            <a:endParaRPr lang="en-US" sz="1050" dirty="0"/>
          </a:p>
        </p:txBody>
      </p:sp>
      <p:sp>
        <p:nvSpPr>
          <p:cNvPr id="25" name="Slide Number Placeholder 0"/>
          <p:cNvSpPr>
            <a:spLocks noGrp="1"/>
          </p:cNvSpPr>
          <p:nvPr>
            <p:ph type="sldNum" sz="quarter" idx="4294967295"/>
          </p:nvPr>
        </p:nvSpPr>
        <p:spPr>
          <a:xfrm>
            <a:off x="822960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F6B61"/>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rgbClr val="1B5E20"/>
                </a:solidFill>
                <a:latin typeface="Calibri" pitchFamily="34" charset="0"/>
                <a:ea typeface="Calibri" pitchFamily="34" charset="-122"/>
                <a:cs typeface="Calibri" pitchFamily="34" charset="-120"/>
              </a:rPr>
              <a:t>Market Information</a:t>
            </a:r>
            <a:endParaRPr lang="en-US" sz="2800" dirty="0"/>
          </a:p>
        </p:txBody>
      </p:sp>
      <p:sp>
        <p:nvSpPr>
          <p:cNvPr id="4" name="Text 1"/>
          <p:cNvSpPr txBox="1"/>
          <p:nvPr/>
        </p:nvSpPr>
        <p:spPr>
          <a:xfrm>
            <a:off x="457200" y="1097280"/>
            <a:ext cx="3931920" cy="237744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rgbClr val="1F2A24"/>
                </a:solidFill>
                <a:latin typeface="Calibri" pitchFamily="34" charset="0"/>
                <a:ea typeface="Calibri" pitchFamily="34" charset="-122"/>
                <a:cs typeface="Calibri" pitchFamily="34" charset="-120"/>
              </a:rPr>
              <a:t>Access to market information</a:t>
            </a:r>
            <a:endParaRPr lang="en-US" sz="1500" dirty="0"/>
          </a:p>
          <a:p>
            <a:pPr marL="342900" indent="-342900">
              <a:spcAft>
                <a:spcPts val="500"/>
              </a:spcAft>
              <a:buSzPct val="100000"/>
              <a:buChar char="•"/>
            </a:pPr>
            <a:r>
              <a:rPr lang="en-US" sz="1500" dirty="0">
                <a:solidFill>
                  <a:srgbClr val="1F2A24"/>
                </a:solidFill>
                <a:latin typeface="Calibri" pitchFamily="34" charset="0"/>
                <a:ea typeface="Calibri" pitchFamily="34" charset="-122"/>
                <a:cs typeface="Calibri" pitchFamily="34" charset="-120"/>
              </a:rPr>
              <a:t>Awareness of selling options</a:t>
            </a:r>
            <a:endParaRPr lang="en-US" sz="1500" dirty="0"/>
          </a:p>
          <a:p>
            <a:pPr marL="342900" indent="-342900">
              <a:spcAft>
                <a:spcPts val="500"/>
              </a:spcAft>
              <a:buSzPct val="100000"/>
              <a:buChar char="•"/>
            </a:pPr>
            <a:r>
              <a:rPr lang="en-US" sz="1500" dirty="0">
                <a:solidFill>
                  <a:srgbClr val="1F2A24"/>
                </a:solidFill>
                <a:latin typeface="Calibri" pitchFamily="34" charset="0"/>
                <a:ea typeface="Calibri" pitchFamily="34" charset="-122"/>
                <a:cs typeface="Calibri" pitchFamily="34" charset="-120"/>
              </a:rPr>
              <a:t>Support for market-related decisions</a:t>
            </a:r>
            <a:endParaRPr lang="en-US" sz="1500" dirty="0"/>
          </a:p>
          <a:p>
            <a:pPr marL="342900" indent="-342900">
              <a:spcAft>
                <a:spcPts val="500"/>
              </a:spcAft>
              <a:buSzPct val="100000"/>
              <a:buChar char="•"/>
            </a:pPr>
            <a:r>
              <a:rPr lang="en-US" sz="1500" dirty="0">
                <a:solidFill>
                  <a:srgbClr val="1F2A24"/>
                </a:solidFill>
                <a:latin typeface="Calibri" pitchFamily="34" charset="0"/>
                <a:ea typeface="Calibri" pitchFamily="34" charset="-122"/>
                <a:cs typeface="Calibri" pitchFamily="34" charset="-120"/>
              </a:rPr>
              <a:t>Preparation for selling harvested produce</a:t>
            </a:r>
            <a:endParaRPr lang="en-US" sz="1500" dirty="0"/>
          </a:p>
        </p:txBody>
      </p:sp>
      <p:sp>
        <p:nvSpPr>
          <p:cNvPr id="5" name="Shape 2"/>
          <p:cNvSpPr/>
          <p:nvPr/>
        </p:nvSpPr>
        <p:spPr>
          <a:xfrm>
            <a:off x="4663440" y="1051560"/>
            <a:ext cx="4023360" cy="1691640"/>
          </a:xfrm>
          <a:prstGeom prst="roundRect">
            <a:avLst>
              <a:gd name="adj" fmla="val 4324"/>
            </a:avLst>
          </a:prstGeom>
          <a:solidFill>
            <a:srgbClr val="E8F5E9"/>
          </a:solidFill>
          <a:ln w="12700">
            <a:solidFill>
              <a:srgbClr val="66BB6A"/>
            </a:solidFill>
            <a:prstDash val="solid"/>
          </a:ln>
        </p:spPr>
      </p:sp>
      <p:pic>
        <p:nvPicPr>
          <p:cNvPr id="6" name="Image 0" descr="preencoded.png">    </p:cNvPr>
          <p:cNvPicPr>
            <a:picLocks noChangeAspect="1"/>
          </p:cNvPicPr>
          <p:nvPr/>
        </p:nvPicPr>
        <p:blipFill>
          <a:blip r:embed="rId1"/>
          <a:stretch>
            <a:fillRect/>
          </a:stretch>
        </p:blipFill>
        <p:spPr>
          <a:xfrm>
            <a:off x="6492240" y="1394460"/>
            <a:ext cx="365760" cy="365760"/>
          </a:xfrm>
          <a:prstGeom prst="rect">
            <a:avLst/>
          </a:prstGeom>
        </p:spPr>
      </p:pic>
      <p:sp>
        <p:nvSpPr>
          <p:cNvPr id="7" name="Text 3"/>
          <p:cNvSpPr txBox="1"/>
          <p:nvPr/>
        </p:nvSpPr>
        <p:spPr>
          <a:xfrm>
            <a:off x="4773168" y="1851660"/>
            <a:ext cx="3803904" cy="754380"/>
          </a:xfrm>
          <a:prstGeom prst="rect">
            <a:avLst/>
          </a:prstGeom>
          <a:noFill/>
          <a:ln/>
        </p:spPr>
        <p:txBody>
          <a:bodyPr wrap="square" lIns="0" tIns="0" rIns="0" bIns="0" rtlCol="0" anchor="t"/>
          <a:lstStyle/>
          <a:p>
            <a:pPr algn="ctr" indent="0" marL="0">
              <a:buNone/>
            </a:pPr>
            <a:r>
              <a:rPr lang="en-US" sz="1100" dirty="0">
                <a:solidFill>
                  <a:srgbClr val="5F6B61"/>
                </a:solidFill>
                <a:latin typeface="Calibri" pitchFamily="34" charset="0"/>
                <a:ea typeface="Calibri" pitchFamily="34" charset="-122"/>
                <a:cs typeface="Calibri" pitchFamily="34" charset="-120"/>
              </a:rPr>
              <a:t>PHOTO: Indian agricultural market with vegetables, grains, farmers and vendors</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663440" y="2880360"/>
          <a:ext cx="4023360" cy="914400"/>
        </p:xfrm>
        <a:graphic>
          <a:graphicData uri="http://schemas.openxmlformats.org/drawingml/2006/table">
            <a:tbl>
              <a:tblPr/>
              <a:tblGrid>
                <a:gridCol w="2011680"/>
                <a:gridCol w="2011680"/>
              </a:tblGrid>
              <a:tr h="27432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Crop category</a:t>
                      </a:r>
                      <a:endParaRPr lang="en-US" sz="1100" dirty="0">
                        <a:latin typeface="Calibri" charset="0"/>
                        <a:ea typeface="Calibri" charset="0"/>
                        <a:cs typeface="Calibri" charset="0"/>
                      </a:endParaRPr>
                    </a:p>
                  </a:txBody>
                  <a:tcPr marL="91440" marR="91440" marT="45720" marB="45720">
                    <a:lnL w="12700" cap="flat" cmpd="sng" algn="ctr">
                      <a:solidFill>
                        <a:srgbClr val="66BB6A"/>
                      </a:solidFill>
                      <a:prstDash val="solid"/>
                      <a:round/>
                      <a:headEnd type="none" w="med" len="med"/>
                      <a:tailEnd type="none" w="med" len="med"/>
                    </a:lnL>
                    <a:lnR w="12700" cap="flat" cmpd="sng" algn="ctr">
                      <a:solidFill>
                        <a:srgbClr val="66BB6A"/>
                      </a:solidFill>
                      <a:prstDash val="solid"/>
                      <a:round/>
                      <a:headEnd type="none" w="med" len="med"/>
                      <a:tailEnd type="none" w="med" len="med"/>
                    </a:lnR>
                    <a:lnT w="12700" cap="flat" cmpd="sng" algn="ctr">
                      <a:solidFill>
                        <a:srgbClr val="66BB6A"/>
                      </a:solidFill>
                      <a:prstDash val="solid"/>
                      <a:round/>
                      <a:headEnd type="none" w="med" len="med"/>
                      <a:tailEnd type="none" w="med" len="med"/>
                    </a:lnT>
                    <a:lnB w="12700" cap="flat" cmpd="sng" algn="ctr">
                      <a:solidFill>
                        <a:srgbClr val="66BB6A"/>
                      </a:solidFill>
                      <a:prstDash val="solid"/>
                      <a:round/>
                      <a:headEnd type="none" w="med" len="med"/>
                      <a:tailEnd type="none" w="med" len="med"/>
                    </a:lnB>
                    <a:solidFill>
                      <a:srgbClr val="1B5E2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Price (Rs/quintal)</a:t>
                      </a:r>
                      <a:endParaRPr lang="en-US" sz="1100" dirty="0">
                        <a:latin typeface="Calibri" charset="0"/>
                        <a:ea typeface="Calibri" charset="0"/>
                        <a:cs typeface="Calibri" charset="0"/>
                      </a:endParaRPr>
                    </a:p>
                  </a:txBody>
                  <a:tcPr marL="91440" marR="91440" marT="45720" marB="45720">
                    <a:lnL w="12700" cap="flat" cmpd="sng" algn="ctr">
                      <a:solidFill>
                        <a:srgbClr val="66BB6A"/>
                      </a:solidFill>
                      <a:prstDash val="solid"/>
                      <a:round/>
                      <a:headEnd type="none" w="med" len="med"/>
                      <a:tailEnd type="none" w="med" len="med"/>
                    </a:lnL>
                    <a:lnR w="12700" cap="flat" cmpd="sng" algn="ctr">
                      <a:solidFill>
                        <a:srgbClr val="66BB6A"/>
                      </a:solidFill>
                      <a:prstDash val="solid"/>
                      <a:round/>
                      <a:headEnd type="none" w="med" len="med"/>
                      <a:tailEnd type="none" w="med" len="med"/>
                    </a:lnR>
                    <a:lnT w="12700" cap="flat" cmpd="sng" algn="ctr">
                      <a:solidFill>
                        <a:srgbClr val="66BB6A"/>
                      </a:solidFill>
                      <a:prstDash val="solid"/>
                      <a:round/>
                      <a:headEnd type="none" w="med" len="med"/>
                      <a:tailEnd type="none" w="med" len="med"/>
                    </a:lnT>
                    <a:lnB w="12700" cap="flat" cmpd="sng" algn="ctr">
                      <a:solidFill>
                        <a:srgbClr val="66BB6A"/>
                      </a:solidFill>
                      <a:prstDash val="solid"/>
                      <a:round/>
                      <a:headEnd type="none" w="med" len="med"/>
                      <a:tailEnd type="none" w="med" len="med"/>
                    </a:lnB>
                    <a:solidFill>
                      <a:srgbClr val="1B5E20"/>
                    </a:solidFill>
                  </a:tcPr>
                </a:tc>
              </a:tr>
              <a:tr h="274320">
                <a:tc>
                  <a:txBody>
                    <a:bodyPr/>
                    <a:lstStyle/>
                    <a:p>
                      <a:pPr indent="0" marL="0">
                        <a:buNone/>
                      </a:pPr>
                      <a:r>
                        <a:rPr lang="en-US" sz="1100" dirty="0">
                          <a:solidFill>
                            <a:srgbClr val="1F2A24"/>
                          </a:solidFill>
                          <a:latin typeface="Calibri" pitchFamily="34" charset="0"/>
                          <a:ea typeface="Calibri" pitchFamily="34" charset="-122"/>
                          <a:cs typeface="Calibri" pitchFamily="34" charset="-120"/>
                        </a:rPr>
                        <a:t>Cereals</a:t>
                      </a:r>
                      <a:endParaRPr lang="en-US" sz="1100" dirty="0">
                        <a:latin typeface="Calibri" charset="0"/>
                        <a:ea typeface="Calibri" charset="0"/>
                        <a:cs typeface="Calibri" charset="0"/>
                      </a:endParaRPr>
                    </a:p>
                  </a:txBody>
                  <a:tcPr marL="91440" marR="91440" marT="45720" marB="45720">
                    <a:lnL w="12700" cap="flat" cmpd="sng" algn="ctr">
                      <a:solidFill>
                        <a:srgbClr val="66BB6A"/>
                      </a:solidFill>
                      <a:prstDash val="solid"/>
                      <a:round/>
                      <a:headEnd type="none" w="med" len="med"/>
                      <a:tailEnd type="none" w="med" len="med"/>
                    </a:lnL>
                    <a:lnR w="12700" cap="flat" cmpd="sng" algn="ctr">
                      <a:solidFill>
                        <a:srgbClr val="66BB6A"/>
                      </a:solidFill>
                      <a:prstDash val="solid"/>
                      <a:round/>
                      <a:headEnd type="none" w="med" len="med"/>
                      <a:tailEnd type="none" w="med" len="med"/>
                    </a:lnR>
                    <a:lnT w="12700" cap="flat" cmpd="sng" algn="ctr">
                      <a:solidFill>
                        <a:srgbClr val="66BB6A"/>
                      </a:solidFill>
                      <a:prstDash val="solid"/>
                      <a:round/>
                      <a:headEnd type="none" w="med" len="med"/>
                      <a:tailEnd type="none" w="med" len="med"/>
                    </a:lnT>
                    <a:lnB w="12700" cap="flat" cmpd="sng" algn="ctr">
                      <a:solidFill>
                        <a:srgbClr val="66BB6A"/>
                      </a:solidFill>
                      <a:prstDash val="solid"/>
                      <a:round/>
                      <a:headEnd type="none" w="med" len="med"/>
                      <a:tailEnd type="none" w="med" len="med"/>
                    </a:lnB>
                  </a:tcPr>
                </a:tc>
                <a:tc>
                  <a:txBody>
                    <a:bodyPr/>
                    <a:lstStyle/>
                    <a:p>
                      <a:pPr indent="0" marL="0">
                        <a:buNone/>
                      </a:pPr>
                      <a:r>
                        <a:rPr lang="en-US" sz="1100" i="1" dirty="0">
                          <a:solidFill>
                            <a:srgbClr val="1F2A24"/>
                          </a:solidFill>
                          <a:latin typeface="Calibri" pitchFamily="34" charset="0"/>
                          <a:ea typeface="Calibri" pitchFamily="34" charset="-122"/>
                          <a:cs typeface="Calibri" pitchFamily="34" charset="-120"/>
                        </a:rPr>
                        <a:t>--- (illustrative)</a:t>
                      </a:r>
                      <a:endParaRPr lang="en-US" sz="1100" dirty="0">
                        <a:latin typeface="Calibri" charset="0"/>
                        <a:ea typeface="Calibri" charset="0"/>
                        <a:cs typeface="Calibri" charset="0"/>
                      </a:endParaRPr>
                    </a:p>
                  </a:txBody>
                  <a:tcPr marL="91440" marR="91440" marT="45720" marB="45720">
                    <a:lnL w="12700" cap="flat" cmpd="sng" algn="ctr">
                      <a:solidFill>
                        <a:srgbClr val="66BB6A"/>
                      </a:solidFill>
                      <a:prstDash val="solid"/>
                      <a:round/>
                      <a:headEnd type="none" w="med" len="med"/>
                      <a:tailEnd type="none" w="med" len="med"/>
                    </a:lnL>
                    <a:lnR w="12700" cap="flat" cmpd="sng" algn="ctr">
                      <a:solidFill>
                        <a:srgbClr val="66BB6A"/>
                      </a:solidFill>
                      <a:prstDash val="solid"/>
                      <a:round/>
                      <a:headEnd type="none" w="med" len="med"/>
                      <a:tailEnd type="none" w="med" len="med"/>
                    </a:lnR>
                    <a:lnT w="12700" cap="flat" cmpd="sng" algn="ctr">
                      <a:solidFill>
                        <a:srgbClr val="66BB6A"/>
                      </a:solidFill>
                      <a:prstDash val="solid"/>
                      <a:round/>
                      <a:headEnd type="none" w="med" len="med"/>
                      <a:tailEnd type="none" w="med" len="med"/>
                    </a:lnT>
                    <a:lnB w="12700" cap="flat" cmpd="sng" algn="ctr">
                      <a:solidFill>
                        <a:srgbClr val="66BB6A"/>
                      </a:solidFill>
                      <a:prstDash val="solid"/>
                      <a:round/>
                      <a:headEnd type="none" w="med" len="med"/>
                      <a:tailEnd type="none" w="med" len="med"/>
                    </a:lnB>
                  </a:tcPr>
                </a:tc>
              </a:tr>
              <a:tr h="274320">
                <a:tc>
                  <a:txBody>
                    <a:bodyPr/>
                    <a:lstStyle/>
                    <a:p>
                      <a:pPr indent="0" marL="0">
                        <a:buNone/>
                      </a:pPr>
                      <a:r>
                        <a:rPr lang="en-US" sz="1100" dirty="0">
                          <a:solidFill>
                            <a:srgbClr val="1F2A24"/>
                          </a:solidFill>
                          <a:latin typeface="Calibri" pitchFamily="34" charset="0"/>
                          <a:ea typeface="Calibri" pitchFamily="34" charset="-122"/>
                          <a:cs typeface="Calibri" pitchFamily="34" charset="-120"/>
                        </a:rPr>
                        <a:t>Vegetables</a:t>
                      </a:r>
                      <a:endParaRPr lang="en-US" sz="1100" dirty="0">
                        <a:latin typeface="Calibri" charset="0"/>
                        <a:ea typeface="Calibri" charset="0"/>
                        <a:cs typeface="Calibri" charset="0"/>
                      </a:endParaRPr>
                    </a:p>
                  </a:txBody>
                  <a:tcPr marL="91440" marR="91440" marT="45720" marB="45720">
                    <a:lnL w="12700" cap="flat" cmpd="sng" algn="ctr">
                      <a:solidFill>
                        <a:srgbClr val="66BB6A"/>
                      </a:solidFill>
                      <a:prstDash val="solid"/>
                      <a:round/>
                      <a:headEnd type="none" w="med" len="med"/>
                      <a:tailEnd type="none" w="med" len="med"/>
                    </a:lnL>
                    <a:lnR w="12700" cap="flat" cmpd="sng" algn="ctr">
                      <a:solidFill>
                        <a:srgbClr val="66BB6A"/>
                      </a:solidFill>
                      <a:prstDash val="solid"/>
                      <a:round/>
                      <a:headEnd type="none" w="med" len="med"/>
                      <a:tailEnd type="none" w="med" len="med"/>
                    </a:lnR>
                    <a:lnT w="12700" cap="flat" cmpd="sng" algn="ctr">
                      <a:solidFill>
                        <a:srgbClr val="66BB6A"/>
                      </a:solidFill>
                      <a:prstDash val="solid"/>
                      <a:round/>
                      <a:headEnd type="none" w="med" len="med"/>
                      <a:tailEnd type="none" w="med" len="med"/>
                    </a:lnT>
                    <a:lnB w="12700" cap="flat" cmpd="sng" algn="ctr">
                      <a:solidFill>
                        <a:srgbClr val="66BB6A"/>
                      </a:solidFill>
                      <a:prstDash val="solid"/>
                      <a:round/>
                      <a:headEnd type="none" w="med" len="med"/>
                      <a:tailEnd type="none" w="med" len="med"/>
                    </a:lnB>
                  </a:tcPr>
                </a:tc>
                <a:tc>
                  <a:txBody>
                    <a:bodyPr/>
                    <a:lstStyle/>
                    <a:p>
                      <a:pPr indent="0" marL="0">
                        <a:buNone/>
                      </a:pPr>
                      <a:r>
                        <a:rPr lang="en-US" sz="1100" i="1" dirty="0">
                          <a:solidFill>
                            <a:srgbClr val="1F2A24"/>
                          </a:solidFill>
                          <a:latin typeface="Calibri" pitchFamily="34" charset="0"/>
                          <a:ea typeface="Calibri" pitchFamily="34" charset="-122"/>
                          <a:cs typeface="Calibri" pitchFamily="34" charset="-120"/>
                        </a:rPr>
                        <a:t>--- (illustrative)</a:t>
                      </a:r>
                      <a:endParaRPr lang="en-US" sz="1100" dirty="0">
                        <a:latin typeface="Calibri" charset="0"/>
                        <a:ea typeface="Calibri" charset="0"/>
                        <a:cs typeface="Calibri" charset="0"/>
                      </a:endParaRPr>
                    </a:p>
                  </a:txBody>
                  <a:tcPr marL="91440" marR="91440" marT="45720" marB="45720">
                    <a:lnL w="12700" cap="flat" cmpd="sng" algn="ctr">
                      <a:solidFill>
                        <a:srgbClr val="66BB6A"/>
                      </a:solidFill>
                      <a:prstDash val="solid"/>
                      <a:round/>
                      <a:headEnd type="none" w="med" len="med"/>
                      <a:tailEnd type="none" w="med" len="med"/>
                    </a:lnL>
                    <a:lnR w="12700" cap="flat" cmpd="sng" algn="ctr">
                      <a:solidFill>
                        <a:srgbClr val="66BB6A"/>
                      </a:solidFill>
                      <a:prstDash val="solid"/>
                      <a:round/>
                      <a:headEnd type="none" w="med" len="med"/>
                      <a:tailEnd type="none" w="med" len="med"/>
                    </a:lnR>
                    <a:lnT w="12700" cap="flat" cmpd="sng" algn="ctr">
                      <a:solidFill>
                        <a:srgbClr val="66BB6A"/>
                      </a:solidFill>
                      <a:prstDash val="solid"/>
                      <a:round/>
                      <a:headEnd type="none" w="med" len="med"/>
                      <a:tailEnd type="none" w="med" len="med"/>
                    </a:lnT>
                    <a:lnB w="12700" cap="flat" cmpd="sng" algn="ctr">
                      <a:solidFill>
                        <a:srgbClr val="66BB6A"/>
                      </a:solidFill>
                      <a:prstDash val="solid"/>
                      <a:round/>
                      <a:headEnd type="none" w="med" len="med"/>
                      <a:tailEnd type="none" w="med" len="med"/>
                    </a:lnB>
                  </a:tcPr>
                </a:tc>
              </a:tr>
              <a:tr h="274320">
                <a:tc>
                  <a:txBody>
                    <a:bodyPr/>
                    <a:lstStyle/>
                    <a:p>
                      <a:pPr indent="0" marL="0">
                        <a:buNone/>
                      </a:pPr>
                      <a:r>
                        <a:rPr lang="en-US" sz="1100" dirty="0">
                          <a:solidFill>
                            <a:srgbClr val="1F2A24"/>
                          </a:solidFill>
                          <a:latin typeface="Calibri" pitchFamily="34" charset="0"/>
                          <a:ea typeface="Calibri" pitchFamily="34" charset="-122"/>
                          <a:cs typeface="Calibri" pitchFamily="34" charset="-120"/>
                        </a:rPr>
                        <a:t>Pulses</a:t>
                      </a:r>
                      <a:endParaRPr lang="en-US" sz="1100" dirty="0">
                        <a:latin typeface="Calibri" charset="0"/>
                        <a:ea typeface="Calibri" charset="0"/>
                        <a:cs typeface="Calibri" charset="0"/>
                      </a:endParaRPr>
                    </a:p>
                  </a:txBody>
                  <a:tcPr marL="91440" marR="91440" marT="45720" marB="45720">
                    <a:lnL w="12700" cap="flat" cmpd="sng" algn="ctr">
                      <a:solidFill>
                        <a:srgbClr val="66BB6A"/>
                      </a:solidFill>
                      <a:prstDash val="solid"/>
                      <a:round/>
                      <a:headEnd type="none" w="med" len="med"/>
                      <a:tailEnd type="none" w="med" len="med"/>
                    </a:lnL>
                    <a:lnR w="12700" cap="flat" cmpd="sng" algn="ctr">
                      <a:solidFill>
                        <a:srgbClr val="66BB6A"/>
                      </a:solidFill>
                      <a:prstDash val="solid"/>
                      <a:round/>
                      <a:headEnd type="none" w="med" len="med"/>
                      <a:tailEnd type="none" w="med" len="med"/>
                    </a:lnR>
                    <a:lnT w="12700" cap="flat" cmpd="sng" algn="ctr">
                      <a:solidFill>
                        <a:srgbClr val="66BB6A"/>
                      </a:solidFill>
                      <a:prstDash val="solid"/>
                      <a:round/>
                      <a:headEnd type="none" w="med" len="med"/>
                      <a:tailEnd type="none" w="med" len="med"/>
                    </a:lnT>
                    <a:lnB w="12700" cap="flat" cmpd="sng" algn="ctr">
                      <a:solidFill>
                        <a:srgbClr val="66BB6A"/>
                      </a:solidFill>
                      <a:prstDash val="solid"/>
                      <a:round/>
                      <a:headEnd type="none" w="med" len="med"/>
                      <a:tailEnd type="none" w="med" len="med"/>
                    </a:lnB>
                  </a:tcPr>
                </a:tc>
                <a:tc>
                  <a:txBody>
                    <a:bodyPr/>
                    <a:lstStyle/>
                    <a:p>
                      <a:pPr indent="0" marL="0">
                        <a:buNone/>
                      </a:pPr>
                      <a:r>
                        <a:rPr lang="en-US" sz="1100" i="1" dirty="0">
                          <a:solidFill>
                            <a:srgbClr val="1F2A24"/>
                          </a:solidFill>
                          <a:latin typeface="Calibri" pitchFamily="34" charset="0"/>
                          <a:ea typeface="Calibri" pitchFamily="34" charset="-122"/>
                          <a:cs typeface="Calibri" pitchFamily="34" charset="-120"/>
                        </a:rPr>
                        <a:t>--- (illustrative)</a:t>
                      </a:r>
                      <a:endParaRPr lang="en-US" sz="1100" dirty="0">
                        <a:latin typeface="Calibri" charset="0"/>
                        <a:ea typeface="Calibri" charset="0"/>
                        <a:cs typeface="Calibri" charset="0"/>
                      </a:endParaRPr>
                    </a:p>
                  </a:txBody>
                  <a:tcPr marL="91440" marR="91440" marT="45720" marB="45720">
                    <a:lnL w="12700" cap="flat" cmpd="sng" algn="ctr">
                      <a:solidFill>
                        <a:srgbClr val="66BB6A"/>
                      </a:solidFill>
                      <a:prstDash val="solid"/>
                      <a:round/>
                      <a:headEnd type="none" w="med" len="med"/>
                      <a:tailEnd type="none" w="med" len="med"/>
                    </a:lnL>
                    <a:lnR w="12700" cap="flat" cmpd="sng" algn="ctr">
                      <a:solidFill>
                        <a:srgbClr val="66BB6A"/>
                      </a:solidFill>
                      <a:prstDash val="solid"/>
                      <a:round/>
                      <a:headEnd type="none" w="med" len="med"/>
                      <a:tailEnd type="none" w="med" len="med"/>
                    </a:lnR>
                    <a:lnT w="12700" cap="flat" cmpd="sng" algn="ctr">
                      <a:solidFill>
                        <a:srgbClr val="66BB6A"/>
                      </a:solidFill>
                      <a:prstDash val="solid"/>
                      <a:round/>
                      <a:headEnd type="none" w="med" len="med"/>
                      <a:tailEnd type="none" w="med" len="med"/>
                    </a:lnT>
                    <a:lnB w="12700" cap="flat" cmpd="sng" algn="ctr">
                      <a:solidFill>
                        <a:srgbClr val="66BB6A"/>
                      </a:solidFill>
                      <a:prstDash val="solid"/>
                      <a:round/>
                      <a:headEnd type="none" w="med" len="med"/>
                      <a:tailEnd type="none" w="med" len="med"/>
                    </a:lnB>
                  </a:tcPr>
                </a:tc>
              </a:tr>
              <a:tr h="274320">
                <a:tc>
                  <a:txBody>
                    <a:bodyPr/>
                    <a:lstStyle/>
                    <a:p>
                      <a:pPr indent="0" marL="0">
                        <a:buNone/>
                      </a:pPr>
                      <a:r>
                        <a:rPr lang="en-US" sz="1100" dirty="0">
                          <a:solidFill>
                            <a:srgbClr val="1F2A24"/>
                          </a:solidFill>
                          <a:latin typeface="Calibri" pitchFamily="34" charset="0"/>
                          <a:ea typeface="Calibri" pitchFamily="34" charset="-122"/>
                          <a:cs typeface="Calibri" pitchFamily="34" charset="-120"/>
                        </a:rPr>
                        <a:t>Fruits</a:t>
                      </a:r>
                      <a:endParaRPr lang="en-US" sz="1100" dirty="0">
                        <a:latin typeface="Calibri" charset="0"/>
                        <a:ea typeface="Calibri" charset="0"/>
                        <a:cs typeface="Calibri" charset="0"/>
                      </a:endParaRPr>
                    </a:p>
                  </a:txBody>
                  <a:tcPr marL="91440" marR="91440" marT="45720" marB="45720">
                    <a:lnL w="12700" cap="flat" cmpd="sng" algn="ctr">
                      <a:solidFill>
                        <a:srgbClr val="66BB6A"/>
                      </a:solidFill>
                      <a:prstDash val="solid"/>
                      <a:round/>
                      <a:headEnd type="none" w="med" len="med"/>
                      <a:tailEnd type="none" w="med" len="med"/>
                    </a:lnL>
                    <a:lnR w="12700" cap="flat" cmpd="sng" algn="ctr">
                      <a:solidFill>
                        <a:srgbClr val="66BB6A"/>
                      </a:solidFill>
                      <a:prstDash val="solid"/>
                      <a:round/>
                      <a:headEnd type="none" w="med" len="med"/>
                      <a:tailEnd type="none" w="med" len="med"/>
                    </a:lnR>
                    <a:lnT w="12700" cap="flat" cmpd="sng" algn="ctr">
                      <a:solidFill>
                        <a:srgbClr val="66BB6A"/>
                      </a:solidFill>
                      <a:prstDash val="solid"/>
                      <a:round/>
                      <a:headEnd type="none" w="med" len="med"/>
                      <a:tailEnd type="none" w="med" len="med"/>
                    </a:lnT>
                    <a:lnB w="12700" cap="flat" cmpd="sng" algn="ctr">
                      <a:solidFill>
                        <a:srgbClr val="66BB6A"/>
                      </a:solidFill>
                      <a:prstDash val="solid"/>
                      <a:round/>
                      <a:headEnd type="none" w="med" len="med"/>
                      <a:tailEnd type="none" w="med" len="med"/>
                    </a:lnB>
                  </a:tcPr>
                </a:tc>
                <a:tc>
                  <a:txBody>
                    <a:bodyPr/>
                    <a:lstStyle/>
                    <a:p>
                      <a:pPr indent="0" marL="0">
                        <a:buNone/>
                      </a:pPr>
                      <a:r>
                        <a:rPr lang="en-US" sz="1100" i="1" dirty="0">
                          <a:solidFill>
                            <a:srgbClr val="1F2A24"/>
                          </a:solidFill>
                          <a:latin typeface="Calibri" pitchFamily="34" charset="0"/>
                          <a:ea typeface="Calibri" pitchFamily="34" charset="-122"/>
                          <a:cs typeface="Calibri" pitchFamily="34" charset="-120"/>
                        </a:rPr>
                        <a:t>--- (illustrative)</a:t>
                      </a:r>
                      <a:endParaRPr lang="en-US" sz="1100" dirty="0">
                        <a:latin typeface="Calibri" charset="0"/>
                        <a:ea typeface="Calibri" charset="0"/>
                        <a:cs typeface="Calibri" charset="0"/>
                      </a:endParaRPr>
                    </a:p>
                  </a:txBody>
                  <a:tcPr marL="91440" marR="91440" marT="45720" marB="45720">
                    <a:lnL w="12700" cap="flat" cmpd="sng" algn="ctr">
                      <a:solidFill>
                        <a:srgbClr val="66BB6A"/>
                      </a:solidFill>
                      <a:prstDash val="solid"/>
                      <a:round/>
                      <a:headEnd type="none" w="med" len="med"/>
                      <a:tailEnd type="none" w="med" len="med"/>
                    </a:lnL>
                    <a:lnR w="12700" cap="flat" cmpd="sng" algn="ctr">
                      <a:solidFill>
                        <a:srgbClr val="66BB6A"/>
                      </a:solidFill>
                      <a:prstDash val="solid"/>
                      <a:round/>
                      <a:headEnd type="none" w="med" len="med"/>
                      <a:tailEnd type="none" w="med" len="med"/>
                    </a:lnR>
                    <a:lnT w="12700" cap="flat" cmpd="sng" algn="ctr">
                      <a:solidFill>
                        <a:srgbClr val="66BB6A"/>
                      </a:solidFill>
                      <a:prstDash val="solid"/>
                      <a:round/>
                      <a:headEnd type="none" w="med" len="med"/>
                      <a:tailEnd type="none" w="med" len="med"/>
                    </a:lnT>
                    <a:lnB w="12700" cap="flat" cmpd="sng" algn="ctr">
                      <a:solidFill>
                        <a:srgbClr val="66BB6A"/>
                      </a:solidFill>
                      <a:prstDash val="solid"/>
                      <a:round/>
                      <a:headEnd type="none" w="med" len="med"/>
                      <a:tailEnd type="none" w="med" len="med"/>
                    </a:lnB>
                  </a:tcPr>
                </a:tc>
              </a:tr>
            </a:tbl>
          </a:graphicData>
        </a:graphic>
      </p:graphicFrame>
      <p:sp>
        <p:nvSpPr>
          <p:cNvPr id="9" name="Text 4"/>
          <p:cNvSpPr txBox="1"/>
          <p:nvPr/>
        </p:nvSpPr>
        <p:spPr>
          <a:xfrm>
            <a:off x="4663440" y="4434840"/>
            <a:ext cx="4023360" cy="228600"/>
          </a:xfrm>
          <a:prstGeom prst="rect">
            <a:avLst/>
          </a:prstGeom>
          <a:noFill/>
          <a:ln/>
        </p:spPr>
        <p:txBody>
          <a:bodyPr wrap="square" lIns="0" tIns="0" rIns="0" bIns="0" rtlCol="0" anchor="t"/>
          <a:lstStyle/>
          <a:p>
            <a:pPr indent="0" marL="0">
              <a:buNone/>
            </a:pPr>
            <a:r>
              <a:rPr lang="en-US" sz="1050" i="1" dirty="0">
                <a:solidFill>
                  <a:srgbClr val="5F6B61"/>
                </a:solidFill>
                <a:latin typeface="Calibri" pitchFamily="34" charset="0"/>
                <a:ea typeface="Calibri" pitchFamily="34" charset="-122"/>
                <a:cs typeface="Calibri" pitchFamily="34" charset="-120"/>
              </a:rPr>
              <a:t>Conceptual dashboard - placeholder fields, no real prices</a:t>
            </a:r>
            <a:endParaRPr lang="en-US" sz="1050" dirty="0"/>
          </a:p>
        </p:txBody>
      </p:sp>
      <p:sp>
        <p:nvSpPr>
          <p:cNvPr id="25" name="Slide Number Placeholder 0"/>
          <p:cNvSpPr>
            <a:spLocks noGrp="1"/>
          </p:cNvSpPr>
          <p:nvPr>
            <p:ph type="sldNum" sz="quarter" idx="4294967295"/>
          </p:nvPr>
        </p:nvSpPr>
        <p:spPr>
          <a:xfrm>
            <a:off x="822960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F6B61"/>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rgbClr val="1B5E20"/>
                </a:solidFill>
                <a:latin typeface="Calibri" pitchFamily="34" charset="0"/>
                <a:ea typeface="Calibri" pitchFamily="34" charset="-122"/>
                <a:cs typeface="Calibri" pitchFamily="34" charset="-120"/>
              </a:rPr>
              <a:t>Customer Connection</a:t>
            </a:r>
            <a:endParaRPr lang="en-US" sz="2800" dirty="0"/>
          </a:p>
        </p:txBody>
      </p:sp>
      <p:sp>
        <p:nvSpPr>
          <p:cNvPr id="4" name="Shape 1"/>
          <p:cNvSpPr/>
          <p:nvPr/>
        </p:nvSpPr>
        <p:spPr>
          <a:xfrm>
            <a:off x="457200" y="1005840"/>
            <a:ext cx="1783080" cy="1051560"/>
          </a:xfrm>
          <a:prstGeom prst="roundRect">
            <a:avLst>
              <a:gd name="adj" fmla="val 6957"/>
            </a:avLst>
          </a:prstGeom>
          <a:solidFill>
            <a:srgbClr val="F5F1E8"/>
          </a:solidFill>
          <a:ln w="12700">
            <a:solidFill>
              <a:srgbClr val="66BB6A"/>
            </a:solidFill>
            <a:prstDash val="solid"/>
          </a:ln>
        </p:spPr>
      </p:sp>
      <p:pic>
        <p:nvPicPr>
          <p:cNvPr id="5" name="Image 0" descr="preencoded.png">    </p:cNvPr>
          <p:cNvPicPr>
            <a:picLocks noChangeAspect="1"/>
          </p:cNvPicPr>
          <p:nvPr/>
        </p:nvPicPr>
        <p:blipFill>
          <a:blip r:embed="rId1"/>
          <a:stretch>
            <a:fillRect/>
          </a:stretch>
        </p:blipFill>
        <p:spPr>
          <a:xfrm>
            <a:off x="1165860" y="1115568"/>
            <a:ext cx="365760" cy="365760"/>
          </a:xfrm>
          <a:prstGeom prst="rect">
            <a:avLst/>
          </a:prstGeom>
        </p:spPr>
      </p:pic>
      <p:sp>
        <p:nvSpPr>
          <p:cNvPr id="6" name="Text 2"/>
          <p:cNvSpPr txBox="1"/>
          <p:nvPr/>
        </p:nvSpPr>
        <p:spPr>
          <a:xfrm>
            <a:off x="548640" y="1554480"/>
            <a:ext cx="1600200" cy="457200"/>
          </a:xfrm>
          <a:prstGeom prst="rect">
            <a:avLst/>
          </a:prstGeom>
          <a:noFill/>
          <a:ln/>
        </p:spPr>
        <p:txBody>
          <a:bodyPr wrap="square" lIns="0" tIns="0" rIns="0" bIns="0" rtlCol="0" anchor="t"/>
          <a:lstStyle/>
          <a:p>
            <a:pPr algn="ctr" indent="0" marL="0">
              <a:buNone/>
            </a:pPr>
            <a:r>
              <a:rPr lang="en-US" sz="1400" b="1" dirty="0">
                <a:solidFill>
                  <a:srgbClr val="1F2A24"/>
                </a:solidFill>
                <a:latin typeface="Calibri" pitchFamily="34" charset="0"/>
                <a:ea typeface="Calibri" pitchFamily="34" charset="-122"/>
                <a:cs typeface="Calibri" pitchFamily="34" charset="-120"/>
              </a:rPr>
              <a:t>Farmer</a:t>
            </a:r>
            <a:endParaRPr lang="en-US" sz="1400" dirty="0"/>
          </a:p>
        </p:txBody>
      </p:sp>
      <p:sp>
        <p:nvSpPr>
          <p:cNvPr id="7" name="Shape 3"/>
          <p:cNvSpPr/>
          <p:nvPr/>
        </p:nvSpPr>
        <p:spPr>
          <a:xfrm>
            <a:off x="2276856" y="1531620"/>
            <a:ext cx="292608" cy="0"/>
          </a:xfrm>
          <a:prstGeom prst="line">
            <a:avLst/>
          </a:prstGeom>
          <a:noFill/>
          <a:ln w="28575">
            <a:solidFill>
              <a:srgbClr val="1B5E20"/>
            </a:solidFill>
            <a:prstDash val="solid"/>
            <a:tailEnd type="triangle"/>
          </a:ln>
        </p:spPr>
      </p:sp>
      <p:sp>
        <p:nvSpPr>
          <p:cNvPr id="8" name="Shape 4"/>
          <p:cNvSpPr/>
          <p:nvPr/>
        </p:nvSpPr>
        <p:spPr>
          <a:xfrm>
            <a:off x="2606040" y="1005840"/>
            <a:ext cx="1783080" cy="1051560"/>
          </a:xfrm>
          <a:prstGeom prst="roundRect">
            <a:avLst>
              <a:gd name="adj" fmla="val 6957"/>
            </a:avLst>
          </a:prstGeom>
          <a:solidFill>
            <a:srgbClr val="F5F1E8"/>
          </a:solidFill>
          <a:ln w="12700">
            <a:solidFill>
              <a:srgbClr val="66BB6A"/>
            </a:solidFill>
            <a:prstDash val="solid"/>
          </a:ln>
        </p:spPr>
      </p:sp>
      <p:pic>
        <p:nvPicPr>
          <p:cNvPr id="9" name="Image 1" descr="preencoded.png">    </p:cNvPr>
          <p:cNvPicPr>
            <a:picLocks noChangeAspect="1"/>
          </p:cNvPicPr>
          <p:nvPr/>
        </p:nvPicPr>
        <p:blipFill>
          <a:blip r:embed="rId2"/>
          <a:stretch>
            <a:fillRect/>
          </a:stretch>
        </p:blipFill>
        <p:spPr>
          <a:xfrm>
            <a:off x="3314700" y="1115568"/>
            <a:ext cx="365760" cy="365760"/>
          </a:xfrm>
          <a:prstGeom prst="rect">
            <a:avLst/>
          </a:prstGeom>
        </p:spPr>
      </p:pic>
      <p:sp>
        <p:nvSpPr>
          <p:cNvPr id="10" name="Text 5"/>
          <p:cNvSpPr txBox="1"/>
          <p:nvPr/>
        </p:nvSpPr>
        <p:spPr>
          <a:xfrm>
            <a:off x="2697480" y="1554480"/>
            <a:ext cx="1600200" cy="457200"/>
          </a:xfrm>
          <a:prstGeom prst="rect">
            <a:avLst/>
          </a:prstGeom>
          <a:noFill/>
          <a:ln/>
        </p:spPr>
        <p:txBody>
          <a:bodyPr wrap="square" lIns="0" tIns="0" rIns="0" bIns="0" rtlCol="0" anchor="t"/>
          <a:lstStyle/>
          <a:p>
            <a:pPr algn="ctr" indent="0" marL="0">
              <a:buNone/>
            </a:pPr>
            <a:r>
              <a:rPr lang="en-US" sz="1400" b="1" dirty="0">
                <a:solidFill>
                  <a:srgbClr val="1F2A24"/>
                </a:solidFill>
                <a:latin typeface="Calibri" pitchFamily="34" charset="0"/>
                <a:ea typeface="Calibri" pitchFamily="34" charset="-122"/>
                <a:cs typeface="Calibri" pitchFamily="34" charset="-120"/>
              </a:rPr>
              <a:t>Produce Information</a:t>
            </a:r>
            <a:endParaRPr lang="en-US" sz="1400" dirty="0"/>
          </a:p>
        </p:txBody>
      </p:sp>
      <p:sp>
        <p:nvSpPr>
          <p:cNvPr id="11" name="Shape 6"/>
          <p:cNvSpPr/>
          <p:nvPr/>
        </p:nvSpPr>
        <p:spPr>
          <a:xfrm>
            <a:off x="4425696" y="1531620"/>
            <a:ext cx="292608" cy="0"/>
          </a:xfrm>
          <a:prstGeom prst="line">
            <a:avLst/>
          </a:prstGeom>
          <a:noFill/>
          <a:ln w="28575">
            <a:solidFill>
              <a:srgbClr val="1B5E20"/>
            </a:solidFill>
            <a:prstDash val="solid"/>
            <a:tailEnd type="triangle"/>
          </a:ln>
        </p:spPr>
      </p:sp>
      <p:sp>
        <p:nvSpPr>
          <p:cNvPr id="12" name="Shape 7"/>
          <p:cNvSpPr/>
          <p:nvPr/>
        </p:nvSpPr>
        <p:spPr>
          <a:xfrm>
            <a:off x="4754880" y="1005840"/>
            <a:ext cx="1783080" cy="1051560"/>
          </a:xfrm>
          <a:prstGeom prst="roundRect">
            <a:avLst>
              <a:gd name="adj" fmla="val 6957"/>
            </a:avLst>
          </a:prstGeom>
          <a:solidFill>
            <a:srgbClr val="F5F1E8"/>
          </a:solidFill>
          <a:ln w="12700">
            <a:solidFill>
              <a:srgbClr val="66BB6A"/>
            </a:solidFill>
            <a:prstDash val="solid"/>
          </a:ln>
        </p:spPr>
      </p:sp>
      <p:pic>
        <p:nvPicPr>
          <p:cNvPr id="13" name="Image 2" descr="preencoded.png">    </p:cNvPr>
          <p:cNvPicPr>
            <a:picLocks noChangeAspect="1"/>
          </p:cNvPicPr>
          <p:nvPr/>
        </p:nvPicPr>
        <p:blipFill>
          <a:blip r:embed="rId3"/>
          <a:stretch>
            <a:fillRect/>
          </a:stretch>
        </p:blipFill>
        <p:spPr>
          <a:xfrm>
            <a:off x="5463540" y="1115568"/>
            <a:ext cx="365760" cy="365760"/>
          </a:xfrm>
          <a:prstGeom prst="rect">
            <a:avLst/>
          </a:prstGeom>
        </p:spPr>
      </p:pic>
      <p:sp>
        <p:nvSpPr>
          <p:cNvPr id="14" name="Text 8"/>
          <p:cNvSpPr txBox="1"/>
          <p:nvPr/>
        </p:nvSpPr>
        <p:spPr>
          <a:xfrm>
            <a:off x="4846320" y="1554480"/>
            <a:ext cx="1600200" cy="457200"/>
          </a:xfrm>
          <a:prstGeom prst="rect">
            <a:avLst/>
          </a:prstGeom>
          <a:noFill/>
          <a:ln/>
        </p:spPr>
        <p:txBody>
          <a:bodyPr wrap="square" lIns="0" tIns="0" rIns="0" bIns="0" rtlCol="0" anchor="t"/>
          <a:lstStyle/>
          <a:p>
            <a:pPr algn="ctr" indent="0" marL="0">
              <a:buNone/>
            </a:pPr>
            <a:r>
              <a:rPr lang="en-US" sz="1400" b="1" dirty="0">
                <a:solidFill>
                  <a:srgbClr val="1F2A24"/>
                </a:solidFill>
                <a:latin typeface="Calibri" pitchFamily="34" charset="0"/>
                <a:ea typeface="Calibri" pitchFamily="34" charset="-122"/>
                <a:cs typeface="Calibri" pitchFamily="34" charset="-120"/>
              </a:rPr>
              <a:t>Customer Connection</a:t>
            </a:r>
            <a:endParaRPr lang="en-US" sz="1400" dirty="0"/>
          </a:p>
        </p:txBody>
      </p:sp>
      <p:sp>
        <p:nvSpPr>
          <p:cNvPr id="15" name="Shape 9"/>
          <p:cNvSpPr/>
          <p:nvPr/>
        </p:nvSpPr>
        <p:spPr>
          <a:xfrm>
            <a:off x="6574536" y="1531620"/>
            <a:ext cx="292608" cy="0"/>
          </a:xfrm>
          <a:prstGeom prst="line">
            <a:avLst/>
          </a:prstGeom>
          <a:noFill/>
          <a:ln w="28575">
            <a:solidFill>
              <a:srgbClr val="1B5E20"/>
            </a:solidFill>
            <a:prstDash val="solid"/>
            <a:tailEnd type="triangle"/>
          </a:ln>
        </p:spPr>
      </p:sp>
      <p:sp>
        <p:nvSpPr>
          <p:cNvPr id="16" name="Shape 10"/>
          <p:cNvSpPr/>
          <p:nvPr/>
        </p:nvSpPr>
        <p:spPr>
          <a:xfrm>
            <a:off x="6903720" y="1005840"/>
            <a:ext cx="1783080" cy="1051560"/>
          </a:xfrm>
          <a:prstGeom prst="roundRect">
            <a:avLst>
              <a:gd name="adj" fmla="val 6957"/>
            </a:avLst>
          </a:prstGeom>
          <a:solidFill>
            <a:srgbClr val="F5F1E8"/>
          </a:solidFill>
          <a:ln w="12700">
            <a:solidFill>
              <a:srgbClr val="66BB6A"/>
            </a:solidFill>
            <a:prstDash val="solid"/>
          </a:ln>
        </p:spPr>
      </p:sp>
      <p:pic>
        <p:nvPicPr>
          <p:cNvPr id="17" name="Image 3" descr="preencoded.png">    </p:cNvPr>
          <p:cNvPicPr>
            <a:picLocks noChangeAspect="1"/>
          </p:cNvPicPr>
          <p:nvPr/>
        </p:nvPicPr>
        <p:blipFill>
          <a:blip r:embed="rId4"/>
          <a:stretch>
            <a:fillRect/>
          </a:stretch>
        </p:blipFill>
        <p:spPr>
          <a:xfrm>
            <a:off x="7612380" y="1115568"/>
            <a:ext cx="365760" cy="365760"/>
          </a:xfrm>
          <a:prstGeom prst="rect">
            <a:avLst/>
          </a:prstGeom>
        </p:spPr>
      </p:pic>
      <p:sp>
        <p:nvSpPr>
          <p:cNvPr id="18" name="Text 11"/>
          <p:cNvSpPr txBox="1"/>
          <p:nvPr/>
        </p:nvSpPr>
        <p:spPr>
          <a:xfrm>
            <a:off x="6995160" y="1554480"/>
            <a:ext cx="1600200" cy="457200"/>
          </a:xfrm>
          <a:prstGeom prst="rect">
            <a:avLst/>
          </a:prstGeom>
          <a:noFill/>
          <a:ln/>
        </p:spPr>
        <p:txBody>
          <a:bodyPr wrap="square" lIns="0" tIns="0" rIns="0" bIns="0" rtlCol="0" anchor="t"/>
          <a:lstStyle/>
          <a:p>
            <a:pPr algn="ctr" indent="0" marL="0">
              <a:buNone/>
            </a:pPr>
            <a:r>
              <a:rPr lang="en-US" sz="1400" b="1" dirty="0">
                <a:solidFill>
                  <a:srgbClr val="1F2A24"/>
                </a:solidFill>
                <a:latin typeface="Calibri" pitchFamily="34" charset="0"/>
                <a:ea typeface="Calibri" pitchFamily="34" charset="-122"/>
                <a:cs typeface="Calibri" pitchFamily="34" charset="-120"/>
              </a:rPr>
              <a:t>Sale Coordination</a:t>
            </a:r>
            <a:endParaRPr lang="en-US" sz="1400" dirty="0"/>
          </a:p>
        </p:txBody>
      </p:sp>
      <p:sp>
        <p:nvSpPr>
          <p:cNvPr id="19" name="Text 12"/>
          <p:cNvSpPr txBox="1"/>
          <p:nvPr/>
        </p:nvSpPr>
        <p:spPr>
          <a:xfrm>
            <a:off x="457200" y="2377440"/>
            <a:ext cx="2834640" cy="21945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F2A24"/>
                </a:solidFill>
                <a:latin typeface="Calibri" pitchFamily="34" charset="0"/>
                <a:ea typeface="Calibri" pitchFamily="34" charset="-122"/>
                <a:cs typeface="Calibri" pitchFamily="34" charset="-120"/>
              </a:rPr>
              <a:t>Connect farmers and potential customers</a:t>
            </a:r>
            <a:endParaRPr lang="en-US" sz="1400" dirty="0"/>
          </a:p>
          <a:p>
            <a:pPr marL="342900" indent="-342900">
              <a:spcAft>
                <a:spcPts val="500"/>
              </a:spcAft>
              <a:buSzPct val="100000"/>
              <a:buChar char="•"/>
            </a:pPr>
            <a:r>
              <a:rPr lang="en-US" sz="1400" dirty="0">
                <a:solidFill>
                  <a:srgbClr val="1F2A24"/>
                </a:solidFill>
                <a:latin typeface="Calibri" pitchFamily="34" charset="0"/>
                <a:ea typeface="Calibri" pitchFamily="34" charset="-122"/>
                <a:cs typeface="Calibri" pitchFamily="34" charset="-120"/>
              </a:rPr>
              <a:t>Display available produce</a:t>
            </a:r>
            <a:endParaRPr lang="en-US" sz="1400" dirty="0"/>
          </a:p>
          <a:p>
            <a:pPr marL="342900" indent="-342900">
              <a:spcAft>
                <a:spcPts val="500"/>
              </a:spcAft>
              <a:buSzPct val="100000"/>
              <a:buChar char="•"/>
            </a:pPr>
            <a:r>
              <a:rPr lang="en-US" sz="1400" dirty="0">
                <a:solidFill>
                  <a:srgbClr val="1F2A24"/>
                </a:solidFill>
                <a:latin typeface="Calibri" pitchFamily="34" charset="0"/>
                <a:ea typeface="Calibri" pitchFamily="34" charset="-122"/>
                <a:cs typeface="Calibri" pitchFamily="34" charset="-120"/>
              </a:rPr>
              <a:t>Support direct communication</a:t>
            </a:r>
            <a:endParaRPr lang="en-US" sz="1400" dirty="0"/>
          </a:p>
          <a:p>
            <a:pPr marL="342900" indent="-342900">
              <a:spcAft>
                <a:spcPts val="500"/>
              </a:spcAft>
              <a:buSzPct val="100000"/>
              <a:buChar char="•"/>
            </a:pPr>
            <a:r>
              <a:rPr lang="en-US" sz="1400" dirty="0">
                <a:solidFill>
                  <a:srgbClr val="1F2A24"/>
                </a:solidFill>
                <a:latin typeface="Calibri" pitchFamily="34" charset="0"/>
                <a:ea typeface="Calibri" pitchFamily="34" charset="-122"/>
                <a:cs typeface="Calibri" pitchFamily="34" charset="-120"/>
              </a:rPr>
              <a:t>Help coordinate produce sales</a:t>
            </a:r>
            <a:endParaRPr lang="en-US" sz="1400" dirty="0"/>
          </a:p>
        </p:txBody>
      </p:sp>
      <p:sp>
        <p:nvSpPr>
          <p:cNvPr id="20" name="Shape 13"/>
          <p:cNvSpPr/>
          <p:nvPr/>
        </p:nvSpPr>
        <p:spPr>
          <a:xfrm>
            <a:off x="3474720" y="2377440"/>
            <a:ext cx="2377440" cy="2103120"/>
          </a:xfrm>
          <a:prstGeom prst="roundRect">
            <a:avLst>
              <a:gd name="adj" fmla="val 3478"/>
            </a:avLst>
          </a:prstGeom>
          <a:solidFill>
            <a:srgbClr val="E8F5E9"/>
          </a:solidFill>
          <a:ln w="12700">
            <a:solidFill>
              <a:srgbClr val="66BB6A"/>
            </a:solidFill>
            <a:prstDash val="solid"/>
          </a:ln>
        </p:spPr>
      </p:sp>
      <p:pic>
        <p:nvPicPr>
          <p:cNvPr id="21" name="Image 4" descr="preencoded.png">    </p:cNvPr>
          <p:cNvPicPr>
            <a:picLocks noChangeAspect="1"/>
          </p:cNvPicPr>
          <p:nvPr/>
        </p:nvPicPr>
        <p:blipFill>
          <a:blip r:embed="rId5"/>
          <a:stretch>
            <a:fillRect/>
          </a:stretch>
        </p:blipFill>
        <p:spPr>
          <a:xfrm>
            <a:off x="4480560" y="2926080"/>
            <a:ext cx="365760" cy="365760"/>
          </a:xfrm>
          <a:prstGeom prst="rect">
            <a:avLst/>
          </a:prstGeom>
        </p:spPr>
      </p:pic>
      <p:sp>
        <p:nvSpPr>
          <p:cNvPr id="22" name="Text 14"/>
          <p:cNvSpPr txBox="1"/>
          <p:nvPr/>
        </p:nvSpPr>
        <p:spPr>
          <a:xfrm>
            <a:off x="3584448" y="3383280"/>
            <a:ext cx="2157984" cy="960120"/>
          </a:xfrm>
          <a:prstGeom prst="rect">
            <a:avLst/>
          </a:prstGeom>
          <a:noFill/>
          <a:ln/>
        </p:spPr>
        <p:txBody>
          <a:bodyPr wrap="square" lIns="0" tIns="0" rIns="0" bIns="0" rtlCol="0" anchor="t"/>
          <a:lstStyle/>
          <a:p>
            <a:pPr algn="ctr" indent="0" marL="0">
              <a:buNone/>
            </a:pPr>
            <a:r>
              <a:rPr lang="en-US" sz="1100" dirty="0">
                <a:solidFill>
                  <a:srgbClr val="5F6B61"/>
                </a:solidFill>
                <a:latin typeface="Calibri" pitchFamily="34" charset="0"/>
                <a:ea typeface="Calibri" pitchFamily="34" charset="-122"/>
                <a:cs typeface="Calibri" pitchFamily="34" charset="-120"/>
              </a:rPr>
              <a:t>PHOTO: Indian farmer handing fresh vegetables to a customer</a:t>
            </a:r>
            <a:endParaRPr lang="en-US" sz="1100" dirty="0"/>
          </a:p>
        </p:txBody>
      </p:sp>
      <p:sp>
        <p:nvSpPr>
          <p:cNvPr id="23" name="Shape 15"/>
          <p:cNvSpPr/>
          <p:nvPr/>
        </p:nvSpPr>
        <p:spPr>
          <a:xfrm>
            <a:off x="6035040" y="2377440"/>
            <a:ext cx="2651760" cy="2103120"/>
          </a:xfrm>
          <a:prstGeom prst="roundRect">
            <a:avLst>
              <a:gd name="adj" fmla="val 3478"/>
            </a:avLst>
          </a:prstGeom>
          <a:solidFill>
            <a:srgbClr val="FFFFFF"/>
          </a:solidFill>
          <a:ln w="12700">
            <a:solidFill>
              <a:srgbClr val="66BB6A"/>
            </a:solidFill>
            <a:prstDash val="solid"/>
          </a:ln>
        </p:spPr>
      </p:sp>
      <p:sp>
        <p:nvSpPr>
          <p:cNvPr id="24" name="Shape 16"/>
          <p:cNvSpPr/>
          <p:nvPr/>
        </p:nvSpPr>
        <p:spPr>
          <a:xfrm>
            <a:off x="6172200" y="2514600"/>
            <a:ext cx="457200" cy="457200"/>
          </a:xfrm>
          <a:prstGeom prst="ellipse">
            <a:avLst/>
          </a:prstGeom>
          <a:solidFill>
            <a:srgbClr val="1B5E20"/>
          </a:solidFill>
          <a:ln w="12700">
            <a:solidFill>
              <a:srgbClr val="1B5E20"/>
            </a:solidFill>
            <a:prstDash val="solid"/>
          </a:ln>
        </p:spPr>
      </p:sp>
      <p:pic>
        <p:nvPicPr>
          <p:cNvPr id="25" name="Image 5" descr="preencoded.png">    </p:cNvPr>
          <p:cNvPicPr>
            <a:picLocks noChangeAspect="1"/>
          </p:cNvPicPr>
          <p:nvPr/>
        </p:nvPicPr>
        <p:blipFill>
          <a:blip r:embed="rId6"/>
          <a:stretch>
            <a:fillRect/>
          </a:stretch>
        </p:blipFill>
        <p:spPr>
          <a:xfrm>
            <a:off x="6286500" y="2628900"/>
            <a:ext cx="228600" cy="228600"/>
          </a:xfrm>
          <a:prstGeom prst="rect">
            <a:avLst/>
          </a:prstGeom>
        </p:spPr>
      </p:pic>
      <p:sp>
        <p:nvSpPr>
          <p:cNvPr id="26" name="Shape 17"/>
          <p:cNvSpPr/>
          <p:nvPr/>
        </p:nvSpPr>
        <p:spPr>
          <a:xfrm>
            <a:off x="7132320" y="2514600"/>
            <a:ext cx="457200" cy="457200"/>
          </a:xfrm>
          <a:prstGeom prst="ellipse">
            <a:avLst/>
          </a:prstGeom>
          <a:solidFill>
            <a:srgbClr val="1B5E20"/>
          </a:solidFill>
          <a:ln w="12700">
            <a:solidFill>
              <a:srgbClr val="1B5E20"/>
            </a:solidFill>
            <a:prstDash val="solid"/>
          </a:ln>
        </p:spPr>
      </p:sp>
      <p:pic>
        <p:nvPicPr>
          <p:cNvPr id="27" name="Image 6" descr="preencoded.png">    </p:cNvPr>
          <p:cNvPicPr>
            <a:picLocks noChangeAspect="1"/>
          </p:cNvPicPr>
          <p:nvPr/>
        </p:nvPicPr>
        <p:blipFill>
          <a:blip r:embed="rId7"/>
          <a:stretch>
            <a:fillRect/>
          </a:stretch>
        </p:blipFill>
        <p:spPr>
          <a:xfrm>
            <a:off x="7246620" y="2628900"/>
            <a:ext cx="228600" cy="228600"/>
          </a:xfrm>
          <a:prstGeom prst="rect">
            <a:avLst/>
          </a:prstGeom>
        </p:spPr>
      </p:pic>
      <p:sp>
        <p:nvSpPr>
          <p:cNvPr id="28" name="Shape 18"/>
          <p:cNvSpPr/>
          <p:nvPr/>
        </p:nvSpPr>
        <p:spPr>
          <a:xfrm>
            <a:off x="8092440" y="2514600"/>
            <a:ext cx="457200" cy="457200"/>
          </a:xfrm>
          <a:prstGeom prst="ellipse">
            <a:avLst/>
          </a:prstGeom>
          <a:solidFill>
            <a:srgbClr val="1B5E20"/>
          </a:solidFill>
          <a:ln w="12700">
            <a:solidFill>
              <a:srgbClr val="1B5E20"/>
            </a:solidFill>
            <a:prstDash val="solid"/>
          </a:ln>
        </p:spPr>
      </p:sp>
      <p:pic>
        <p:nvPicPr>
          <p:cNvPr id="29" name="Image 7" descr="preencoded.png">    </p:cNvPr>
          <p:cNvPicPr>
            <a:picLocks noChangeAspect="1"/>
          </p:cNvPicPr>
          <p:nvPr/>
        </p:nvPicPr>
        <p:blipFill>
          <a:blip r:embed="rId8"/>
          <a:stretch>
            <a:fillRect/>
          </a:stretch>
        </p:blipFill>
        <p:spPr>
          <a:xfrm>
            <a:off x="8206740" y="2628900"/>
            <a:ext cx="228600" cy="228600"/>
          </a:xfrm>
          <a:prstGeom prst="rect">
            <a:avLst/>
          </a:prstGeom>
        </p:spPr>
      </p:pic>
      <p:sp>
        <p:nvSpPr>
          <p:cNvPr id="30" name="Shape 19"/>
          <p:cNvSpPr/>
          <p:nvPr/>
        </p:nvSpPr>
        <p:spPr>
          <a:xfrm>
            <a:off x="6675120" y="2743200"/>
            <a:ext cx="411480" cy="0"/>
          </a:xfrm>
          <a:prstGeom prst="line">
            <a:avLst/>
          </a:prstGeom>
          <a:noFill/>
          <a:ln w="28575">
            <a:solidFill>
              <a:srgbClr val="1B5E20"/>
            </a:solidFill>
            <a:prstDash val="solid"/>
            <a:tailEnd type="triangle"/>
          </a:ln>
        </p:spPr>
      </p:sp>
      <p:sp>
        <p:nvSpPr>
          <p:cNvPr id="31" name="Shape 20"/>
          <p:cNvSpPr/>
          <p:nvPr/>
        </p:nvSpPr>
        <p:spPr>
          <a:xfrm>
            <a:off x="7635240" y="2743200"/>
            <a:ext cx="411480" cy="0"/>
          </a:xfrm>
          <a:prstGeom prst="line">
            <a:avLst/>
          </a:prstGeom>
          <a:noFill/>
          <a:ln w="28575">
            <a:solidFill>
              <a:srgbClr val="1B5E20"/>
            </a:solidFill>
            <a:prstDash val="solid"/>
            <a:tailEnd type="triangle"/>
          </a:ln>
        </p:spPr>
      </p:sp>
      <p:sp>
        <p:nvSpPr>
          <p:cNvPr id="32" name="Shape 21"/>
          <p:cNvSpPr/>
          <p:nvPr/>
        </p:nvSpPr>
        <p:spPr>
          <a:xfrm>
            <a:off x="6126480" y="3246120"/>
            <a:ext cx="777240" cy="594360"/>
          </a:xfrm>
          <a:prstGeom prst="roundRect">
            <a:avLst>
              <a:gd name="adj" fmla="val 12308"/>
            </a:avLst>
          </a:prstGeom>
          <a:solidFill>
            <a:srgbClr val="E8F5E9"/>
          </a:solidFill>
          <a:ln w="12700">
            <a:solidFill>
              <a:srgbClr val="66BB6A"/>
            </a:solidFill>
            <a:prstDash val="solid"/>
          </a:ln>
        </p:spPr>
      </p:sp>
      <p:sp>
        <p:nvSpPr>
          <p:cNvPr id="33" name="Text 22"/>
          <p:cNvSpPr txBox="1"/>
          <p:nvPr/>
        </p:nvSpPr>
        <p:spPr>
          <a:xfrm>
            <a:off x="6126480" y="3246120"/>
            <a:ext cx="777240" cy="594360"/>
          </a:xfrm>
          <a:prstGeom prst="rect">
            <a:avLst/>
          </a:prstGeom>
          <a:noFill/>
          <a:ln/>
        </p:spPr>
        <p:txBody>
          <a:bodyPr wrap="square" lIns="0" tIns="0" rIns="0" bIns="0" rtlCol="0" anchor="ctr"/>
          <a:lstStyle/>
          <a:p>
            <a:pPr algn="ctr" indent="0" marL="0">
              <a:buNone/>
            </a:pPr>
            <a:r>
              <a:rPr lang="en-US" sz="1000" b="1" dirty="0">
                <a:solidFill>
                  <a:srgbClr val="1F2A24"/>
                </a:solidFill>
                <a:latin typeface="Calibri" pitchFamily="34" charset="0"/>
                <a:ea typeface="Calibri" pitchFamily="34" charset="-122"/>
                <a:cs typeface="Calibri" pitchFamily="34" charset="-120"/>
              </a:rPr>
              <a:t>Vegetables</a:t>
            </a:r>
            <a:endParaRPr lang="en-US" sz="1000" dirty="0"/>
          </a:p>
        </p:txBody>
      </p:sp>
      <p:sp>
        <p:nvSpPr>
          <p:cNvPr id="34" name="Shape 23"/>
          <p:cNvSpPr/>
          <p:nvPr/>
        </p:nvSpPr>
        <p:spPr>
          <a:xfrm>
            <a:off x="6976872" y="3246120"/>
            <a:ext cx="777240" cy="594360"/>
          </a:xfrm>
          <a:prstGeom prst="roundRect">
            <a:avLst>
              <a:gd name="adj" fmla="val 12308"/>
            </a:avLst>
          </a:prstGeom>
          <a:solidFill>
            <a:srgbClr val="E8F5E9"/>
          </a:solidFill>
          <a:ln w="12700">
            <a:solidFill>
              <a:srgbClr val="66BB6A"/>
            </a:solidFill>
            <a:prstDash val="solid"/>
          </a:ln>
        </p:spPr>
      </p:sp>
      <p:sp>
        <p:nvSpPr>
          <p:cNvPr id="35" name="Text 24"/>
          <p:cNvSpPr txBox="1"/>
          <p:nvPr/>
        </p:nvSpPr>
        <p:spPr>
          <a:xfrm>
            <a:off x="6976872" y="3246120"/>
            <a:ext cx="777240" cy="594360"/>
          </a:xfrm>
          <a:prstGeom prst="rect">
            <a:avLst/>
          </a:prstGeom>
          <a:noFill/>
          <a:ln/>
        </p:spPr>
        <p:txBody>
          <a:bodyPr wrap="square" lIns="0" tIns="0" rIns="0" bIns="0" rtlCol="0" anchor="ctr"/>
          <a:lstStyle/>
          <a:p>
            <a:pPr algn="ctr" indent="0" marL="0">
              <a:buNone/>
            </a:pPr>
            <a:r>
              <a:rPr lang="en-US" sz="1000" b="1" dirty="0">
                <a:solidFill>
                  <a:srgbClr val="1F2A24"/>
                </a:solidFill>
                <a:latin typeface="Calibri" pitchFamily="34" charset="0"/>
                <a:ea typeface="Calibri" pitchFamily="34" charset="-122"/>
                <a:cs typeface="Calibri" pitchFamily="34" charset="-120"/>
              </a:rPr>
              <a:t>Grains</a:t>
            </a:r>
            <a:endParaRPr lang="en-US" sz="1000" dirty="0"/>
          </a:p>
        </p:txBody>
      </p:sp>
      <p:sp>
        <p:nvSpPr>
          <p:cNvPr id="36" name="Shape 25"/>
          <p:cNvSpPr/>
          <p:nvPr/>
        </p:nvSpPr>
        <p:spPr>
          <a:xfrm>
            <a:off x="7827264" y="3246120"/>
            <a:ext cx="777240" cy="594360"/>
          </a:xfrm>
          <a:prstGeom prst="roundRect">
            <a:avLst>
              <a:gd name="adj" fmla="val 12308"/>
            </a:avLst>
          </a:prstGeom>
          <a:solidFill>
            <a:srgbClr val="E8F5E9"/>
          </a:solidFill>
          <a:ln w="12700">
            <a:solidFill>
              <a:srgbClr val="66BB6A"/>
            </a:solidFill>
            <a:prstDash val="solid"/>
          </a:ln>
        </p:spPr>
      </p:sp>
      <p:sp>
        <p:nvSpPr>
          <p:cNvPr id="37" name="Text 26"/>
          <p:cNvSpPr txBox="1"/>
          <p:nvPr/>
        </p:nvSpPr>
        <p:spPr>
          <a:xfrm>
            <a:off x="7827264" y="3246120"/>
            <a:ext cx="777240" cy="594360"/>
          </a:xfrm>
          <a:prstGeom prst="rect">
            <a:avLst/>
          </a:prstGeom>
          <a:noFill/>
          <a:ln/>
        </p:spPr>
        <p:txBody>
          <a:bodyPr wrap="square" lIns="0" tIns="0" rIns="0" bIns="0" rtlCol="0" anchor="ctr"/>
          <a:lstStyle/>
          <a:p>
            <a:pPr algn="ctr" indent="0" marL="0">
              <a:buNone/>
            </a:pPr>
            <a:r>
              <a:rPr lang="en-US" sz="1000" b="1" dirty="0">
                <a:solidFill>
                  <a:srgbClr val="1F2A24"/>
                </a:solidFill>
                <a:latin typeface="Calibri" pitchFamily="34" charset="0"/>
                <a:ea typeface="Calibri" pitchFamily="34" charset="-122"/>
                <a:cs typeface="Calibri" pitchFamily="34" charset="-120"/>
              </a:rPr>
              <a:t>Fruits</a:t>
            </a:r>
            <a:endParaRPr lang="en-US" sz="1000" dirty="0"/>
          </a:p>
        </p:txBody>
      </p:sp>
      <p:sp>
        <p:nvSpPr>
          <p:cNvPr id="38" name="Text 27"/>
          <p:cNvSpPr txBox="1"/>
          <p:nvPr/>
        </p:nvSpPr>
        <p:spPr>
          <a:xfrm>
            <a:off x="6126480" y="4114800"/>
            <a:ext cx="2468880" cy="228600"/>
          </a:xfrm>
          <a:prstGeom prst="rect">
            <a:avLst/>
          </a:prstGeom>
          <a:noFill/>
          <a:ln/>
        </p:spPr>
        <p:txBody>
          <a:bodyPr wrap="square" lIns="0" tIns="0" rIns="0" bIns="0" rtlCol="0" anchor="t"/>
          <a:lstStyle/>
          <a:p>
            <a:pPr indent="0" marL="0">
              <a:buNone/>
            </a:pPr>
            <a:r>
              <a:rPr lang="en-US" sz="1050" i="1" dirty="0">
                <a:solidFill>
                  <a:srgbClr val="5F6B61"/>
                </a:solidFill>
                <a:latin typeface="Calibri" pitchFamily="34" charset="0"/>
                <a:ea typeface="Calibri" pitchFamily="34" charset="-122"/>
                <a:cs typeface="Calibri" pitchFamily="34" charset="-120"/>
              </a:rPr>
              <a:t>Conceptual mockup</a:t>
            </a:r>
            <a:endParaRPr lang="en-US" sz="1050" dirty="0"/>
          </a:p>
        </p:txBody>
      </p:sp>
      <p:sp>
        <p:nvSpPr>
          <p:cNvPr id="25" name="Slide Number Placeholder 0"/>
          <p:cNvSpPr>
            <a:spLocks noGrp="1"/>
          </p:cNvSpPr>
          <p:nvPr>
            <p:ph type="sldNum" sz="quarter" idx="4294967295"/>
          </p:nvPr>
        </p:nvSpPr>
        <p:spPr>
          <a:xfrm>
            <a:off x="822960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F6B61"/>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rgbClr val="1B5E20"/>
                </a:solidFill>
                <a:latin typeface="Calibri" pitchFamily="34" charset="0"/>
                <a:ea typeface="Calibri" pitchFamily="34" charset="-122"/>
                <a:cs typeface="Calibri" pitchFamily="34" charset="-120"/>
              </a:rPr>
              <a:t>Transportation Support</a:t>
            </a:r>
            <a:endParaRPr lang="en-US" sz="2800" dirty="0"/>
          </a:p>
        </p:txBody>
      </p:sp>
      <p:sp>
        <p:nvSpPr>
          <p:cNvPr id="4" name="Shape 1"/>
          <p:cNvSpPr/>
          <p:nvPr/>
        </p:nvSpPr>
        <p:spPr>
          <a:xfrm>
            <a:off x="457200" y="1005840"/>
            <a:ext cx="2499360" cy="1051560"/>
          </a:xfrm>
          <a:prstGeom prst="roundRect">
            <a:avLst>
              <a:gd name="adj" fmla="val 6957"/>
            </a:avLst>
          </a:prstGeom>
          <a:solidFill>
            <a:srgbClr val="F5F1E8"/>
          </a:solidFill>
          <a:ln w="12700">
            <a:solidFill>
              <a:srgbClr val="66BB6A"/>
            </a:solidFill>
            <a:prstDash val="solid"/>
          </a:ln>
        </p:spPr>
      </p:sp>
      <p:pic>
        <p:nvPicPr>
          <p:cNvPr id="5" name="Image 0" descr="preencoded.png">    </p:cNvPr>
          <p:cNvPicPr>
            <a:picLocks noChangeAspect="1"/>
          </p:cNvPicPr>
          <p:nvPr/>
        </p:nvPicPr>
        <p:blipFill>
          <a:blip r:embed="rId1"/>
          <a:stretch>
            <a:fillRect/>
          </a:stretch>
        </p:blipFill>
        <p:spPr>
          <a:xfrm>
            <a:off x="1524000" y="1115568"/>
            <a:ext cx="365760" cy="365760"/>
          </a:xfrm>
          <a:prstGeom prst="rect">
            <a:avLst/>
          </a:prstGeom>
        </p:spPr>
      </p:pic>
      <p:sp>
        <p:nvSpPr>
          <p:cNvPr id="6" name="Text 2"/>
          <p:cNvSpPr txBox="1"/>
          <p:nvPr/>
        </p:nvSpPr>
        <p:spPr>
          <a:xfrm>
            <a:off x="548640" y="1554480"/>
            <a:ext cx="2316480" cy="457200"/>
          </a:xfrm>
          <a:prstGeom prst="rect">
            <a:avLst/>
          </a:prstGeom>
          <a:noFill/>
          <a:ln/>
        </p:spPr>
        <p:txBody>
          <a:bodyPr wrap="square" lIns="0" tIns="0" rIns="0" bIns="0" rtlCol="0" anchor="t"/>
          <a:lstStyle/>
          <a:p>
            <a:pPr algn="ctr" indent="0" marL="0">
              <a:buNone/>
            </a:pPr>
            <a:r>
              <a:rPr lang="en-US" sz="1400" b="1" dirty="0">
                <a:solidFill>
                  <a:srgbClr val="1F2A24"/>
                </a:solidFill>
                <a:latin typeface="Calibri" pitchFamily="34" charset="0"/>
                <a:ea typeface="Calibri" pitchFamily="34" charset="-122"/>
                <a:cs typeface="Calibri" pitchFamily="34" charset="-120"/>
              </a:rPr>
              <a:t>Farm</a:t>
            </a:r>
            <a:endParaRPr lang="en-US" sz="1400" dirty="0"/>
          </a:p>
        </p:txBody>
      </p:sp>
      <p:sp>
        <p:nvSpPr>
          <p:cNvPr id="7" name="Shape 3"/>
          <p:cNvSpPr/>
          <p:nvPr/>
        </p:nvSpPr>
        <p:spPr>
          <a:xfrm>
            <a:off x="2993136" y="1531620"/>
            <a:ext cx="292608" cy="0"/>
          </a:xfrm>
          <a:prstGeom prst="line">
            <a:avLst/>
          </a:prstGeom>
          <a:noFill/>
          <a:ln w="28575">
            <a:solidFill>
              <a:srgbClr val="1B5E20"/>
            </a:solidFill>
            <a:prstDash val="solid"/>
            <a:tailEnd type="triangle"/>
          </a:ln>
        </p:spPr>
      </p:sp>
      <p:sp>
        <p:nvSpPr>
          <p:cNvPr id="8" name="Shape 4"/>
          <p:cNvSpPr/>
          <p:nvPr/>
        </p:nvSpPr>
        <p:spPr>
          <a:xfrm>
            <a:off x="3322320" y="1005840"/>
            <a:ext cx="2499360" cy="1051560"/>
          </a:xfrm>
          <a:prstGeom prst="roundRect">
            <a:avLst>
              <a:gd name="adj" fmla="val 6957"/>
            </a:avLst>
          </a:prstGeom>
          <a:solidFill>
            <a:srgbClr val="F5F1E8"/>
          </a:solidFill>
          <a:ln w="12700">
            <a:solidFill>
              <a:srgbClr val="66BB6A"/>
            </a:solidFill>
            <a:prstDash val="solid"/>
          </a:ln>
        </p:spPr>
      </p:sp>
      <p:pic>
        <p:nvPicPr>
          <p:cNvPr id="9" name="Image 1" descr="preencoded.png">    </p:cNvPr>
          <p:cNvPicPr>
            <a:picLocks noChangeAspect="1"/>
          </p:cNvPicPr>
          <p:nvPr/>
        </p:nvPicPr>
        <p:blipFill>
          <a:blip r:embed="rId2"/>
          <a:stretch>
            <a:fillRect/>
          </a:stretch>
        </p:blipFill>
        <p:spPr>
          <a:xfrm>
            <a:off x="4389120" y="1115568"/>
            <a:ext cx="365760" cy="365760"/>
          </a:xfrm>
          <a:prstGeom prst="rect">
            <a:avLst/>
          </a:prstGeom>
        </p:spPr>
      </p:pic>
      <p:sp>
        <p:nvSpPr>
          <p:cNvPr id="10" name="Text 5"/>
          <p:cNvSpPr txBox="1"/>
          <p:nvPr/>
        </p:nvSpPr>
        <p:spPr>
          <a:xfrm>
            <a:off x="3413760" y="1554480"/>
            <a:ext cx="2316480" cy="457200"/>
          </a:xfrm>
          <a:prstGeom prst="rect">
            <a:avLst/>
          </a:prstGeom>
          <a:noFill/>
          <a:ln/>
        </p:spPr>
        <p:txBody>
          <a:bodyPr wrap="square" lIns="0" tIns="0" rIns="0" bIns="0" rtlCol="0" anchor="t"/>
          <a:lstStyle/>
          <a:p>
            <a:pPr algn="ctr" indent="0" marL="0">
              <a:buNone/>
            </a:pPr>
            <a:r>
              <a:rPr lang="en-US" sz="1400" b="1" dirty="0">
                <a:solidFill>
                  <a:srgbClr val="1F2A24"/>
                </a:solidFill>
                <a:latin typeface="Calibri" pitchFamily="34" charset="0"/>
                <a:ea typeface="Calibri" pitchFamily="34" charset="-122"/>
                <a:cs typeface="Calibri" pitchFamily="34" charset="-120"/>
              </a:rPr>
              <a:t>Collection Point</a:t>
            </a:r>
            <a:endParaRPr lang="en-US" sz="1400" dirty="0"/>
          </a:p>
        </p:txBody>
      </p:sp>
      <p:sp>
        <p:nvSpPr>
          <p:cNvPr id="11" name="Shape 6"/>
          <p:cNvSpPr/>
          <p:nvPr/>
        </p:nvSpPr>
        <p:spPr>
          <a:xfrm>
            <a:off x="5858256" y="1531620"/>
            <a:ext cx="292608" cy="0"/>
          </a:xfrm>
          <a:prstGeom prst="line">
            <a:avLst/>
          </a:prstGeom>
          <a:noFill/>
          <a:ln w="28575">
            <a:solidFill>
              <a:srgbClr val="1B5E20"/>
            </a:solidFill>
            <a:prstDash val="solid"/>
            <a:tailEnd type="triangle"/>
          </a:ln>
        </p:spPr>
      </p:sp>
      <p:sp>
        <p:nvSpPr>
          <p:cNvPr id="12" name="Shape 7"/>
          <p:cNvSpPr/>
          <p:nvPr/>
        </p:nvSpPr>
        <p:spPr>
          <a:xfrm>
            <a:off x="6187440" y="1005840"/>
            <a:ext cx="2499360" cy="1051560"/>
          </a:xfrm>
          <a:prstGeom prst="roundRect">
            <a:avLst>
              <a:gd name="adj" fmla="val 6957"/>
            </a:avLst>
          </a:prstGeom>
          <a:solidFill>
            <a:srgbClr val="F5F1E8"/>
          </a:solidFill>
          <a:ln w="12700">
            <a:solidFill>
              <a:srgbClr val="66BB6A"/>
            </a:solidFill>
            <a:prstDash val="solid"/>
          </a:ln>
        </p:spPr>
      </p:sp>
      <p:pic>
        <p:nvPicPr>
          <p:cNvPr id="13" name="Image 2" descr="preencoded.png">    </p:cNvPr>
          <p:cNvPicPr>
            <a:picLocks noChangeAspect="1"/>
          </p:cNvPicPr>
          <p:nvPr/>
        </p:nvPicPr>
        <p:blipFill>
          <a:blip r:embed="rId3"/>
          <a:stretch>
            <a:fillRect/>
          </a:stretch>
        </p:blipFill>
        <p:spPr>
          <a:xfrm>
            <a:off x="7254240" y="1115568"/>
            <a:ext cx="365760" cy="365760"/>
          </a:xfrm>
          <a:prstGeom prst="rect">
            <a:avLst/>
          </a:prstGeom>
        </p:spPr>
      </p:pic>
      <p:sp>
        <p:nvSpPr>
          <p:cNvPr id="14" name="Text 8"/>
          <p:cNvSpPr txBox="1"/>
          <p:nvPr/>
        </p:nvSpPr>
        <p:spPr>
          <a:xfrm>
            <a:off x="6278880" y="1554480"/>
            <a:ext cx="2316480" cy="457200"/>
          </a:xfrm>
          <a:prstGeom prst="rect">
            <a:avLst/>
          </a:prstGeom>
          <a:noFill/>
          <a:ln/>
        </p:spPr>
        <p:txBody>
          <a:bodyPr wrap="square" lIns="0" tIns="0" rIns="0" bIns="0" rtlCol="0" anchor="t"/>
          <a:lstStyle/>
          <a:p>
            <a:pPr algn="ctr" indent="0" marL="0">
              <a:buNone/>
            </a:pPr>
            <a:r>
              <a:rPr lang="en-US" sz="1400" b="1" dirty="0">
                <a:solidFill>
                  <a:srgbClr val="1F2A24"/>
                </a:solidFill>
                <a:latin typeface="Calibri" pitchFamily="34" charset="0"/>
                <a:ea typeface="Calibri" pitchFamily="34" charset="-122"/>
                <a:cs typeface="Calibri" pitchFamily="34" charset="-120"/>
              </a:rPr>
              <a:t>Market / Customer</a:t>
            </a:r>
            <a:endParaRPr lang="en-US" sz="1400" dirty="0"/>
          </a:p>
        </p:txBody>
      </p:sp>
      <p:sp>
        <p:nvSpPr>
          <p:cNvPr id="15" name="Text 9"/>
          <p:cNvSpPr txBox="1"/>
          <p:nvPr/>
        </p:nvSpPr>
        <p:spPr>
          <a:xfrm>
            <a:off x="457200" y="2377440"/>
            <a:ext cx="4023360" cy="21031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F2A24"/>
                </a:solidFill>
                <a:latin typeface="Calibri" pitchFamily="34" charset="0"/>
                <a:ea typeface="Calibri" pitchFamily="34" charset="-122"/>
                <a:cs typeface="Calibri" pitchFamily="34" charset="-120"/>
              </a:rPr>
              <a:t>Transportation coordination</a:t>
            </a:r>
            <a:endParaRPr lang="en-US" sz="1400" dirty="0"/>
          </a:p>
          <a:p>
            <a:pPr marL="342900" indent="-342900">
              <a:spcAft>
                <a:spcPts val="500"/>
              </a:spcAft>
              <a:buSzPct val="100000"/>
              <a:buChar char="•"/>
            </a:pPr>
            <a:r>
              <a:rPr lang="en-US" sz="1400" dirty="0">
                <a:solidFill>
                  <a:srgbClr val="1F2A24"/>
                </a:solidFill>
                <a:latin typeface="Calibri" pitchFamily="34" charset="0"/>
                <a:ea typeface="Calibri" pitchFamily="34" charset="-122"/>
                <a:cs typeface="Calibri" pitchFamily="34" charset="-120"/>
              </a:rPr>
              <a:t>Produce movement from farms</a:t>
            </a:r>
            <a:endParaRPr lang="en-US" sz="1400" dirty="0"/>
          </a:p>
          <a:p>
            <a:pPr marL="342900" indent="-342900">
              <a:spcAft>
                <a:spcPts val="500"/>
              </a:spcAft>
              <a:buSzPct val="100000"/>
              <a:buChar char="•"/>
            </a:pPr>
            <a:r>
              <a:rPr lang="en-US" sz="1400" dirty="0">
                <a:solidFill>
                  <a:srgbClr val="1F2A24"/>
                </a:solidFill>
                <a:latin typeface="Calibri" pitchFamily="34" charset="0"/>
                <a:ea typeface="Calibri" pitchFamily="34" charset="-122"/>
                <a:cs typeface="Calibri" pitchFamily="34" charset="-120"/>
              </a:rPr>
              <a:t>Delivery planning</a:t>
            </a:r>
            <a:endParaRPr lang="en-US" sz="1400" dirty="0"/>
          </a:p>
          <a:p>
            <a:pPr marL="342900" indent="-342900">
              <a:spcAft>
                <a:spcPts val="500"/>
              </a:spcAft>
              <a:buSzPct val="100000"/>
              <a:buChar char="•"/>
            </a:pPr>
            <a:r>
              <a:rPr lang="en-US" sz="1400" dirty="0">
                <a:solidFill>
                  <a:srgbClr val="1F2A24"/>
                </a:solidFill>
                <a:latin typeface="Calibri" pitchFamily="34" charset="0"/>
                <a:ea typeface="Calibri" pitchFamily="34" charset="-122"/>
                <a:cs typeface="Calibri" pitchFamily="34" charset="-120"/>
              </a:rPr>
              <a:t>Links between collection points, markets and customers</a:t>
            </a:r>
            <a:endParaRPr lang="en-US" sz="1400" dirty="0"/>
          </a:p>
        </p:txBody>
      </p:sp>
      <p:sp>
        <p:nvSpPr>
          <p:cNvPr id="16" name="Shape 10"/>
          <p:cNvSpPr/>
          <p:nvPr/>
        </p:nvSpPr>
        <p:spPr>
          <a:xfrm>
            <a:off x="4754880" y="2377440"/>
            <a:ext cx="1965960" cy="2103120"/>
          </a:xfrm>
          <a:prstGeom prst="roundRect">
            <a:avLst>
              <a:gd name="adj" fmla="val 3721"/>
            </a:avLst>
          </a:prstGeom>
          <a:solidFill>
            <a:srgbClr val="E8F5E9"/>
          </a:solidFill>
          <a:ln w="12700">
            <a:solidFill>
              <a:srgbClr val="66BB6A"/>
            </a:solidFill>
            <a:prstDash val="solid"/>
          </a:ln>
        </p:spPr>
      </p:sp>
      <p:pic>
        <p:nvPicPr>
          <p:cNvPr id="17" name="Image 3" descr="preencoded.png">    </p:cNvPr>
          <p:cNvPicPr>
            <a:picLocks noChangeAspect="1"/>
          </p:cNvPicPr>
          <p:nvPr/>
        </p:nvPicPr>
        <p:blipFill>
          <a:blip r:embed="rId4"/>
          <a:stretch>
            <a:fillRect/>
          </a:stretch>
        </p:blipFill>
        <p:spPr>
          <a:xfrm>
            <a:off x="5554980" y="2926080"/>
            <a:ext cx="365760" cy="365760"/>
          </a:xfrm>
          <a:prstGeom prst="rect">
            <a:avLst/>
          </a:prstGeom>
        </p:spPr>
      </p:pic>
      <p:sp>
        <p:nvSpPr>
          <p:cNvPr id="18" name="Text 11"/>
          <p:cNvSpPr txBox="1"/>
          <p:nvPr/>
        </p:nvSpPr>
        <p:spPr>
          <a:xfrm>
            <a:off x="4864608" y="3383280"/>
            <a:ext cx="1746504" cy="960120"/>
          </a:xfrm>
          <a:prstGeom prst="rect">
            <a:avLst/>
          </a:prstGeom>
          <a:noFill/>
          <a:ln/>
        </p:spPr>
        <p:txBody>
          <a:bodyPr wrap="square" lIns="0" tIns="0" rIns="0" bIns="0" rtlCol="0" anchor="t"/>
          <a:lstStyle/>
          <a:p>
            <a:pPr algn="ctr" indent="0" marL="0">
              <a:buNone/>
            </a:pPr>
            <a:r>
              <a:rPr lang="en-US" sz="1100" dirty="0">
                <a:solidFill>
                  <a:srgbClr val="5F6B61"/>
                </a:solidFill>
                <a:latin typeface="Calibri" pitchFamily="34" charset="0"/>
                <a:ea typeface="Calibri" pitchFamily="34" charset="-122"/>
                <a:cs typeface="Calibri" pitchFamily="34" charset="-120"/>
              </a:rPr>
              <a:t>PHOTO: Small transport truck carrying fresh produce on a rural Indian road</a:t>
            </a:r>
            <a:endParaRPr lang="en-US" sz="1100" dirty="0"/>
          </a:p>
        </p:txBody>
      </p:sp>
      <p:sp>
        <p:nvSpPr>
          <p:cNvPr id="19" name="Shape 12"/>
          <p:cNvSpPr/>
          <p:nvPr/>
        </p:nvSpPr>
        <p:spPr>
          <a:xfrm>
            <a:off x="6812280" y="2377440"/>
            <a:ext cx="1874520" cy="2103120"/>
          </a:xfrm>
          <a:prstGeom prst="roundRect">
            <a:avLst>
              <a:gd name="adj" fmla="val 3902"/>
            </a:avLst>
          </a:prstGeom>
          <a:solidFill>
            <a:srgbClr val="E8F5E9"/>
          </a:solidFill>
          <a:ln w="12700">
            <a:solidFill>
              <a:srgbClr val="66BB6A"/>
            </a:solidFill>
            <a:prstDash val="solid"/>
          </a:ln>
        </p:spPr>
      </p:sp>
      <p:pic>
        <p:nvPicPr>
          <p:cNvPr id="20" name="Image 4" descr="preencoded.png">    </p:cNvPr>
          <p:cNvPicPr>
            <a:picLocks noChangeAspect="1"/>
          </p:cNvPicPr>
          <p:nvPr/>
        </p:nvPicPr>
        <p:blipFill>
          <a:blip r:embed="rId5"/>
          <a:stretch>
            <a:fillRect/>
          </a:stretch>
        </p:blipFill>
        <p:spPr>
          <a:xfrm>
            <a:off x="7566660" y="2926080"/>
            <a:ext cx="365760" cy="365760"/>
          </a:xfrm>
          <a:prstGeom prst="rect">
            <a:avLst/>
          </a:prstGeom>
        </p:spPr>
      </p:pic>
      <p:sp>
        <p:nvSpPr>
          <p:cNvPr id="21" name="Text 13"/>
          <p:cNvSpPr txBox="1"/>
          <p:nvPr/>
        </p:nvSpPr>
        <p:spPr>
          <a:xfrm>
            <a:off x="6922008" y="3383280"/>
            <a:ext cx="1655064" cy="960120"/>
          </a:xfrm>
          <a:prstGeom prst="rect">
            <a:avLst/>
          </a:prstGeom>
          <a:noFill/>
          <a:ln/>
        </p:spPr>
        <p:txBody>
          <a:bodyPr wrap="square" lIns="0" tIns="0" rIns="0" bIns="0" rtlCol="0" anchor="t"/>
          <a:lstStyle/>
          <a:p>
            <a:pPr algn="ctr" indent="0" marL="0">
              <a:buNone/>
            </a:pPr>
            <a:r>
              <a:rPr lang="en-US" sz="1100" dirty="0">
                <a:solidFill>
                  <a:srgbClr val="5F6B61"/>
                </a:solidFill>
                <a:latin typeface="Calibri" pitchFamily="34" charset="0"/>
                <a:ea typeface="Calibri" pitchFamily="34" charset="-122"/>
                <a:cs typeface="Calibri" pitchFamily="34" charset="-120"/>
              </a:rPr>
              <a:t>PHOTO: Crates of harvested vegetables</a:t>
            </a:r>
            <a:endParaRPr lang="en-US" sz="1100" dirty="0"/>
          </a:p>
        </p:txBody>
      </p:sp>
      <p:sp>
        <p:nvSpPr>
          <p:cNvPr id="22" name="Text 14"/>
          <p:cNvSpPr txBox="1"/>
          <p:nvPr/>
        </p:nvSpPr>
        <p:spPr>
          <a:xfrm>
            <a:off x="457200" y="4526280"/>
            <a:ext cx="6400800" cy="228600"/>
          </a:xfrm>
          <a:prstGeom prst="rect">
            <a:avLst/>
          </a:prstGeom>
          <a:noFill/>
          <a:ln/>
        </p:spPr>
        <p:txBody>
          <a:bodyPr wrap="square" lIns="0" tIns="0" rIns="0" bIns="0" rtlCol="0" anchor="t"/>
          <a:lstStyle/>
          <a:p>
            <a:pPr indent="0" marL="0">
              <a:buNone/>
            </a:pPr>
            <a:r>
              <a:rPr lang="en-US" sz="1050" i="1" dirty="0">
                <a:solidFill>
                  <a:srgbClr val="5F6B61"/>
                </a:solidFill>
                <a:latin typeface="Calibri" pitchFamily="34" charset="0"/>
                <a:ea typeface="Calibri" pitchFamily="34" charset="-122"/>
                <a:cs typeface="Calibri" pitchFamily="34" charset="-120"/>
              </a:rPr>
              <a:t>Conceptual module - no live tracking or route optimisation claimed</a:t>
            </a:r>
            <a:endParaRPr lang="en-US" sz="1050" dirty="0"/>
          </a:p>
        </p:txBody>
      </p:sp>
      <p:sp>
        <p:nvSpPr>
          <p:cNvPr id="25" name="Slide Number Placeholder 0"/>
          <p:cNvSpPr>
            <a:spLocks noGrp="1"/>
          </p:cNvSpPr>
          <p:nvPr>
            <p:ph type="sldNum" sz="quarter" idx="4294967295"/>
          </p:nvPr>
        </p:nvSpPr>
        <p:spPr>
          <a:xfrm>
            <a:off x="822960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F6B61"/>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rgbClr val="1B5E20"/>
                </a:solidFill>
                <a:latin typeface="Calibri" pitchFamily="34" charset="0"/>
                <a:ea typeface="Calibri" pitchFamily="34" charset="-122"/>
                <a:cs typeface="Calibri" pitchFamily="34" charset="-120"/>
              </a:rPr>
              <a:t>Existing Research and Research Gap</a:t>
            </a:r>
            <a:endParaRPr lang="en-US" sz="2800" dirty="0"/>
          </a:p>
        </p:txBody>
      </p:sp>
      <p:sp>
        <p:nvSpPr>
          <p:cNvPr id="4" name="Shape 1"/>
          <p:cNvSpPr/>
          <p:nvPr/>
        </p:nvSpPr>
        <p:spPr>
          <a:xfrm>
            <a:off x="457200" y="1005840"/>
            <a:ext cx="1965960" cy="457200"/>
          </a:xfrm>
          <a:prstGeom prst="roundRect">
            <a:avLst>
              <a:gd name="adj" fmla="val 16000"/>
            </a:avLst>
          </a:prstGeom>
          <a:solidFill>
            <a:srgbClr val="E8F5E9"/>
          </a:solidFill>
          <a:ln w="12700">
            <a:solidFill>
              <a:srgbClr val="66BB6A"/>
            </a:solidFill>
            <a:prstDash val="solid"/>
          </a:ln>
        </p:spPr>
      </p:sp>
      <p:sp>
        <p:nvSpPr>
          <p:cNvPr id="5" name="Text 2"/>
          <p:cNvSpPr txBox="1"/>
          <p:nvPr/>
        </p:nvSpPr>
        <p:spPr>
          <a:xfrm>
            <a:off x="502920" y="1005840"/>
            <a:ext cx="1874520" cy="457200"/>
          </a:xfrm>
          <a:prstGeom prst="rect">
            <a:avLst/>
          </a:prstGeom>
          <a:noFill/>
          <a:ln/>
        </p:spPr>
        <p:txBody>
          <a:bodyPr wrap="square" lIns="0" tIns="0" rIns="0" bIns="0" rtlCol="0" anchor="ctr"/>
          <a:lstStyle/>
          <a:p>
            <a:pPr algn="ctr" indent="0" marL="0">
              <a:buNone/>
            </a:pPr>
            <a:r>
              <a:rPr lang="en-US" sz="1100" b="1" dirty="0">
                <a:solidFill>
                  <a:srgbClr val="1F2A24"/>
                </a:solidFill>
                <a:latin typeface="Calibri" pitchFamily="34" charset="0"/>
                <a:ea typeface="Calibri" pitchFamily="34" charset="-122"/>
                <a:cs typeface="Calibri" pitchFamily="34" charset="-120"/>
              </a:rPr>
              <a:t>Crop recommendation (NPK values)</a:t>
            </a:r>
            <a:endParaRPr lang="en-US" sz="1100" dirty="0"/>
          </a:p>
        </p:txBody>
      </p:sp>
      <p:sp>
        <p:nvSpPr>
          <p:cNvPr id="6" name="Shape 3"/>
          <p:cNvSpPr/>
          <p:nvPr/>
        </p:nvSpPr>
        <p:spPr>
          <a:xfrm>
            <a:off x="2560320" y="1005840"/>
            <a:ext cx="1965960" cy="457200"/>
          </a:xfrm>
          <a:prstGeom prst="roundRect">
            <a:avLst>
              <a:gd name="adj" fmla="val 16000"/>
            </a:avLst>
          </a:prstGeom>
          <a:solidFill>
            <a:srgbClr val="E8F5E9"/>
          </a:solidFill>
          <a:ln w="12700">
            <a:solidFill>
              <a:srgbClr val="66BB6A"/>
            </a:solidFill>
            <a:prstDash val="solid"/>
          </a:ln>
        </p:spPr>
      </p:sp>
      <p:sp>
        <p:nvSpPr>
          <p:cNvPr id="7" name="Text 4"/>
          <p:cNvSpPr txBox="1"/>
          <p:nvPr/>
        </p:nvSpPr>
        <p:spPr>
          <a:xfrm>
            <a:off x="2606040" y="1005840"/>
            <a:ext cx="1874520" cy="457200"/>
          </a:xfrm>
          <a:prstGeom prst="rect">
            <a:avLst/>
          </a:prstGeom>
          <a:noFill/>
          <a:ln/>
        </p:spPr>
        <p:txBody>
          <a:bodyPr wrap="square" lIns="0" tIns="0" rIns="0" bIns="0" rtlCol="0" anchor="ctr"/>
          <a:lstStyle/>
          <a:p>
            <a:pPr algn="ctr" indent="0" marL="0">
              <a:buNone/>
            </a:pPr>
            <a:r>
              <a:rPr lang="en-US" sz="1100" b="1" dirty="0">
                <a:solidFill>
                  <a:srgbClr val="1F2A24"/>
                </a:solidFill>
                <a:latin typeface="Calibri" pitchFamily="34" charset="0"/>
                <a:ea typeface="Calibri" pitchFamily="34" charset="-122"/>
                <a:cs typeface="Calibri" pitchFamily="34" charset="-120"/>
              </a:rPr>
              <a:t>Soil pH</a:t>
            </a:r>
            <a:endParaRPr lang="en-US" sz="1100" dirty="0"/>
          </a:p>
        </p:txBody>
      </p:sp>
      <p:sp>
        <p:nvSpPr>
          <p:cNvPr id="8" name="Shape 5"/>
          <p:cNvSpPr/>
          <p:nvPr/>
        </p:nvSpPr>
        <p:spPr>
          <a:xfrm>
            <a:off x="4663440" y="1005840"/>
            <a:ext cx="1965960" cy="457200"/>
          </a:xfrm>
          <a:prstGeom prst="roundRect">
            <a:avLst>
              <a:gd name="adj" fmla="val 16000"/>
            </a:avLst>
          </a:prstGeom>
          <a:solidFill>
            <a:srgbClr val="E8F5E9"/>
          </a:solidFill>
          <a:ln w="12700">
            <a:solidFill>
              <a:srgbClr val="66BB6A"/>
            </a:solidFill>
            <a:prstDash val="solid"/>
          </a:ln>
        </p:spPr>
      </p:sp>
      <p:sp>
        <p:nvSpPr>
          <p:cNvPr id="9" name="Text 6"/>
          <p:cNvSpPr txBox="1"/>
          <p:nvPr/>
        </p:nvSpPr>
        <p:spPr>
          <a:xfrm>
            <a:off x="4709160" y="1005840"/>
            <a:ext cx="1874520" cy="457200"/>
          </a:xfrm>
          <a:prstGeom prst="rect">
            <a:avLst/>
          </a:prstGeom>
          <a:noFill/>
          <a:ln/>
        </p:spPr>
        <p:txBody>
          <a:bodyPr wrap="square" lIns="0" tIns="0" rIns="0" bIns="0" rtlCol="0" anchor="ctr"/>
          <a:lstStyle/>
          <a:p>
            <a:pPr algn="ctr" indent="0" marL="0">
              <a:buNone/>
            </a:pPr>
            <a:r>
              <a:rPr lang="en-US" sz="1100" b="1" dirty="0">
                <a:solidFill>
                  <a:srgbClr val="1F2A24"/>
                </a:solidFill>
                <a:latin typeface="Calibri" pitchFamily="34" charset="0"/>
                <a:ea typeface="Calibri" pitchFamily="34" charset="-122"/>
                <a:cs typeface="Calibri" pitchFamily="34" charset="-120"/>
              </a:rPr>
              <a:t>Temperature and humidity</a:t>
            </a:r>
            <a:endParaRPr lang="en-US" sz="1100" dirty="0"/>
          </a:p>
        </p:txBody>
      </p:sp>
      <p:sp>
        <p:nvSpPr>
          <p:cNvPr id="10" name="Shape 7"/>
          <p:cNvSpPr/>
          <p:nvPr/>
        </p:nvSpPr>
        <p:spPr>
          <a:xfrm>
            <a:off x="6766560" y="1005840"/>
            <a:ext cx="1965960" cy="457200"/>
          </a:xfrm>
          <a:prstGeom prst="roundRect">
            <a:avLst>
              <a:gd name="adj" fmla="val 16000"/>
            </a:avLst>
          </a:prstGeom>
          <a:solidFill>
            <a:srgbClr val="E8F5E9"/>
          </a:solidFill>
          <a:ln w="12700">
            <a:solidFill>
              <a:srgbClr val="66BB6A"/>
            </a:solidFill>
            <a:prstDash val="solid"/>
          </a:ln>
        </p:spPr>
      </p:sp>
      <p:sp>
        <p:nvSpPr>
          <p:cNvPr id="11" name="Text 8"/>
          <p:cNvSpPr txBox="1"/>
          <p:nvPr/>
        </p:nvSpPr>
        <p:spPr>
          <a:xfrm>
            <a:off x="6812280" y="1005840"/>
            <a:ext cx="1874520" cy="457200"/>
          </a:xfrm>
          <a:prstGeom prst="rect">
            <a:avLst/>
          </a:prstGeom>
          <a:noFill/>
          <a:ln/>
        </p:spPr>
        <p:txBody>
          <a:bodyPr wrap="square" lIns="0" tIns="0" rIns="0" bIns="0" rtlCol="0" anchor="ctr"/>
          <a:lstStyle/>
          <a:p>
            <a:pPr algn="ctr" indent="0" marL="0">
              <a:buNone/>
            </a:pPr>
            <a:r>
              <a:rPr lang="en-US" sz="1100" b="1" dirty="0">
                <a:solidFill>
                  <a:srgbClr val="1F2A24"/>
                </a:solidFill>
                <a:latin typeface="Calibri" pitchFamily="34" charset="0"/>
                <a:ea typeface="Calibri" pitchFamily="34" charset="-122"/>
                <a:cs typeface="Calibri" pitchFamily="34" charset="-120"/>
              </a:rPr>
              <a:t>Rainfall and environmental parameters</a:t>
            </a:r>
            <a:endParaRPr lang="en-US" sz="1100" dirty="0"/>
          </a:p>
        </p:txBody>
      </p:sp>
      <p:sp>
        <p:nvSpPr>
          <p:cNvPr id="12" name="Shape 9"/>
          <p:cNvSpPr/>
          <p:nvPr/>
        </p:nvSpPr>
        <p:spPr>
          <a:xfrm>
            <a:off x="457200" y="1554480"/>
            <a:ext cx="1965960" cy="457200"/>
          </a:xfrm>
          <a:prstGeom prst="roundRect">
            <a:avLst>
              <a:gd name="adj" fmla="val 16000"/>
            </a:avLst>
          </a:prstGeom>
          <a:solidFill>
            <a:srgbClr val="E8F5E9"/>
          </a:solidFill>
          <a:ln w="12700">
            <a:solidFill>
              <a:srgbClr val="66BB6A"/>
            </a:solidFill>
            <a:prstDash val="solid"/>
          </a:ln>
        </p:spPr>
      </p:sp>
      <p:sp>
        <p:nvSpPr>
          <p:cNvPr id="13" name="Text 10"/>
          <p:cNvSpPr txBox="1"/>
          <p:nvPr/>
        </p:nvSpPr>
        <p:spPr>
          <a:xfrm>
            <a:off x="502920" y="1554480"/>
            <a:ext cx="1874520" cy="457200"/>
          </a:xfrm>
          <a:prstGeom prst="rect">
            <a:avLst/>
          </a:prstGeom>
          <a:noFill/>
          <a:ln/>
        </p:spPr>
        <p:txBody>
          <a:bodyPr wrap="square" lIns="0" tIns="0" rIns="0" bIns="0" rtlCol="0" anchor="ctr"/>
          <a:lstStyle/>
          <a:p>
            <a:pPr algn="ctr" indent="0" marL="0">
              <a:buNone/>
            </a:pPr>
            <a:r>
              <a:rPr lang="en-US" sz="1100" b="1" dirty="0">
                <a:solidFill>
                  <a:srgbClr val="1F2A24"/>
                </a:solidFill>
                <a:latin typeface="Calibri" pitchFamily="34" charset="0"/>
                <a:ea typeface="Calibri" pitchFamily="34" charset="-122"/>
                <a:cs typeface="Calibri" pitchFamily="34" charset="-120"/>
              </a:rPr>
              <a:t>Plant disease detection</a:t>
            </a:r>
            <a:endParaRPr lang="en-US" sz="1100" dirty="0"/>
          </a:p>
        </p:txBody>
      </p:sp>
      <p:sp>
        <p:nvSpPr>
          <p:cNvPr id="14" name="Shape 11"/>
          <p:cNvSpPr/>
          <p:nvPr/>
        </p:nvSpPr>
        <p:spPr>
          <a:xfrm>
            <a:off x="2560320" y="1554480"/>
            <a:ext cx="1965960" cy="457200"/>
          </a:xfrm>
          <a:prstGeom prst="roundRect">
            <a:avLst>
              <a:gd name="adj" fmla="val 16000"/>
            </a:avLst>
          </a:prstGeom>
          <a:solidFill>
            <a:srgbClr val="E8F5E9"/>
          </a:solidFill>
          <a:ln w="12700">
            <a:solidFill>
              <a:srgbClr val="66BB6A"/>
            </a:solidFill>
            <a:prstDash val="solid"/>
          </a:ln>
        </p:spPr>
      </p:sp>
      <p:sp>
        <p:nvSpPr>
          <p:cNvPr id="15" name="Text 12"/>
          <p:cNvSpPr txBox="1"/>
          <p:nvPr/>
        </p:nvSpPr>
        <p:spPr>
          <a:xfrm>
            <a:off x="2606040" y="1554480"/>
            <a:ext cx="1874520" cy="457200"/>
          </a:xfrm>
          <a:prstGeom prst="rect">
            <a:avLst/>
          </a:prstGeom>
          <a:noFill/>
          <a:ln/>
        </p:spPr>
        <p:txBody>
          <a:bodyPr wrap="square" lIns="0" tIns="0" rIns="0" bIns="0" rtlCol="0" anchor="ctr"/>
          <a:lstStyle/>
          <a:p>
            <a:pPr algn="ctr" indent="0" marL="0">
              <a:buNone/>
            </a:pPr>
            <a:r>
              <a:rPr lang="en-US" sz="1100" b="1" dirty="0">
                <a:solidFill>
                  <a:srgbClr val="1F2A24"/>
                </a:solidFill>
                <a:latin typeface="Calibri" pitchFamily="34" charset="0"/>
                <a:ea typeface="Calibri" pitchFamily="34" charset="-122"/>
                <a:cs typeface="Calibri" pitchFamily="34" charset="-120"/>
              </a:rPr>
              <a:t>Fertilizer recommendation</a:t>
            </a:r>
            <a:endParaRPr lang="en-US" sz="1100" dirty="0"/>
          </a:p>
        </p:txBody>
      </p:sp>
      <p:sp>
        <p:nvSpPr>
          <p:cNvPr id="16" name="Shape 13"/>
          <p:cNvSpPr/>
          <p:nvPr/>
        </p:nvSpPr>
        <p:spPr>
          <a:xfrm>
            <a:off x="4663440" y="1554480"/>
            <a:ext cx="1965960" cy="457200"/>
          </a:xfrm>
          <a:prstGeom prst="roundRect">
            <a:avLst>
              <a:gd name="adj" fmla="val 16000"/>
            </a:avLst>
          </a:prstGeom>
          <a:solidFill>
            <a:srgbClr val="E8F5E9"/>
          </a:solidFill>
          <a:ln w="12700">
            <a:solidFill>
              <a:srgbClr val="66BB6A"/>
            </a:solidFill>
            <a:prstDash val="solid"/>
          </a:ln>
        </p:spPr>
      </p:sp>
      <p:sp>
        <p:nvSpPr>
          <p:cNvPr id="17" name="Text 14"/>
          <p:cNvSpPr txBox="1"/>
          <p:nvPr/>
        </p:nvSpPr>
        <p:spPr>
          <a:xfrm>
            <a:off x="4709160" y="1554480"/>
            <a:ext cx="1874520" cy="457200"/>
          </a:xfrm>
          <a:prstGeom prst="rect">
            <a:avLst/>
          </a:prstGeom>
          <a:noFill/>
          <a:ln/>
        </p:spPr>
        <p:txBody>
          <a:bodyPr wrap="square" lIns="0" tIns="0" rIns="0" bIns="0" rtlCol="0" anchor="ctr"/>
          <a:lstStyle/>
          <a:p>
            <a:pPr algn="ctr" indent="0" marL="0">
              <a:buNone/>
            </a:pPr>
            <a:r>
              <a:rPr lang="en-US" sz="1100" b="1" dirty="0">
                <a:solidFill>
                  <a:srgbClr val="1F2A24"/>
                </a:solidFill>
                <a:latin typeface="Calibri" pitchFamily="34" charset="0"/>
                <a:ea typeface="Calibri" pitchFamily="34" charset="-122"/>
                <a:cs typeface="Calibri" pitchFamily="34" charset="-120"/>
              </a:rPr>
              <a:t>Yield prediction</a:t>
            </a:r>
            <a:endParaRPr lang="en-US" sz="1100" dirty="0"/>
          </a:p>
        </p:txBody>
      </p:sp>
      <p:sp>
        <p:nvSpPr>
          <p:cNvPr id="18" name="Shape 15"/>
          <p:cNvSpPr/>
          <p:nvPr/>
        </p:nvSpPr>
        <p:spPr>
          <a:xfrm>
            <a:off x="6766560" y="1554480"/>
            <a:ext cx="1965960" cy="457200"/>
          </a:xfrm>
          <a:prstGeom prst="roundRect">
            <a:avLst>
              <a:gd name="adj" fmla="val 16000"/>
            </a:avLst>
          </a:prstGeom>
          <a:solidFill>
            <a:srgbClr val="E8F5E9"/>
          </a:solidFill>
          <a:ln w="12700">
            <a:solidFill>
              <a:srgbClr val="66BB6A"/>
            </a:solidFill>
            <a:prstDash val="solid"/>
          </a:ln>
        </p:spPr>
      </p:sp>
      <p:sp>
        <p:nvSpPr>
          <p:cNvPr id="19" name="Text 16"/>
          <p:cNvSpPr txBox="1"/>
          <p:nvPr/>
        </p:nvSpPr>
        <p:spPr>
          <a:xfrm>
            <a:off x="6812280" y="1554480"/>
            <a:ext cx="1874520" cy="457200"/>
          </a:xfrm>
          <a:prstGeom prst="rect">
            <a:avLst/>
          </a:prstGeom>
          <a:noFill/>
          <a:ln/>
        </p:spPr>
        <p:txBody>
          <a:bodyPr wrap="square" lIns="0" tIns="0" rIns="0" bIns="0" rtlCol="0" anchor="ctr"/>
          <a:lstStyle/>
          <a:p>
            <a:pPr algn="ctr" indent="0" marL="0">
              <a:buNone/>
            </a:pPr>
            <a:r>
              <a:rPr lang="en-US" sz="1100" b="1" dirty="0">
                <a:solidFill>
                  <a:srgbClr val="1F2A24"/>
                </a:solidFill>
                <a:latin typeface="Calibri" pitchFamily="34" charset="0"/>
                <a:ea typeface="Calibri" pitchFamily="34" charset="-122"/>
                <a:cs typeface="Calibri" pitchFamily="34" charset="-120"/>
              </a:rPr>
              <a:t>Multilingual advisory platforms</a:t>
            </a:r>
            <a:endParaRPr lang="en-US" sz="1100" dirty="0"/>
          </a:p>
        </p:txBody>
      </p:sp>
      <p:sp>
        <p:nvSpPr>
          <p:cNvPr id="20" name="Text 17"/>
          <p:cNvSpPr txBox="1"/>
          <p:nvPr/>
        </p:nvSpPr>
        <p:spPr>
          <a:xfrm>
            <a:off x="457200" y="2194560"/>
            <a:ext cx="8229600" cy="320040"/>
          </a:xfrm>
          <a:prstGeom prst="rect">
            <a:avLst/>
          </a:prstGeom>
          <a:noFill/>
          <a:ln/>
        </p:spPr>
        <p:txBody>
          <a:bodyPr wrap="square" lIns="0" tIns="0" rIns="0" bIns="0" rtlCol="0" anchor="t"/>
          <a:lstStyle/>
          <a:p>
            <a:pPr indent="0" marL="0">
              <a:buNone/>
            </a:pPr>
            <a:r>
              <a:rPr lang="en-US" sz="1500" b="1" dirty="0">
                <a:solidFill>
                  <a:srgbClr val="1B5E20"/>
                </a:solidFill>
                <a:latin typeface="Calibri" pitchFamily="34" charset="0"/>
                <a:ea typeface="Calibri" pitchFamily="34" charset="-122"/>
                <a:cs typeface="Calibri" pitchFamily="34" charset="-120"/>
              </a:rPr>
              <a:t>Research gap: many systems cover only one or a few functions.</a:t>
            </a:r>
            <a:endParaRPr lang="en-US" sz="1500" dirty="0"/>
          </a:p>
        </p:txBody>
      </p:sp>
      <p:sp>
        <p:nvSpPr>
          <p:cNvPr id="21" name="Shape 18"/>
          <p:cNvSpPr/>
          <p:nvPr/>
        </p:nvSpPr>
        <p:spPr>
          <a:xfrm>
            <a:off x="457200" y="2606040"/>
            <a:ext cx="3657600" cy="1005840"/>
          </a:xfrm>
          <a:prstGeom prst="roundRect">
            <a:avLst>
              <a:gd name="adj" fmla="val 7273"/>
            </a:avLst>
          </a:prstGeom>
          <a:solidFill>
            <a:srgbClr val="ECEFEC"/>
          </a:solidFill>
          <a:ln w="12700">
            <a:solidFill>
              <a:srgbClr val="ECEFEC"/>
            </a:solidFill>
            <a:prstDash val="solid"/>
          </a:ln>
        </p:spPr>
      </p:sp>
      <p:sp>
        <p:nvSpPr>
          <p:cNvPr id="22" name="Text 19"/>
          <p:cNvSpPr txBox="1"/>
          <p:nvPr/>
        </p:nvSpPr>
        <p:spPr>
          <a:xfrm>
            <a:off x="548640" y="2651760"/>
            <a:ext cx="3474720" cy="274320"/>
          </a:xfrm>
          <a:prstGeom prst="rect">
            <a:avLst/>
          </a:prstGeom>
          <a:noFill/>
          <a:ln/>
        </p:spPr>
        <p:txBody>
          <a:bodyPr wrap="square" lIns="0" tIns="0" rIns="0" bIns="0" rtlCol="0" anchor="t"/>
          <a:lstStyle/>
          <a:p>
            <a:pPr indent="0" marL="0">
              <a:buNone/>
            </a:pPr>
            <a:r>
              <a:rPr lang="en-US" sz="1200" b="1" dirty="0">
                <a:solidFill>
                  <a:srgbClr val="5F6B61"/>
                </a:solidFill>
                <a:latin typeface="Calibri" pitchFamily="34" charset="0"/>
                <a:ea typeface="Calibri" pitchFamily="34" charset="-122"/>
                <a:cs typeface="Calibri" pitchFamily="34" charset="-120"/>
              </a:rPr>
              <a:t>Separate tools</a:t>
            </a:r>
            <a:endParaRPr lang="en-US" sz="1200" dirty="0"/>
          </a:p>
        </p:txBody>
      </p:sp>
      <p:sp>
        <p:nvSpPr>
          <p:cNvPr id="23" name="Shape 20"/>
          <p:cNvSpPr/>
          <p:nvPr/>
        </p:nvSpPr>
        <p:spPr>
          <a:xfrm>
            <a:off x="594360" y="3017520"/>
            <a:ext cx="1005840" cy="411480"/>
          </a:xfrm>
          <a:prstGeom prst="roundRect">
            <a:avLst>
              <a:gd name="adj" fmla="val 17778"/>
            </a:avLst>
          </a:prstGeom>
          <a:solidFill>
            <a:srgbClr val="FFFFFF"/>
          </a:solidFill>
          <a:ln w="12700">
            <a:solidFill>
              <a:srgbClr val="5F6B61"/>
            </a:solidFill>
            <a:prstDash val="solid"/>
          </a:ln>
        </p:spPr>
      </p:sp>
      <p:sp>
        <p:nvSpPr>
          <p:cNvPr id="24" name="Text 21"/>
          <p:cNvSpPr txBox="1"/>
          <p:nvPr/>
        </p:nvSpPr>
        <p:spPr>
          <a:xfrm>
            <a:off x="594360" y="3017520"/>
            <a:ext cx="1005840" cy="411480"/>
          </a:xfrm>
          <a:prstGeom prst="rect">
            <a:avLst/>
          </a:prstGeom>
          <a:noFill/>
          <a:ln/>
        </p:spPr>
        <p:txBody>
          <a:bodyPr wrap="square" lIns="0" tIns="0" rIns="0" bIns="0" rtlCol="0" anchor="ctr"/>
          <a:lstStyle/>
          <a:p>
            <a:pPr algn="ctr" indent="0" marL="0">
              <a:buNone/>
            </a:pPr>
            <a:r>
              <a:rPr lang="en-US" sz="1100" dirty="0">
                <a:solidFill>
                  <a:srgbClr val="1F2A24"/>
                </a:solidFill>
                <a:latin typeface="Calibri" pitchFamily="34" charset="0"/>
                <a:ea typeface="Calibri" pitchFamily="34" charset="-122"/>
                <a:cs typeface="Calibri" pitchFamily="34" charset="-120"/>
              </a:rPr>
              <a:t>Crop</a:t>
            </a:r>
            <a:endParaRPr lang="en-US" sz="1100" dirty="0"/>
          </a:p>
        </p:txBody>
      </p:sp>
      <p:sp>
        <p:nvSpPr>
          <p:cNvPr id="25" name="Shape 22"/>
          <p:cNvSpPr/>
          <p:nvPr/>
        </p:nvSpPr>
        <p:spPr>
          <a:xfrm>
            <a:off x="1691640" y="3017520"/>
            <a:ext cx="1005840" cy="411480"/>
          </a:xfrm>
          <a:prstGeom prst="roundRect">
            <a:avLst>
              <a:gd name="adj" fmla="val 17778"/>
            </a:avLst>
          </a:prstGeom>
          <a:solidFill>
            <a:srgbClr val="FFFFFF"/>
          </a:solidFill>
          <a:ln w="12700">
            <a:solidFill>
              <a:srgbClr val="5F6B61"/>
            </a:solidFill>
            <a:prstDash val="solid"/>
          </a:ln>
        </p:spPr>
      </p:sp>
      <p:sp>
        <p:nvSpPr>
          <p:cNvPr id="26" name="Text 23"/>
          <p:cNvSpPr txBox="1"/>
          <p:nvPr/>
        </p:nvSpPr>
        <p:spPr>
          <a:xfrm>
            <a:off x="1691640" y="3017520"/>
            <a:ext cx="1005840" cy="411480"/>
          </a:xfrm>
          <a:prstGeom prst="rect">
            <a:avLst/>
          </a:prstGeom>
          <a:noFill/>
          <a:ln/>
        </p:spPr>
        <p:txBody>
          <a:bodyPr wrap="square" lIns="0" tIns="0" rIns="0" bIns="0" rtlCol="0" anchor="ctr"/>
          <a:lstStyle/>
          <a:p>
            <a:pPr algn="ctr" indent="0" marL="0">
              <a:buNone/>
            </a:pPr>
            <a:r>
              <a:rPr lang="en-US" sz="1100" dirty="0">
                <a:solidFill>
                  <a:srgbClr val="1F2A24"/>
                </a:solidFill>
                <a:latin typeface="Calibri" pitchFamily="34" charset="0"/>
                <a:ea typeface="Calibri" pitchFamily="34" charset="-122"/>
                <a:cs typeface="Calibri" pitchFamily="34" charset="-120"/>
              </a:rPr>
              <a:t>Disease</a:t>
            </a:r>
            <a:endParaRPr lang="en-US" sz="1100" dirty="0"/>
          </a:p>
        </p:txBody>
      </p:sp>
      <p:sp>
        <p:nvSpPr>
          <p:cNvPr id="27" name="Shape 24"/>
          <p:cNvSpPr/>
          <p:nvPr/>
        </p:nvSpPr>
        <p:spPr>
          <a:xfrm>
            <a:off x="2788920" y="3017520"/>
            <a:ext cx="1005840" cy="411480"/>
          </a:xfrm>
          <a:prstGeom prst="roundRect">
            <a:avLst>
              <a:gd name="adj" fmla="val 17778"/>
            </a:avLst>
          </a:prstGeom>
          <a:solidFill>
            <a:srgbClr val="FFFFFF"/>
          </a:solidFill>
          <a:ln w="12700">
            <a:solidFill>
              <a:srgbClr val="5F6B61"/>
            </a:solidFill>
            <a:prstDash val="solid"/>
          </a:ln>
        </p:spPr>
      </p:sp>
      <p:sp>
        <p:nvSpPr>
          <p:cNvPr id="28" name="Text 25"/>
          <p:cNvSpPr txBox="1"/>
          <p:nvPr/>
        </p:nvSpPr>
        <p:spPr>
          <a:xfrm>
            <a:off x="2788920" y="3017520"/>
            <a:ext cx="1005840" cy="411480"/>
          </a:xfrm>
          <a:prstGeom prst="rect">
            <a:avLst/>
          </a:prstGeom>
          <a:noFill/>
          <a:ln/>
        </p:spPr>
        <p:txBody>
          <a:bodyPr wrap="square" lIns="0" tIns="0" rIns="0" bIns="0" rtlCol="0" anchor="ctr"/>
          <a:lstStyle/>
          <a:p>
            <a:pPr algn="ctr" indent="0" marL="0">
              <a:buNone/>
            </a:pPr>
            <a:r>
              <a:rPr lang="en-US" sz="1100" dirty="0">
                <a:solidFill>
                  <a:srgbClr val="1F2A24"/>
                </a:solidFill>
                <a:latin typeface="Calibri" pitchFamily="34" charset="0"/>
                <a:ea typeface="Calibri" pitchFamily="34" charset="-122"/>
                <a:cs typeface="Calibri" pitchFamily="34" charset="-120"/>
              </a:rPr>
              <a:t>Fertilizer</a:t>
            </a:r>
            <a:endParaRPr lang="en-US" sz="1100" dirty="0"/>
          </a:p>
        </p:txBody>
      </p:sp>
      <p:sp>
        <p:nvSpPr>
          <p:cNvPr id="29" name="Shape 26"/>
          <p:cNvSpPr/>
          <p:nvPr/>
        </p:nvSpPr>
        <p:spPr>
          <a:xfrm>
            <a:off x="4206240" y="3108960"/>
            <a:ext cx="365760" cy="0"/>
          </a:xfrm>
          <a:prstGeom prst="line">
            <a:avLst/>
          </a:prstGeom>
          <a:noFill/>
          <a:ln w="28575">
            <a:solidFill>
              <a:srgbClr val="1B5E20"/>
            </a:solidFill>
            <a:prstDash val="solid"/>
            <a:tailEnd type="triangle"/>
          </a:ln>
        </p:spPr>
      </p:sp>
      <p:sp>
        <p:nvSpPr>
          <p:cNvPr id="30" name="Shape 27"/>
          <p:cNvSpPr/>
          <p:nvPr/>
        </p:nvSpPr>
        <p:spPr>
          <a:xfrm>
            <a:off x="4663440" y="2606040"/>
            <a:ext cx="4023360" cy="1005840"/>
          </a:xfrm>
          <a:prstGeom prst="roundRect">
            <a:avLst>
              <a:gd name="adj" fmla="val 7273"/>
            </a:avLst>
          </a:prstGeom>
          <a:solidFill>
            <a:srgbClr val="1B5E20"/>
          </a:solidFill>
          <a:ln w="12700">
            <a:solidFill>
              <a:srgbClr val="1B5E20"/>
            </a:solidFill>
            <a:prstDash val="solid"/>
          </a:ln>
        </p:spPr>
      </p:sp>
      <p:sp>
        <p:nvSpPr>
          <p:cNvPr id="31" name="Text 28"/>
          <p:cNvSpPr txBox="1"/>
          <p:nvPr/>
        </p:nvSpPr>
        <p:spPr>
          <a:xfrm>
            <a:off x="4800600" y="2651760"/>
            <a:ext cx="3749040" cy="36576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One integrated farmer-oriented platform</a:t>
            </a:r>
            <a:endParaRPr lang="en-US" sz="1400" dirty="0"/>
          </a:p>
        </p:txBody>
      </p:sp>
      <p:sp>
        <p:nvSpPr>
          <p:cNvPr id="32" name="Text 29"/>
          <p:cNvSpPr txBox="1"/>
          <p:nvPr/>
        </p:nvSpPr>
        <p:spPr>
          <a:xfrm>
            <a:off x="4800600" y="3063240"/>
            <a:ext cx="3749040" cy="45720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Connected support across the complete cycle</a:t>
            </a:r>
            <a:endParaRPr lang="en-US" sz="1300" dirty="0"/>
          </a:p>
        </p:txBody>
      </p:sp>
      <p:sp>
        <p:nvSpPr>
          <p:cNvPr id="33" name="Shape 30"/>
          <p:cNvSpPr/>
          <p:nvPr/>
        </p:nvSpPr>
        <p:spPr>
          <a:xfrm>
            <a:off x="457200" y="3886200"/>
            <a:ext cx="1005840" cy="548640"/>
          </a:xfrm>
          <a:prstGeom prst="roundRect">
            <a:avLst>
              <a:gd name="adj" fmla="val 13333"/>
            </a:avLst>
          </a:prstGeom>
          <a:solidFill>
            <a:srgbClr val="F5F1E8"/>
          </a:solidFill>
          <a:ln w="12700">
            <a:solidFill>
              <a:srgbClr val="66BB6A"/>
            </a:solidFill>
            <a:prstDash val="solid"/>
          </a:ln>
        </p:spPr>
      </p:sp>
      <p:sp>
        <p:nvSpPr>
          <p:cNvPr id="34" name="Text 31"/>
          <p:cNvSpPr txBox="1"/>
          <p:nvPr/>
        </p:nvSpPr>
        <p:spPr>
          <a:xfrm>
            <a:off x="457200" y="3886200"/>
            <a:ext cx="1005840" cy="548640"/>
          </a:xfrm>
          <a:prstGeom prst="rect">
            <a:avLst/>
          </a:prstGeom>
          <a:noFill/>
          <a:ln/>
        </p:spPr>
        <p:txBody>
          <a:bodyPr wrap="square" lIns="0" tIns="0" rIns="0" bIns="0" rtlCol="0" anchor="ctr"/>
          <a:lstStyle/>
          <a:p>
            <a:pPr algn="ctr" indent="0" marL="0">
              <a:buNone/>
            </a:pPr>
            <a:r>
              <a:rPr lang="en-US" sz="1100" b="1" dirty="0">
                <a:solidFill>
                  <a:srgbClr val="1F2A24"/>
                </a:solidFill>
                <a:latin typeface="Calibri" pitchFamily="34" charset="0"/>
                <a:ea typeface="Calibri" pitchFamily="34" charset="-122"/>
                <a:cs typeface="Calibri" pitchFamily="34" charset="-120"/>
              </a:rPr>
              <a:t>Crop Selection</a:t>
            </a:r>
            <a:endParaRPr lang="en-US" sz="1100" dirty="0"/>
          </a:p>
        </p:txBody>
      </p:sp>
      <p:sp>
        <p:nvSpPr>
          <p:cNvPr id="35" name="Shape 32"/>
          <p:cNvSpPr/>
          <p:nvPr/>
        </p:nvSpPr>
        <p:spPr>
          <a:xfrm>
            <a:off x="1472184" y="4160520"/>
            <a:ext cx="182880" cy="0"/>
          </a:xfrm>
          <a:prstGeom prst="line">
            <a:avLst/>
          </a:prstGeom>
          <a:noFill/>
          <a:ln w="28575">
            <a:solidFill>
              <a:srgbClr val="1B5E20"/>
            </a:solidFill>
            <a:prstDash val="solid"/>
            <a:tailEnd type="triangle"/>
          </a:ln>
        </p:spPr>
      </p:sp>
      <p:sp>
        <p:nvSpPr>
          <p:cNvPr id="36" name="Shape 33"/>
          <p:cNvSpPr/>
          <p:nvPr/>
        </p:nvSpPr>
        <p:spPr>
          <a:xfrm>
            <a:off x="1661465" y="3886200"/>
            <a:ext cx="1005840" cy="548640"/>
          </a:xfrm>
          <a:prstGeom prst="roundRect">
            <a:avLst>
              <a:gd name="adj" fmla="val 13333"/>
            </a:avLst>
          </a:prstGeom>
          <a:solidFill>
            <a:srgbClr val="F5F1E8"/>
          </a:solidFill>
          <a:ln w="12700">
            <a:solidFill>
              <a:srgbClr val="66BB6A"/>
            </a:solidFill>
            <a:prstDash val="solid"/>
          </a:ln>
        </p:spPr>
      </p:sp>
      <p:sp>
        <p:nvSpPr>
          <p:cNvPr id="37" name="Text 34"/>
          <p:cNvSpPr txBox="1"/>
          <p:nvPr/>
        </p:nvSpPr>
        <p:spPr>
          <a:xfrm>
            <a:off x="1661465" y="3886200"/>
            <a:ext cx="1005840" cy="548640"/>
          </a:xfrm>
          <a:prstGeom prst="rect">
            <a:avLst/>
          </a:prstGeom>
          <a:noFill/>
          <a:ln/>
        </p:spPr>
        <p:txBody>
          <a:bodyPr wrap="square" lIns="0" tIns="0" rIns="0" bIns="0" rtlCol="0" anchor="ctr"/>
          <a:lstStyle/>
          <a:p>
            <a:pPr algn="ctr" indent="0" marL="0">
              <a:buNone/>
            </a:pPr>
            <a:r>
              <a:rPr lang="en-US" sz="1100" b="1" dirty="0">
                <a:solidFill>
                  <a:srgbClr val="1F2A24"/>
                </a:solidFill>
                <a:latin typeface="Calibri" pitchFamily="34" charset="0"/>
                <a:ea typeface="Calibri" pitchFamily="34" charset="-122"/>
                <a:cs typeface="Calibri" pitchFamily="34" charset="-120"/>
              </a:rPr>
              <a:t>Cultivation</a:t>
            </a:r>
            <a:endParaRPr lang="en-US" sz="1100" dirty="0"/>
          </a:p>
        </p:txBody>
      </p:sp>
      <p:sp>
        <p:nvSpPr>
          <p:cNvPr id="38" name="Shape 35"/>
          <p:cNvSpPr/>
          <p:nvPr/>
        </p:nvSpPr>
        <p:spPr>
          <a:xfrm>
            <a:off x="2676449" y="4160520"/>
            <a:ext cx="182880" cy="0"/>
          </a:xfrm>
          <a:prstGeom prst="line">
            <a:avLst/>
          </a:prstGeom>
          <a:noFill/>
          <a:ln w="28575">
            <a:solidFill>
              <a:srgbClr val="1B5E20"/>
            </a:solidFill>
            <a:prstDash val="solid"/>
            <a:tailEnd type="triangle"/>
          </a:ln>
        </p:spPr>
      </p:sp>
      <p:sp>
        <p:nvSpPr>
          <p:cNvPr id="39" name="Shape 36"/>
          <p:cNvSpPr/>
          <p:nvPr/>
        </p:nvSpPr>
        <p:spPr>
          <a:xfrm>
            <a:off x="2865730" y="3886200"/>
            <a:ext cx="1005840" cy="548640"/>
          </a:xfrm>
          <a:prstGeom prst="roundRect">
            <a:avLst>
              <a:gd name="adj" fmla="val 13333"/>
            </a:avLst>
          </a:prstGeom>
          <a:solidFill>
            <a:srgbClr val="F5F1E8"/>
          </a:solidFill>
          <a:ln w="12700">
            <a:solidFill>
              <a:srgbClr val="66BB6A"/>
            </a:solidFill>
            <a:prstDash val="solid"/>
          </a:ln>
        </p:spPr>
      </p:sp>
      <p:sp>
        <p:nvSpPr>
          <p:cNvPr id="40" name="Text 37"/>
          <p:cNvSpPr txBox="1"/>
          <p:nvPr/>
        </p:nvSpPr>
        <p:spPr>
          <a:xfrm>
            <a:off x="2865730" y="3886200"/>
            <a:ext cx="1005840" cy="548640"/>
          </a:xfrm>
          <a:prstGeom prst="rect">
            <a:avLst/>
          </a:prstGeom>
          <a:noFill/>
          <a:ln/>
        </p:spPr>
        <p:txBody>
          <a:bodyPr wrap="square" lIns="0" tIns="0" rIns="0" bIns="0" rtlCol="0" anchor="ctr"/>
          <a:lstStyle/>
          <a:p>
            <a:pPr algn="ctr" indent="0" marL="0">
              <a:buNone/>
            </a:pPr>
            <a:r>
              <a:rPr lang="en-US" sz="1100" b="1" dirty="0">
                <a:solidFill>
                  <a:srgbClr val="1F2A24"/>
                </a:solidFill>
                <a:latin typeface="Calibri" pitchFamily="34" charset="0"/>
                <a:ea typeface="Calibri" pitchFamily="34" charset="-122"/>
                <a:cs typeface="Calibri" pitchFamily="34" charset="-120"/>
              </a:rPr>
              <a:t>Irrigation</a:t>
            </a:r>
            <a:endParaRPr lang="en-US" sz="1100" dirty="0"/>
          </a:p>
        </p:txBody>
      </p:sp>
      <p:sp>
        <p:nvSpPr>
          <p:cNvPr id="41" name="Shape 38"/>
          <p:cNvSpPr/>
          <p:nvPr/>
        </p:nvSpPr>
        <p:spPr>
          <a:xfrm>
            <a:off x="3880714" y="4160520"/>
            <a:ext cx="182880" cy="0"/>
          </a:xfrm>
          <a:prstGeom prst="line">
            <a:avLst/>
          </a:prstGeom>
          <a:noFill/>
          <a:ln w="28575">
            <a:solidFill>
              <a:srgbClr val="1B5E20"/>
            </a:solidFill>
            <a:prstDash val="solid"/>
            <a:tailEnd type="triangle"/>
          </a:ln>
        </p:spPr>
      </p:sp>
      <p:sp>
        <p:nvSpPr>
          <p:cNvPr id="42" name="Shape 39"/>
          <p:cNvSpPr/>
          <p:nvPr/>
        </p:nvSpPr>
        <p:spPr>
          <a:xfrm>
            <a:off x="4069994" y="3886200"/>
            <a:ext cx="1005840" cy="548640"/>
          </a:xfrm>
          <a:prstGeom prst="roundRect">
            <a:avLst>
              <a:gd name="adj" fmla="val 13333"/>
            </a:avLst>
          </a:prstGeom>
          <a:solidFill>
            <a:srgbClr val="F5F1E8"/>
          </a:solidFill>
          <a:ln w="12700">
            <a:solidFill>
              <a:srgbClr val="66BB6A"/>
            </a:solidFill>
            <a:prstDash val="solid"/>
          </a:ln>
        </p:spPr>
      </p:sp>
      <p:sp>
        <p:nvSpPr>
          <p:cNvPr id="43" name="Text 40"/>
          <p:cNvSpPr txBox="1"/>
          <p:nvPr/>
        </p:nvSpPr>
        <p:spPr>
          <a:xfrm>
            <a:off x="4069994" y="3886200"/>
            <a:ext cx="1005840" cy="548640"/>
          </a:xfrm>
          <a:prstGeom prst="rect">
            <a:avLst/>
          </a:prstGeom>
          <a:noFill/>
          <a:ln/>
        </p:spPr>
        <p:txBody>
          <a:bodyPr wrap="square" lIns="0" tIns="0" rIns="0" bIns="0" rtlCol="0" anchor="ctr"/>
          <a:lstStyle/>
          <a:p>
            <a:pPr algn="ctr" indent="0" marL="0">
              <a:buNone/>
            </a:pPr>
            <a:r>
              <a:rPr lang="en-US" sz="1100" b="1" dirty="0">
                <a:solidFill>
                  <a:srgbClr val="1F2A24"/>
                </a:solidFill>
                <a:latin typeface="Calibri" pitchFamily="34" charset="0"/>
                <a:ea typeface="Calibri" pitchFamily="34" charset="-122"/>
                <a:cs typeface="Calibri" pitchFamily="34" charset="-120"/>
              </a:rPr>
              <a:t>Harvesting</a:t>
            </a:r>
            <a:endParaRPr lang="en-US" sz="1100" dirty="0"/>
          </a:p>
        </p:txBody>
      </p:sp>
      <p:sp>
        <p:nvSpPr>
          <p:cNvPr id="44" name="Shape 41"/>
          <p:cNvSpPr/>
          <p:nvPr/>
        </p:nvSpPr>
        <p:spPr>
          <a:xfrm>
            <a:off x="5084978" y="4160520"/>
            <a:ext cx="182880" cy="0"/>
          </a:xfrm>
          <a:prstGeom prst="line">
            <a:avLst/>
          </a:prstGeom>
          <a:noFill/>
          <a:ln w="28575">
            <a:solidFill>
              <a:srgbClr val="1B5E20"/>
            </a:solidFill>
            <a:prstDash val="solid"/>
            <a:tailEnd type="triangle"/>
          </a:ln>
        </p:spPr>
      </p:sp>
      <p:sp>
        <p:nvSpPr>
          <p:cNvPr id="45" name="Shape 42"/>
          <p:cNvSpPr/>
          <p:nvPr/>
        </p:nvSpPr>
        <p:spPr>
          <a:xfrm>
            <a:off x="5274259" y="3886200"/>
            <a:ext cx="1005840" cy="548640"/>
          </a:xfrm>
          <a:prstGeom prst="roundRect">
            <a:avLst>
              <a:gd name="adj" fmla="val 13333"/>
            </a:avLst>
          </a:prstGeom>
          <a:solidFill>
            <a:srgbClr val="F5F1E8"/>
          </a:solidFill>
          <a:ln w="12700">
            <a:solidFill>
              <a:srgbClr val="66BB6A"/>
            </a:solidFill>
            <a:prstDash val="solid"/>
          </a:ln>
        </p:spPr>
      </p:sp>
      <p:sp>
        <p:nvSpPr>
          <p:cNvPr id="46" name="Text 43"/>
          <p:cNvSpPr txBox="1"/>
          <p:nvPr/>
        </p:nvSpPr>
        <p:spPr>
          <a:xfrm>
            <a:off x="5274259" y="3886200"/>
            <a:ext cx="1005840" cy="548640"/>
          </a:xfrm>
          <a:prstGeom prst="rect">
            <a:avLst/>
          </a:prstGeom>
          <a:noFill/>
          <a:ln/>
        </p:spPr>
        <p:txBody>
          <a:bodyPr wrap="square" lIns="0" tIns="0" rIns="0" bIns="0" rtlCol="0" anchor="ctr"/>
          <a:lstStyle/>
          <a:p>
            <a:pPr algn="ctr" indent="0" marL="0">
              <a:buNone/>
            </a:pPr>
            <a:r>
              <a:rPr lang="en-US" sz="1100" b="1" dirty="0">
                <a:solidFill>
                  <a:srgbClr val="1F2A24"/>
                </a:solidFill>
                <a:latin typeface="Calibri" pitchFamily="34" charset="0"/>
                <a:ea typeface="Calibri" pitchFamily="34" charset="-122"/>
                <a:cs typeface="Calibri" pitchFamily="34" charset="-120"/>
              </a:rPr>
              <a:t>Marketing</a:t>
            </a:r>
            <a:endParaRPr lang="en-US" sz="1100" dirty="0"/>
          </a:p>
        </p:txBody>
      </p:sp>
      <p:sp>
        <p:nvSpPr>
          <p:cNvPr id="47" name="Shape 44"/>
          <p:cNvSpPr/>
          <p:nvPr/>
        </p:nvSpPr>
        <p:spPr>
          <a:xfrm>
            <a:off x="6289243" y="4160520"/>
            <a:ext cx="182880" cy="0"/>
          </a:xfrm>
          <a:prstGeom prst="line">
            <a:avLst/>
          </a:prstGeom>
          <a:noFill/>
          <a:ln w="28575">
            <a:solidFill>
              <a:srgbClr val="1B5E20"/>
            </a:solidFill>
            <a:prstDash val="solid"/>
            <a:tailEnd type="triangle"/>
          </a:ln>
        </p:spPr>
      </p:sp>
      <p:sp>
        <p:nvSpPr>
          <p:cNvPr id="48" name="Shape 45"/>
          <p:cNvSpPr/>
          <p:nvPr/>
        </p:nvSpPr>
        <p:spPr>
          <a:xfrm>
            <a:off x="6478524" y="3886200"/>
            <a:ext cx="1005840" cy="548640"/>
          </a:xfrm>
          <a:prstGeom prst="roundRect">
            <a:avLst>
              <a:gd name="adj" fmla="val 13333"/>
            </a:avLst>
          </a:prstGeom>
          <a:solidFill>
            <a:srgbClr val="F5F1E8"/>
          </a:solidFill>
          <a:ln w="12700">
            <a:solidFill>
              <a:srgbClr val="66BB6A"/>
            </a:solidFill>
            <a:prstDash val="solid"/>
          </a:ln>
        </p:spPr>
      </p:sp>
      <p:sp>
        <p:nvSpPr>
          <p:cNvPr id="49" name="Text 46"/>
          <p:cNvSpPr txBox="1"/>
          <p:nvPr/>
        </p:nvSpPr>
        <p:spPr>
          <a:xfrm>
            <a:off x="6478524" y="3886200"/>
            <a:ext cx="1005840" cy="548640"/>
          </a:xfrm>
          <a:prstGeom prst="rect">
            <a:avLst/>
          </a:prstGeom>
          <a:noFill/>
          <a:ln/>
        </p:spPr>
        <p:txBody>
          <a:bodyPr wrap="square" lIns="0" tIns="0" rIns="0" bIns="0" rtlCol="0" anchor="ctr"/>
          <a:lstStyle/>
          <a:p>
            <a:pPr algn="ctr" indent="0" marL="0">
              <a:buNone/>
            </a:pPr>
            <a:r>
              <a:rPr lang="en-US" sz="1100" b="1" dirty="0">
                <a:solidFill>
                  <a:srgbClr val="1F2A24"/>
                </a:solidFill>
                <a:latin typeface="Calibri" pitchFamily="34" charset="0"/>
                <a:ea typeface="Calibri" pitchFamily="34" charset="-122"/>
                <a:cs typeface="Calibri" pitchFamily="34" charset="-120"/>
              </a:rPr>
              <a:t>Selling</a:t>
            </a:r>
            <a:endParaRPr lang="en-US" sz="1100" dirty="0"/>
          </a:p>
        </p:txBody>
      </p:sp>
      <p:sp>
        <p:nvSpPr>
          <p:cNvPr id="50" name="Shape 47"/>
          <p:cNvSpPr/>
          <p:nvPr/>
        </p:nvSpPr>
        <p:spPr>
          <a:xfrm>
            <a:off x="7493508" y="4160520"/>
            <a:ext cx="182880" cy="0"/>
          </a:xfrm>
          <a:prstGeom prst="line">
            <a:avLst/>
          </a:prstGeom>
          <a:noFill/>
          <a:ln w="28575">
            <a:solidFill>
              <a:srgbClr val="1B5E20"/>
            </a:solidFill>
            <a:prstDash val="solid"/>
            <a:tailEnd type="triangle"/>
          </a:ln>
        </p:spPr>
      </p:sp>
      <p:sp>
        <p:nvSpPr>
          <p:cNvPr id="51" name="Shape 48"/>
          <p:cNvSpPr/>
          <p:nvPr/>
        </p:nvSpPr>
        <p:spPr>
          <a:xfrm>
            <a:off x="7682789" y="3886200"/>
            <a:ext cx="1005840" cy="548640"/>
          </a:xfrm>
          <a:prstGeom prst="roundRect">
            <a:avLst>
              <a:gd name="adj" fmla="val 13333"/>
            </a:avLst>
          </a:prstGeom>
          <a:solidFill>
            <a:srgbClr val="F5F1E8"/>
          </a:solidFill>
          <a:ln w="12700">
            <a:solidFill>
              <a:srgbClr val="66BB6A"/>
            </a:solidFill>
            <a:prstDash val="solid"/>
          </a:ln>
        </p:spPr>
      </p:sp>
      <p:sp>
        <p:nvSpPr>
          <p:cNvPr id="52" name="Text 49"/>
          <p:cNvSpPr txBox="1"/>
          <p:nvPr/>
        </p:nvSpPr>
        <p:spPr>
          <a:xfrm>
            <a:off x="7682789" y="3886200"/>
            <a:ext cx="1005840" cy="548640"/>
          </a:xfrm>
          <a:prstGeom prst="rect">
            <a:avLst/>
          </a:prstGeom>
          <a:noFill/>
          <a:ln/>
        </p:spPr>
        <p:txBody>
          <a:bodyPr wrap="square" lIns="0" tIns="0" rIns="0" bIns="0" rtlCol="0" anchor="ctr"/>
          <a:lstStyle/>
          <a:p>
            <a:pPr algn="ctr" indent="0" marL="0">
              <a:buNone/>
            </a:pPr>
            <a:r>
              <a:rPr lang="en-US" sz="1100" b="1" dirty="0">
                <a:solidFill>
                  <a:srgbClr val="1F2A24"/>
                </a:solidFill>
                <a:latin typeface="Calibri" pitchFamily="34" charset="0"/>
                <a:ea typeface="Calibri" pitchFamily="34" charset="-122"/>
                <a:cs typeface="Calibri" pitchFamily="34" charset="-120"/>
              </a:rPr>
              <a:t>Transportation</a:t>
            </a:r>
            <a:endParaRPr lang="en-US" sz="1100" dirty="0"/>
          </a:p>
        </p:txBody>
      </p:sp>
      <p:sp>
        <p:nvSpPr>
          <p:cNvPr id="25" name="Slide Number Placeholder 0"/>
          <p:cNvSpPr>
            <a:spLocks noGrp="1"/>
          </p:cNvSpPr>
          <p:nvPr>
            <p:ph type="sldNum" sz="quarter" idx="4294967295"/>
          </p:nvPr>
        </p:nvSpPr>
        <p:spPr>
          <a:xfrm>
            <a:off x="822960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F6B61"/>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rgbClr val="1B5E20"/>
                </a:solidFill>
                <a:latin typeface="Calibri" pitchFamily="34" charset="0"/>
                <a:ea typeface="Calibri" pitchFamily="34" charset="-122"/>
                <a:cs typeface="Calibri" pitchFamily="34" charset="-120"/>
              </a:rPr>
              <a:t>Feasibility and Scalability</a:t>
            </a:r>
            <a:endParaRPr lang="en-US" sz="2800" dirty="0"/>
          </a:p>
        </p:txBody>
      </p:sp>
      <p:sp>
        <p:nvSpPr>
          <p:cNvPr id="4" name="Shape 1"/>
          <p:cNvSpPr/>
          <p:nvPr/>
        </p:nvSpPr>
        <p:spPr>
          <a:xfrm>
            <a:off x="457200" y="1005840"/>
            <a:ext cx="4023360" cy="1691640"/>
          </a:xfrm>
          <a:prstGeom prst="roundRect">
            <a:avLst>
              <a:gd name="adj" fmla="val 4324"/>
            </a:avLst>
          </a:prstGeom>
          <a:solidFill>
            <a:srgbClr val="F5F1E8"/>
          </a:solidFill>
          <a:ln w="12700">
            <a:solidFill>
              <a:srgbClr val="66BB6A"/>
            </a:solidFill>
            <a:prstDash val="solid"/>
          </a:ln>
        </p:spPr>
      </p:sp>
      <p:sp>
        <p:nvSpPr>
          <p:cNvPr id="5" name="Shape 2"/>
          <p:cNvSpPr/>
          <p:nvPr/>
        </p:nvSpPr>
        <p:spPr>
          <a:xfrm>
            <a:off x="640080" y="1188720"/>
            <a:ext cx="548640" cy="548640"/>
          </a:xfrm>
          <a:prstGeom prst="ellipse">
            <a:avLst/>
          </a:prstGeom>
          <a:solidFill>
            <a:srgbClr val="1B5E20"/>
          </a:solidFill>
          <a:ln w="12700">
            <a:solidFill>
              <a:srgbClr val="1B5E20"/>
            </a:solidFill>
            <a:prstDash val="solid"/>
          </a:ln>
        </p:spPr>
      </p:sp>
      <p:pic>
        <p:nvPicPr>
          <p:cNvPr id="6" name="Image 0" descr="preencoded.png">    </p:cNvPr>
          <p:cNvPicPr>
            <a:picLocks noChangeAspect="1"/>
          </p:cNvPicPr>
          <p:nvPr/>
        </p:nvPicPr>
        <p:blipFill>
          <a:blip r:embed="rId1"/>
          <a:stretch>
            <a:fillRect/>
          </a:stretch>
        </p:blipFill>
        <p:spPr>
          <a:xfrm>
            <a:off x="777240" y="1325880"/>
            <a:ext cx="274320" cy="274320"/>
          </a:xfrm>
          <a:prstGeom prst="rect">
            <a:avLst/>
          </a:prstGeom>
        </p:spPr>
      </p:pic>
      <p:sp>
        <p:nvSpPr>
          <p:cNvPr id="7" name="Text 3"/>
          <p:cNvSpPr txBox="1"/>
          <p:nvPr/>
        </p:nvSpPr>
        <p:spPr>
          <a:xfrm>
            <a:off x="1371600" y="1188720"/>
            <a:ext cx="3017520" cy="365760"/>
          </a:xfrm>
          <a:prstGeom prst="rect">
            <a:avLst/>
          </a:prstGeom>
          <a:noFill/>
          <a:ln/>
        </p:spPr>
        <p:txBody>
          <a:bodyPr wrap="square" lIns="0" tIns="0" rIns="0" bIns="0" rtlCol="0" anchor="t"/>
          <a:lstStyle/>
          <a:p>
            <a:pPr indent="0" marL="0">
              <a:buNone/>
            </a:pPr>
            <a:r>
              <a:rPr lang="en-US" sz="1600" b="1" dirty="0">
                <a:solidFill>
                  <a:srgbClr val="1B5E20"/>
                </a:solidFill>
                <a:latin typeface="Calibri" pitchFamily="34" charset="0"/>
                <a:ea typeface="Calibri" pitchFamily="34" charset="-122"/>
                <a:cs typeface="Calibri" pitchFamily="34" charset="-120"/>
              </a:rPr>
              <a:t>Technical Feasibility</a:t>
            </a:r>
            <a:endParaRPr lang="en-US" sz="1600" dirty="0"/>
          </a:p>
        </p:txBody>
      </p:sp>
      <p:sp>
        <p:nvSpPr>
          <p:cNvPr id="8" name="Text 4"/>
          <p:cNvSpPr txBox="1"/>
          <p:nvPr/>
        </p:nvSpPr>
        <p:spPr>
          <a:xfrm>
            <a:off x="1371600" y="1600200"/>
            <a:ext cx="3017520" cy="1051560"/>
          </a:xfrm>
          <a:prstGeom prst="rect">
            <a:avLst/>
          </a:prstGeom>
          <a:noFill/>
          <a:ln/>
        </p:spPr>
        <p:txBody>
          <a:bodyPr wrap="square" lIns="0" tIns="0" rIns="0" bIns="0" rtlCol="0" anchor="t"/>
          <a:lstStyle/>
          <a:p>
            <a:pPr indent="0" marL="0">
              <a:buNone/>
            </a:pPr>
            <a:r>
              <a:rPr lang="en-US" sz="1300" dirty="0">
                <a:solidFill>
                  <a:srgbClr val="1F2A24"/>
                </a:solidFill>
                <a:latin typeface="Calibri" pitchFamily="34" charset="0"/>
                <a:ea typeface="Calibri" pitchFamily="34" charset="-122"/>
                <a:cs typeface="Calibri" pitchFamily="34" charset="-120"/>
              </a:rPr>
              <a:t>Could use web or mobile technologies, databases, APIs and machine learning models.</a:t>
            </a:r>
            <a:endParaRPr lang="en-US" sz="1300" dirty="0"/>
          </a:p>
        </p:txBody>
      </p:sp>
      <p:sp>
        <p:nvSpPr>
          <p:cNvPr id="9" name="Shape 5"/>
          <p:cNvSpPr/>
          <p:nvPr/>
        </p:nvSpPr>
        <p:spPr>
          <a:xfrm>
            <a:off x="4663440" y="1005840"/>
            <a:ext cx="4023360" cy="1691640"/>
          </a:xfrm>
          <a:prstGeom prst="roundRect">
            <a:avLst>
              <a:gd name="adj" fmla="val 4324"/>
            </a:avLst>
          </a:prstGeom>
          <a:solidFill>
            <a:srgbClr val="F5F1E8"/>
          </a:solidFill>
          <a:ln w="12700">
            <a:solidFill>
              <a:srgbClr val="66BB6A"/>
            </a:solidFill>
            <a:prstDash val="solid"/>
          </a:ln>
        </p:spPr>
      </p:sp>
      <p:sp>
        <p:nvSpPr>
          <p:cNvPr id="10" name="Shape 6"/>
          <p:cNvSpPr/>
          <p:nvPr/>
        </p:nvSpPr>
        <p:spPr>
          <a:xfrm>
            <a:off x="4846320" y="1188720"/>
            <a:ext cx="548640" cy="548640"/>
          </a:xfrm>
          <a:prstGeom prst="ellipse">
            <a:avLst/>
          </a:prstGeom>
          <a:solidFill>
            <a:srgbClr val="1B5E20"/>
          </a:solidFill>
          <a:ln w="12700">
            <a:solidFill>
              <a:srgbClr val="1B5E20"/>
            </a:solidFill>
            <a:prstDash val="solid"/>
          </a:ln>
        </p:spPr>
      </p:sp>
      <p:pic>
        <p:nvPicPr>
          <p:cNvPr id="11" name="Image 1" descr="preencoded.png">    </p:cNvPr>
          <p:cNvPicPr>
            <a:picLocks noChangeAspect="1"/>
          </p:cNvPicPr>
          <p:nvPr/>
        </p:nvPicPr>
        <p:blipFill>
          <a:blip r:embed="rId2"/>
          <a:stretch>
            <a:fillRect/>
          </a:stretch>
        </p:blipFill>
        <p:spPr>
          <a:xfrm>
            <a:off x="4983480" y="1325880"/>
            <a:ext cx="274320" cy="274320"/>
          </a:xfrm>
          <a:prstGeom prst="rect">
            <a:avLst/>
          </a:prstGeom>
        </p:spPr>
      </p:pic>
      <p:sp>
        <p:nvSpPr>
          <p:cNvPr id="12" name="Text 7"/>
          <p:cNvSpPr txBox="1"/>
          <p:nvPr/>
        </p:nvSpPr>
        <p:spPr>
          <a:xfrm>
            <a:off x="5577840" y="1188720"/>
            <a:ext cx="3017520" cy="365760"/>
          </a:xfrm>
          <a:prstGeom prst="rect">
            <a:avLst/>
          </a:prstGeom>
          <a:noFill/>
          <a:ln/>
        </p:spPr>
        <p:txBody>
          <a:bodyPr wrap="square" lIns="0" tIns="0" rIns="0" bIns="0" rtlCol="0" anchor="t"/>
          <a:lstStyle/>
          <a:p>
            <a:pPr indent="0" marL="0">
              <a:buNone/>
            </a:pPr>
            <a:r>
              <a:rPr lang="en-US" sz="1600" b="1" dirty="0">
                <a:solidFill>
                  <a:srgbClr val="1B5E20"/>
                </a:solidFill>
                <a:latin typeface="Calibri" pitchFamily="34" charset="0"/>
                <a:ea typeface="Calibri" pitchFamily="34" charset="-122"/>
                <a:cs typeface="Calibri" pitchFamily="34" charset="-120"/>
              </a:rPr>
              <a:t>Economic Feasibility</a:t>
            </a:r>
            <a:endParaRPr lang="en-US" sz="1600" dirty="0"/>
          </a:p>
        </p:txBody>
      </p:sp>
      <p:sp>
        <p:nvSpPr>
          <p:cNvPr id="13" name="Text 8"/>
          <p:cNvSpPr txBox="1"/>
          <p:nvPr/>
        </p:nvSpPr>
        <p:spPr>
          <a:xfrm>
            <a:off x="5577840" y="1600200"/>
            <a:ext cx="3017520" cy="1051560"/>
          </a:xfrm>
          <a:prstGeom prst="rect">
            <a:avLst/>
          </a:prstGeom>
          <a:noFill/>
          <a:ln/>
        </p:spPr>
        <p:txBody>
          <a:bodyPr wrap="square" lIns="0" tIns="0" rIns="0" bIns="0" rtlCol="0" anchor="t"/>
          <a:lstStyle/>
          <a:p>
            <a:pPr indent="0" marL="0">
              <a:buNone/>
            </a:pPr>
            <a:r>
              <a:rPr lang="en-US" sz="1300" dirty="0">
                <a:solidFill>
                  <a:srgbClr val="1F2A24"/>
                </a:solidFill>
                <a:latin typeface="Calibri" pitchFamily="34" charset="0"/>
                <a:ea typeface="Calibri" pitchFamily="34" charset="-122"/>
                <a:cs typeface="Calibri" pitchFamily="34" charset="-120"/>
              </a:rPr>
              <a:t>A software-based platform may reduce the need for initial physical infrastructure.</a:t>
            </a:r>
            <a:endParaRPr lang="en-US" sz="1300" dirty="0"/>
          </a:p>
        </p:txBody>
      </p:sp>
      <p:sp>
        <p:nvSpPr>
          <p:cNvPr id="14" name="Shape 9"/>
          <p:cNvSpPr/>
          <p:nvPr/>
        </p:nvSpPr>
        <p:spPr>
          <a:xfrm>
            <a:off x="457200" y="2834640"/>
            <a:ext cx="4023360" cy="1691640"/>
          </a:xfrm>
          <a:prstGeom prst="roundRect">
            <a:avLst>
              <a:gd name="adj" fmla="val 4324"/>
            </a:avLst>
          </a:prstGeom>
          <a:solidFill>
            <a:srgbClr val="F5F1E8"/>
          </a:solidFill>
          <a:ln w="12700">
            <a:solidFill>
              <a:srgbClr val="66BB6A"/>
            </a:solidFill>
            <a:prstDash val="solid"/>
          </a:ln>
        </p:spPr>
      </p:sp>
      <p:sp>
        <p:nvSpPr>
          <p:cNvPr id="15" name="Shape 10"/>
          <p:cNvSpPr/>
          <p:nvPr/>
        </p:nvSpPr>
        <p:spPr>
          <a:xfrm>
            <a:off x="640080" y="3017520"/>
            <a:ext cx="548640" cy="548640"/>
          </a:xfrm>
          <a:prstGeom prst="ellipse">
            <a:avLst/>
          </a:prstGeom>
          <a:solidFill>
            <a:srgbClr val="1B5E20"/>
          </a:solidFill>
          <a:ln w="12700">
            <a:solidFill>
              <a:srgbClr val="1B5E20"/>
            </a:solidFill>
            <a:prstDash val="solid"/>
          </a:ln>
        </p:spPr>
      </p:sp>
      <p:pic>
        <p:nvPicPr>
          <p:cNvPr id="16" name="Image 2" descr="preencoded.png">    </p:cNvPr>
          <p:cNvPicPr>
            <a:picLocks noChangeAspect="1"/>
          </p:cNvPicPr>
          <p:nvPr/>
        </p:nvPicPr>
        <p:blipFill>
          <a:blip r:embed="rId3"/>
          <a:stretch>
            <a:fillRect/>
          </a:stretch>
        </p:blipFill>
        <p:spPr>
          <a:xfrm>
            <a:off x="777240" y="3154680"/>
            <a:ext cx="274320" cy="274320"/>
          </a:xfrm>
          <a:prstGeom prst="rect">
            <a:avLst/>
          </a:prstGeom>
        </p:spPr>
      </p:pic>
      <p:sp>
        <p:nvSpPr>
          <p:cNvPr id="17" name="Text 11"/>
          <p:cNvSpPr txBox="1"/>
          <p:nvPr/>
        </p:nvSpPr>
        <p:spPr>
          <a:xfrm>
            <a:off x="1371600" y="3017520"/>
            <a:ext cx="3017520" cy="365760"/>
          </a:xfrm>
          <a:prstGeom prst="rect">
            <a:avLst/>
          </a:prstGeom>
          <a:noFill/>
          <a:ln/>
        </p:spPr>
        <p:txBody>
          <a:bodyPr wrap="square" lIns="0" tIns="0" rIns="0" bIns="0" rtlCol="0" anchor="t"/>
          <a:lstStyle/>
          <a:p>
            <a:pPr indent="0" marL="0">
              <a:buNone/>
            </a:pPr>
            <a:r>
              <a:rPr lang="en-US" sz="1600" b="1" dirty="0">
                <a:solidFill>
                  <a:srgbClr val="1B5E20"/>
                </a:solidFill>
                <a:latin typeface="Calibri" pitchFamily="34" charset="0"/>
                <a:ea typeface="Calibri" pitchFamily="34" charset="-122"/>
                <a:cs typeface="Calibri" pitchFamily="34" charset="-120"/>
              </a:rPr>
              <a:t>Operational Feasibility</a:t>
            </a:r>
            <a:endParaRPr lang="en-US" sz="1600" dirty="0"/>
          </a:p>
        </p:txBody>
      </p:sp>
      <p:sp>
        <p:nvSpPr>
          <p:cNvPr id="18" name="Text 12"/>
          <p:cNvSpPr txBox="1"/>
          <p:nvPr/>
        </p:nvSpPr>
        <p:spPr>
          <a:xfrm>
            <a:off x="1371600" y="3429000"/>
            <a:ext cx="3017520" cy="1051560"/>
          </a:xfrm>
          <a:prstGeom prst="rect">
            <a:avLst/>
          </a:prstGeom>
          <a:noFill/>
          <a:ln/>
        </p:spPr>
        <p:txBody>
          <a:bodyPr wrap="square" lIns="0" tIns="0" rIns="0" bIns="0" rtlCol="0" anchor="t"/>
          <a:lstStyle/>
          <a:p>
            <a:pPr indent="0" marL="0">
              <a:buNone/>
            </a:pPr>
            <a:r>
              <a:rPr lang="en-US" sz="1300" dirty="0">
                <a:solidFill>
                  <a:srgbClr val="1F2A24"/>
                </a:solidFill>
                <a:latin typeface="Calibri" pitchFamily="34" charset="0"/>
                <a:ea typeface="Calibri" pitchFamily="34" charset="-122"/>
                <a:cs typeface="Calibri" pitchFamily="34" charset="-120"/>
              </a:rPr>
              <a:t>A simple interface could improve accessibility for farmers.</a:t>
            </a:r>
            <a:endParaRPr lang="en-US" sz="1300" dirty="0"/>
          </a:p>
        </p:txBody>
      </p:sp>
      <p:sp>
        <p:nvSpPr>
          <p:cNvPr id="19" name="Shape 13"/>
          <p:cNvSpPr/>
          <p:nvPr/>
        </p:nvSpPr>
        <p:spPr>
          <a:xfrm>
            <a:off x="4663440" y="2834640"/>
            <a:ext cx="4023360" cy="1691640"/>
          </a:xfrm>
          <a:prstGeom prst="roundRect">
            <a:avLst>
              <a:gd name="adj" fmla="val 4324"/>
            </a:avLst>
          </a:prstGeom>
          <a:solidFill>
            <a:srgbClr val="F5F1E8"/>
          </a:solidFill>
          <a:ln w="12700">
            <a:solidFill>
              <a:srgbClr val="66BB6A"/>
            </a:solidFill>
            <a:prstDash val="solid"/>
          </a:ln>
        </p:spPr>
      </p:sp>
      <p:sp>
        <p:nvSpPr>
          <p:cNvPr id="20" name="Shape 14"/>
          <p:cNvSpPr/>
          <p:nvPr/>
        </p:nvSpPr>
        <p:spPr>
          <a:xfrm>
            <a:off x="4846320" y="3017520"/>
            <a:ext cx="548640" cy="548640"/>
          </a:xfrm>
          <a:prstGeom prst="ellipse">
            <a:avLst/>
          </a:prstGeom>
          <a:solidFill>
            <a:srgbClr val="1B5E20"/>
          </a:solidFill>
          <a:ln w="12700">
            <a:solidFill>
              <a:srgbClr val="1B5E20"/>
            </a:solidFill>
            <a:prstDash val="solid"/>
          </a:ln>
        </p:spPr>
      </p:sp>
      <p:pic>
        <p:nvPicPr>
          <p:cNvPr id="21" name="Image 3" descr="preencoded.png">    </p:cNvPr>
          <p:cNvPicPr>
            <a:picLocks noChangeAspect="1"/>
          </p:cNvPicPr>
          <p:nvPr/>
        </p:nvPicPr>
        <p:blipFill>
          <a:blip r:embed="rId4"/>
          <a:stretch>
            <a:fillRect/>
          </a:stretch>
        </p:blipFill>
        <p:spPr>
          <a:xfrm>
            <a:off x="4983480" y="3154680"/>
            <a:ext cx="274320" cy="274320"/>
          </a:xfrm>
          <a:prstGeom prst="rect">
            <a:avLst/>
          </a:prstGeom>
        </p:spPr>
      </p:pic>
      <p:sp>
        <p:nvSpPr>
          <p:cNvPr id="22" name="Text 15"/>
          <p:cNvSpPr txBox="1"/>
          <p:nvPr/>
        </p:nvSpPr>
        <p:spPr>
          <a:xfrm>
            <a:off x="5577840" y="3017520"/>
            <a:ext cx="3017520" cy="365760"/>
          </a:xfrm>
          <a:prstGeom prst="rect">
            <a:avLst/>
          </a:prstGeom>
          <a:noFill/>
          <a:ln/>
        </p:spPr>
        <p:txBody>
          <a:bodyPr wrap="square" lIns="0" tIns="0" rIns="0" bIns="0" rtlCol="0" anchor="t"/>
          <a:lstStyle/>
          <a:p>
            <a:pPr indent="0" marL="0">
              <a:buNone/>
            </a:pPr>
            <a:r>
              <a:rPr lang="en-US" sz="1600" b="1" dirty="0">
                <a:solidFill>
                  <a:srgbClr val="1B5E20"/>
                </a:solidFill>
                <a:latin typeface="Calibri" pitchFamily="34" charset="0"/>
                <a:ea typeface="Calibri" pitchFamily="34" charset="-122"/>
                <a:cs typeface="Calibri" pitchFamily="34" charset="-120"/>
              </a:rPr>
              <a:t>Future Scalability</a:t>
            </a:r>
            <a:endParaRPr lang="en-US" sz="1600" dirty="0"/>
          </a:p>
        </p:txBody>
      </p:sp>
      <p:sp>
        <p:nvSpPr>
          <p:cNvPr id="23" name="Text 16"/>
          <p:cNvSpPr txBox="1"/>
          <p:nvPr/>
        </p:nvSpPr>
        <p:spPr>
          <a:xfrm>
            <a:off x="5577840" y="3429000"/>
            <a:ext cx="3017520" cy="1051560"/>
          </a:xfrm>
          <a:prstGeom prst="rect">
            <a:avLst/>
          </a:prstGeom>
          <a:noFill/>
          <a:ln/>
        </p:spPr>
        <p:txBody>
          <a:bodyPr wrap="square" lIns="0" tIns="0" rIns="0" bIns="0" rtlCol="0" anchor="t"/>
          <a:lstStyle/>
          <a:p>
            <a:pPr indent="0" marL="0">
              <a:buNone/>
            </a:pPr>
            <a:r>
              <a:rPr lang="en-US" sz="1300" dirty="0">
                <a:solidFill>
                  <a:srgbClr val="1F2A24"/>
                </a:solidFill>
                <a:latin typeface="Calibri" pitchFamily="34" charset="0"/>
                <a:ea typeface="Calibri" pitchFamily="34" charset="-122"/>
                <a:cs typeface="Calibri" pitchFamily="34" charset="-120"/>
              </a:rPr>
              <a:t>Potential additions: AI, real-time weather and market data, regional languages, voice interaction, government services and IoT monitoring.</a:t>
            </a:r>
            <a:endParaRPr lang="en-US" sz="1300" dirty="0"/>
          </a:p>
        </p:txBody>
      </p:sp>
      <p:sp>
        <p:nvSpPr>
          <p:cNvPr id="24" name="Text 17"/>
          <p:cNvSpPr txBox="1"/>
          <p:nvPr/>
        </p:nvSpPr>
        <p:spPr>
          <a:xfrm>
            <a:off x="457200" y="4663440"/>
            <a:ext cx="6400800" cy="228600"/>
          </a:xfrm>
          <a:prstGeom prst="rect">
            <a:avLst/>
          </a:prstGeom>
          <a:noFill/>
          <a:ln/>
        </p:spPr>
        <p:txBody>
          <a:bodyPr wrap="square" lIns="0" tIns="0" rIns="0" bIns="0" rtlCol="0" anchor="t"/>
          <a:lstStyle/>
          <a:p>
            <a:pPr indent="0" marL="0">
              <a:buNone/>
            </a:pPr>
            <a:r>
              <a:rPr lang="en-US" sz="1050" i="1" dirty="0">
                <a:solidFill>
                  <a:srgbClr val="5F6B61"/>
                </a:solidFill>
                <a:latin typeface="Calibri" pitchFamily="34" charset="0"/>
                <a:ea typeface="Calibri" pitchFamily="34" charset="-122"/>
                <a:cs typeface="Calibri" pitchFamily="34" charset="-120"/>
              </a:rPr>
              <a:t>Feasibility is a proposal; no implementation or cost analysis is available.</a:t>
            </a:r>
            <a:endParaRPr lang="en-US" sz="1050" dirty="0"/>
          </a:p>
        </p:txBody>
      </p:sp>
      <p:sp>
        <p:nvSpPr>
          <p:cNvPr id="25" name="Slide Number Placeholder 0"/>
          <p:cNvSpPr>
            <a:spLocks noGrp="1"/>
          </p:cNvSpPr>
          <p:nvPr>
            <p:ph type="sldNum" sz="quarter" idx="4294967295"/>
          </p:nvPr>
        </p:nvSpPr>
        <p:spPr>
          <a:xfrm>
            <a:off x="822960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F6B61"/>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rgbClr val="1B5E20"/>
                </a:solidFill>
                <a:latin typeface="Calibri" pitchFamily="34" charset="0"/>
                <a:ea typeface="Calibri" pitchFamily="34" charset="-122"/>
                <a:cs typeface="Calibri" pitchFamily="34" charset="-120"/>
              </a:rPr>
              <a:t>Expected Benefits and Future Scope</a:t>
            </a:r>
            <a:endParaRPr lang="en-US" sz="2800" dirty="0"/>
          </a:p>
        </p:txBody>
      </p:sp>
      <p:sp>
        <p:nvSpPr>
          <p:cNvPr id="4" name="Shape 1"/>
          <p:cNvSpPr/>
          <p:nvPr/>
        </p:nvSpPr>
        <p:spPr>
          <a:xfrm>
            <a:off x="457200" y="1005840"/>
            <a:ext cx="4023360" cy="3108960"/>
          </a:xfrm>
          <a:prstGeom prst="roundRect">
            <a:avLst>
              <a:gd name="adj" fmla="val 2353"/>
            </a:avLst>
          </a:prstGeom>
          <a:solidFill>
            <a:srgbClr val="F5F1E8"/>
          </a:solidFill>
          <a:ln w="12700">
            <a:solidFill>
              <a:srgbClr val="66BB6A"/>
            </a:solidFill>
            <a:prstDash val="solid"/>
          </a:ln>
        </p:spPr>
      </p:sp>
      <p:sp>
        <p:nvSpPr>
          <p:cNvPr id="5" name="Shape 2"/>
          <p:cNvSpPr/>
          <p:nvPr/>
        </p:nvSpPr>
        <p:spPr>
          <a:xfrm>
            <a:off x="457200" y="1005840"/>
            <a:ext cx="4023360" cy="411480"/>
          </a:xfrm>
          <a:prstGeom prst="roundRect">
            <a:avLst>
              <a:gd name="adj" fmla="val 17778"/>
            </a:avLst>
          </a:prstGeom>
          <a:solidFill>
            <a:srgbClr val="1B5E20"/>
          </a:solidFill>
          <a:ln w="12700">
            <a:solidFill>
              <a:srgbClr val="1B5E20"/>
            </a:solidFill>
            <a:prstDash val="solid"/>
          </a:ln>
        </p:spPr>
      </p:sp>
      <p:sp>
        <p:nvSpPr>
          <p:cNvPr id="6" name="Text 3"/>
          <p:cNvSpPr txBox="1"/>
          <p:nvPr/>
        </p:nvSpPr>
        <p:spPr>
          <a:xfrm>
            <a:off x="594360" y="1005840"/>
            <a:ext cx="374904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Expected Benefits</a:t>
            </a:r>
            <a:endParaRPr lang="en-US" sz="1500" dirty="0"/>
          </a:p>
        </p:txBody>
      </p:sp>
      <p:sp>
        <p:nvSpPr>
          <p:cNvPr id="7" name="Text 4"/>
          <p:cNvSpPr txBox="1"/>
          <p:nvPr/>
        </p:nvSpPr>
        <p:spPr>
          <a:xfrm>
            <a:off x="594360" y="1508760"/>
            <a:ext cx="3749040" cy="256032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Better-informed crop selection</a:t>
            </a:r>
            <a:endParaRPr lang="en-US" sz="1300" dirty="0"/>
          </a:p>
          <a:p>
            <a:pPr marL="342900" indent="-3429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Timely agricultural information</a:t>
            </a:r>
            <a:endParaRPr lang="en-US" sz="1300" dirty="0"/>
          </a:p>
          <a:p>
            <a:pPr marL="342900" indent="-3429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Improved irrigation planning</a:t>
            </a:r>
            <a:endParaRPr lang="en-US" sz="1300" dirty="0"/>
          </a:p>
          <a:p>
            <a:pPr marL="342900" indent="-3429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Better harvest planning</a:t>
            </a:r>
            <a:endParaRPr lang="en-US" sz="1300" dirty="0"/>
          </a:p>
          <a:p>
            <a:pPr marL="342900" indent="-3429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Easier access to market information</a:t>
            </a:r>
            <a:endParaRPr lang="en-US" sz="1300" dirty="0"/>
          </a:p>
          <a:p>
            <a:pPr marL="342900" indent="-3429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Direct farmer-customer connection</a:t>
            </a:r>
            <a:endParaRPr lang="en-US" sz="1300" dirty="0"/>
          </a:p>
          <a:p>
            <a:pPr marL="342900" indent="-3429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Easier transportation coordination</a:t>
            </a:r>
            <a:endParaRPr lang="en-US" sz="1300" dirty="0"/>
          </a:p>
          <a:p>
            <a:pPr marL="342900" indent="-3429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Multiple services through one platform</a:t>
            </a:r>
            <a:endParaRPr lang="en-US" sz="1300" dirty="0"/>
          </a:p>
        </p:txBody>
      </p:sp>
      <p:sp>
        <p:nvSpPr>
          <p:cNvPr id="8" name="Shape 5"/>
          <p:cNvSpPr/>
          <p:nvPr/>
        </p:nvSpPr>
        <p:spPr>
          <a:xfrm>
            <a:off x="4663440" y="1005840"/>
            <a:ext cx="4023360" cy="3108960"/>
          </a:xfrm>
          <a:prstGeom prst="roundRect">
            <a:avLst>
              <a:gd name="adj" fmla="val 2353"/>
            </a:avLst>
          </a:prstGeom>
          <a:solidFill>
            <a:srgbClr val="F5F1E8"/>
          </a:solidFill>
          <a:ln w="12700">
            <a:solidFill>
              <a:srgbClr val="66BB6A"/>
            </a:solidFill>
            <a:prstDash val="solid"/>
          </a:ln>
        </p:spPr>
      </p:sp>
      <p:sp>
        <p:nvSpPr>
          <p:cNvPr id="9" name="Shape 6"/>
          <p:cNvSpPr/>
          <p:nvPr/>
        </p:nvSpPr>
        <p:spPr>
          <a:xfrm>
            <a:off x="4663440" y="1005840"/>
            <a:ext cx="4023360" cy="411480"/>
          </a:xfrm>
          <a:prstGeom prst="roundRect">
            <a:avLst>
              <a:gd name="adj" fmla="val 17778"/>
            </a:avLst>
          </a:prstGeom>
          <a:solidFill>
            <a:srgbClr val="66BB6A"/>
          </a:solidFill>
          <a:ln w="12700">
            <a:solidFill>
              <a:srgbClr val="66BB6A"/>
            </a:solidFill>
            <a:prstDash val="solid"/>
          </a:ln>
        </p:spPr>
      </p:sp>
      <p:sp>
        <p:nvSpPr>
          <p:cNvPr id="10" name="Text 7"/>
          <p:cNvSpPr txBox="1"/>
          <p:nvPr/>
        </p:nvSpPr>
        <p:spPr>
          <a:xfrm>
            <a:off x="4800600" y="1005840"/>
            <a:ext cx="3749040" cy="411480"/>
          </a:xfrm>
          <a:prstGeom prst="rect">
            <a:avLst/>
          </a:prstGeom>
          <a:noFill/>
          <a:ln/>
        </p:spPr>
        <p:txBody>
          <a:bodyPr wrap="square" lIns="0" tIns="0" rIns="0" bIns="0" rtlCol="0" anchor="ctr"/>
          <a:lstStyle/>
          <a:p>
            <a:pPr indent="0" marL="0">
              <a:buNone/>
            </a:pPr>
            <a:r>
              <a:rPr lang="en-US" sz="1500" b="1" dirty="0">
                <a:solidFill>
                  <a:srgbClr val="1F2A24"/>
                </a:solidFill>
                <a:latin typeface="Calibri" pitchFamily="34" charset="0"/>
                <a:ea typeface="Calibri" pitchFamily="34" charset="-122"/>
                <a:cs typeface="Calibri" pitchFamily="34" charset="-120"/>
              </a:rPr>
              <a:t>Future Scope (not yet implemented)</a:t>
            </a:r>
            <a:endParaRPr lang="en-US" sz="1500" dirty="0"/>
          </a:p>
        </p:txBody>
      </p:sp>
      <p:sp>
        <p:nvSpPr>
          <p:cNvPr id="11" name="Text 8"/>
          <p:cNvSpPr txBox="1"/>
          <p:nvPr/>
        </p:nvSpPr>
        <p:spPr>
          <a:xfrm>
            <a:off x="4800600" y="1508760"/>
            <a:ext cx="3749040" cy="256032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AI-powered personalized crop recommendations</a:t>
            </a:r>
            <a:endParaRPr lang="en-US" sz="1300" dirty="0"/>
          </a:p>
          <a:p>
            <a:pPr marL="342900" indent="-3429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Machine learning for crop and market prediction</a:t>
            </a:r>
            <a:endParaRPr lang="en-US" sz="1300" dirty="0"/>
          </a:p>
          <a:p>
            <a:pPr marL="342900" indent="-3429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IoT-based soil and environmental monitoring</a:t>
            </a:r>
            <a:endParaRPr lang="en-US" sz="1300" dirty="0"/>
          </a:p>
          <a:p>
            <a:pPr marL="342900" indent="-3429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Computer vision for plant disease identification</a:t>
            </a:r>
            <a:endParaRPr lang="en-US" sz="1300" dirty="0"/>
          </a:p>
          <a:p>
            <a:pPr marL="342900" indent="-3429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Regional languages and voice interaction</a:t>
            </a:r>
            <a:endParaRPr lang="en-US" sz="1300" dirty="0"/>
          </a:p>
          <a:p>
            <a:pPr marL="342900" indent="-3429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Real-time market-price information</a:t>
            </a:r>
            <a:endParaRPr lang="en-US" sz="1300" dirty="0"/>
          </a:p>
          <a:p>
            <a:pPr marL="342900" indent="-3429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Government agricultural scheme information</a:t>
            </a:r>
            <a:endParaRPr lang="en-US" sz="1300" dirty="0"/>
          </a:p>
          <a:p>
            <a:pPr marL="342900" indent="-3429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Smart irrigation control</a:t>
            </a:r>
            <a:endParaRPr lang="en-US" sz="1300" dirty="0"/>
          </a:p>
        </p:txBody>
      </p:sp>
      <p:sp>
        <p:nvSpPr>
          <p:cNvPr id="12" name="Shape 9"/>
          <p:cNvSpPr/>
          <p:nvPr/>
        </p:nvSpPr>
        <p:spPr>
          <a:xfrm>
            <a:off x="914400" y="4526280"/>
            <a:ext cx="7315200" cy="0"/>
          </a:xfrm>
          <a:prstGeom prst="line">
            <a:avLst/>
          </a:prstGeom>
          <a:noFill/>
          <a:ln w="25400">
            <a:solidFill>
              <a:srgbClr val="66BB6A"/>
            </a:solidFill>
            <a:prstDash val="solid"/>
          </a:ln>
        </p:spPr>
      </p:sp>
      <p:sp>
        <p:nvSpPr>
          <p:cNvPr id="13" name="Shape 10"/>
          <p:cNvSpPr/>
          <p:nvPr/>
        </p:nvSpPr>
        <p:spPr>
          <a:xfrm>
            <a:off x="685800" y="4251960"/>
            <a:ext cx="548640" cy="548640"/>
          </a:xfrm>
          <a:prstGeom prst="ellipse">
            <a:avLst/>
          </a:prstGeom>
          <a:solidFill>
            <a:srgbClr val="1B5E20"/>
          </a:solidFill>
          <a:ln w="12700">
            <a:solidFill>
              <a:srgbClr val="1B5E20"/>
            </a:solidFill>
            <a:prstDash val="solid"/>
          </a:ln>
        </p:spPr>
      </p:sp>
      <p:pic>
        <p:nvPicPr>
          <p:cNvPr id="14" name="Image 0" descr="preencoded.png">    </p:cNvPr>
          <p:cNvPicPr>
            <a:picLocks noChangeAspect="1"/>
          </p:cNvPicPr>
          <p:nvPr/>
        </p:nvPicPr>
        <p:blipFill>
          <a:blip r:embed="rId1"/>
          <a:stretch>
            <a:fillRect/>
          </a:stretch>
        </p:blipFill>
        <p:spPr>
          <a:xfrm>
            <a:off x="822960" y="4389120"/>
            <a:ext cx="274320" cy="274320"/>
          </a:xfrm>
          <a:prstGeom prst="rect">
            <a:avLst/>
          </a:prstGeom>
        </p:spPr>
      </p:pic>
      <p:sp>
        <p:nvSpPr>
          <p:cNvPr id="15" name="Shape 11"/>
          <p:cNvSpPr/>
          <p:nvPr/>
        </p:nvSpPr>
        <p:spPr>
          <a:xfrm>
            <a:off x="1874520" y="4251960"/>
            <a:ext cx="548640" cy="548640"/>
          </a:xfrm>
          <a:prstGeom prst="ellipse">
            <a:avLst/>
          </a:prstGeom>
          <a:solidFill>
            <a:srgbClr val="1B5E20"/>
          </a:solidFill>
          <a:ln w="12700">
            <a:solidFill>
              <a:srgbClr val="1B5E20"/>
            </a:solidFill>
            <a:prstDash val="solid"/>
          </a:ln>
        </p:spPr>
      </p:sp>
      <p:pic>
        <p:nvPicPr>
          <p:cNvPr id="16" name="Image 1" descr="preencoded.png">    </p:cNvPr>
          <p:cNvPicPr>
            <a:picLocks noChangeAspect="1"/>
          </p:cNvPicPr>
          <p:nvPr/>
        </p:nvPicPr>
        <p:blipFill>
          <a:blip r:embed="rId2"/>
          <a:stretch>
            <a:fillRect/>
          </a:stretch>
        </p:blipFill>
        <p:spPr>
          <a:xfrm>
            <a:off x="2011680" y="4389120"/>
            <a:ext cx="274320" cy="274320"/>
          </a:xfrm>
          <a:prstGeom prst="rect">
            <a:avLst/>
          </a:prstGeom>
        </p:spPr>
      </p:pic>
      <p:sp>
        <p:nvSpPr>
          <p:cNvPr id="17" name="Shape 12"/>
          <p:cNvSpPr/>
          <p:nvPr/>
        </p:nvSpPr>
        <p:spPr>
          <a:xfrm>
            <a:off x="3063240" y="4251960"/>
            <a:ext cx="548640" cy="548640"/>
          </a:xfrm>
          <a:prstGeom prst="ellipse">
            <a:avLst/>
          </a:prstGeom>
          <a:solidFill>
            <a:srgbClr val="1B5E20"/>
          </a:solidFill>
          <a:ln w="12700">
            <a:solidFill>
              <a:srgbClr val="1B5E20"/>
            </a:solidFill>
            <a:prstDash val="solid"/>
          </a:ln>
        </p:spPr>
      </p:sp>
      <p:pic>
        <p:nvPicPr>
          <p:cNvPr id="18" name="Image 2" descr="preencoded.png">    </p:cNvPr>
          <p:cNvPicPr>
            <a:picLocks noChangeAspect="1"/>
          </p:cNvPicPr>
          <p:nvPr/>
        </p:nvPicPr>
        <p:blipFill>
          <a:blip r:embed="rId3"/>
          <a:stretch>
            <a:fillRect/>
          </a:stretch>
        </p:blipFill>
        <p:spPr>
          <a:xfrm>
            <a:off x="3200400" y="4389120"/>
            <a:ext cx="274320" cy="274320"/>
          </a:xfrm>
          <a:prstGeom prst="rect">
            <a:avLst/>
          </a:prstGeom>
        </p:spPr>
      </p:pic>
      <p:sp>
        <p:nvSpPr>
          <p:cNvPr id="19" name="Shape 13"/>
          <p:cNvSpPr/>
          <p:nvPr/>
        </p:nvSpPr>
        <p:spPr>
          <a:xfrm>
            <a:off x="4251960" y="4251960"/>
            <a:ext cx="548640" cy="548640"/>
          </a:xfrm>
          <a:prstGeom prst="ellipse">
            <a:avLst/>
          </a:prstGeom>
          <a:solidFill>
            <a:srgbClr val="1B5E20"/>
          </a:solidFill>
          <a:ln w="12700">
            <a:solidFill>
              <a:srgbClr val="1B5E20"/>
            </a:solidFill>
            <a:prstDash val="solid"/>
          </a:ln>
        </p:spPr>
      </p:sp>
      <p:pic>
        <p:nvPicPr>
          <p:cNvPr id="20" name="Image 3" descr="preencoded.png">    </p:cNvPr>
          <p:cNvPicPr>
            <a:picLocks noChangeAspect="1"/>
          </p:cNvPicPr>
          <p:nvPr/>
        </p:nvPicPr>
        <p:blipFill>
          <a:blip r:embed="rId4"/>
          <a:stretch>
            <a:fillRect/>
          </a:stretch>
        </p:blipFill>
        <p:spPr>
          <a:xfrm>
            <a:off x="4389120" y="4389120"/>
            <a:ext cx="274320" cy="274320"/>
          </a:xfrm>
          <a:prstGeom prst="rect">
            <a:avLst/>
          </a:prstGeom>
        </p:spPr>
      </p:pic>
      <p:sp>
        <p:nvSpPr>
          <p:cNvPr id="21" name="Shape 14"/>
          <p:cNvSpPr/>
          <p:nvPr/>
        </p:nvSpPr>
        <p:spPr>
          <a:xfrm>
            <a:off x="5440680" y="4251960"/>
            <a:ext cx="548640" cy="548640"/>
          </a:xfrm>
          <a:prstGeom prst="ellipse">
            <a:avLst/>
          </a:prstGeom>
          <a:solidFill>
            <a:srgbClr val="1B5E20"/>
          </a:solidFill>
          <a:ln w="12700">
            <a:solidFill>
              <a:srgbClr val="1B5E20"/>
            </a:solidFill>
            <a:prstDash val="solid"/>
          </a:ln>
        </p:spPr>
      </p:sp>
      <p:pic>
        <p:nvPicPr>
          <p:cNvPr id="22" name="Image 4" descr="preencoded.png">    </p:cNvPr>
          <p:cNvPicPr>
            <a:picLocks noChangeAspect="1"/>
          </p:cNvPicPr>
          <p:nvPr/>
        </p:nvPicPr>
        <p:blipFill>
          <a:blip r:embed="rId5"/>
          <a:stretch>
            <a:fillRect/>
          </a:stretch>
        </p:blipFill>
        <p:spPr>
          <a:xfrm>
            <a:off x="5577840" y="4389120"/>
            <a:ext cx="274320" cy="274320"/>
          </a:xfrm>
          <a:prstGeom prst="rect">
            <a:avLst/>
          </a:prstGeom>
        </p:spPr>
      </p:pic>
      <p:sp>
        <p:nvSpPr>
          <p:cNvPr id="23" name="Shape 15"/>
          <p:cNvSpPr/>
          <p:nvPr/>
        </p:nvSpPr>
        <p:spPr>
          <a:xfrm>
            <a:off x="6629400" y="4251960"/>
            <a:ext cx="548640" cy="548640"/>
          </a:xfrm>
          <a:prstGeom prst="ellipse">
            <a:avLst/>
          </a:prstGeom>
          <a:solidFill>
            <a:srgbClr val="1B5E20"/>
          </a:solidFill>
          <a:ln w="12700">
            <a:solidFill>
              <a:srgbClr val="1B5E20"/>
            </a:solidFill>
            <a:prstDash val="solid"/>
          </a:ln>
        </p:spPr>
      </p:sp>
      <p:pic>
        <p:nvPicPr>
          <p:cNvPr id="24" name="Image 5" descr="preencoded.png">    </p:cNvPr>
          <p:cNvPicPr>
            <a:picLocks noChangeAspect="1"/>
          </p:cNvPicPr>
          <p:nvPr/>
        </p:nvPicPr>
        <p:blipFill>
          <a:blip r:embed="rId6"/>
          <a:stretch>
            <a:fillRect/>
          </a:stretch>
        </p:blipFill>
        <p:spPr>
          <a:xfrm>
            <a:off x="6766560" y="4389120"/>
            <a:ext cx="274320" cy="274320"/>
          </a:xfrm>
          <a:prstGeom prst="rect">
            <a:avLst/>
          </a:prstGeom>
        </p:spPr>
      </p:pic>
      <p:sp>
        <p:nvSpPr>
          <p:cNvPr id="25" name="Shape 16"/>
          <p:cNvSpPr/>
          <p:nvPr/>
        </p:nvSpPr>
        <p:spPr>
          <a:xfrm>
            <a:off x="7818120" y="4251960"/>
            <a:ext cx="548640" cy="548640"/>
          </a:xfrm>
          <a:prstGeom prst="ellipse">
            <a:avLst/>
          </a:prstGeom>
          <a:solidFill>
            <a:srgbClr val="1B5E20"/>
          </a:solidFill>
          <a:ln w="12700">
            <a:solidFill>
              <a:srgbClr val="1B5E20"/>
            </a:solidFill>
            <a:prstDash val="solid"/>
          </a:ln>
        </p:spPr>
      </p:sp>
      <p:pic>
        <p:nvPicPr>
          <p:cNvPr id="26" name="Image 6" descr="preencoded.png">    </p:cNvPr>
          <p:cNvPicPr>
            <a:picLocks noChangeAspect="1"/>
          </p:cNvPicPr>
          <p:nvPr/>
        </p:nvPicPr>
        <p:blipFill>
          <a:blip r:embed="rId7"/>
          <a:stretch>
            <a:fillRect/>
          </a:stretch>
        </p:blipFill>
        <p:spPr>
          <a:xfrm>
            <a:off x="7955280" y="4389120"/>
            <a:ext cx="274320" cy="274320"/>
          </a:xfrm>
          <a:prstGeom prst="rect">
            <a:avLst/>
          </a:prstGeom>
        </p:spPr>
      </p:pic>
      <p:sp>
        <p:nvSpPr>
          <p:cNvPr id="27" name="Text 17"/>
          <p:cNvSpPr txBox="1"/>
          <p:nvPr/>
        </p:nvSpPr>
        <p:spPr>
          <a:xfrm>
            <a:off x="7223760" y="3931920"/>
            <a:ext cx="1645920" cy="228600"/>
          </a:xfrm>
          <a:prstGeom prst="rect">
            <a:avLst/>
          </a:prstGeom>
          <a:noFill/>
          <a:ln/>
        </p:spPr>
        <p:txBody>
          <a:bodyPr wrap="square" lIns="0" tIns="0" rIns="0" bIns="0" rtlCol="0" anchor="t"/>
          <a:lstStyle/>
          <a:p>
            <a:pPr indent="0" marL="0">
              <a:buNone/>
            </a:pPr>
            <a:r>
              <a:rPr lang="en-US" sz="1050" i="1" dirty="0">
                <a:solidFill>
                  <a:srgbClr val="5F6B61"/>
                </a:solidFill>
                <a:latin typeface="Calibri" pitchFamily="34" charset="0"/>
                <a:ea typeface="Calibri" pitchFamily="34" charset="-122"/>
                <a:cs typeface="Calibri" pitchFamily="34" charset="-120"/>
              </a:rPr>
              <a:t>Smart farming concept</a:t>
            </a:r>
            <a:endParaRPr lang="en-US" sz="1050" dirty="0"/>
          </a:p>
        </p:txBody>
      </p:sp>
      <p:sp>
        <p:nvSpPr>
          <p:cNvPr id="25" name="Slide Number Placeholder 0"/>
          <p:cNvSpPr>
            <a:spLocks noGrp="1"/>
          </p:cNvSpPr>
          <p:nvPr>
            <p:ph type="sldNum" sz="quarter" idx="4294967295"/>
          </p:nvPr>
        </p:nvSpPr>
        <p:spPr>
          <a:xfrm>
            <a:off x="822960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F6B61"/>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rgbClr val="1B5E20"/>
                </a:solidFill>
                <a:latin typeface="Calibri" pitchFamily="34" charset="0"/>
                <a:ea typeface="Calibri" pitchFamily="34" charset="-122"/>
                <a:cs typeface="Calibri" pitchFamily="34" charset="-120"/>
              </a:rPr>
              <a:t>Conclusion and References</a:t>
            </a:r>
            <a:endParaRPr lang="en-US" sz="2800" dirty="0"/>
          </a:p>
        </p:txBody>
      </p:sp>
      <p:sp>
        <p:nvSpPr>
          <p:cNvPr id="4" name="Text 1"/>
          <p:cNvSpPr txBox="1"/>
          <p:nvPr/>
        </p:nvSpPr>
        <p:spPr>
          <a:xfrm>
            <a:off x="457200" y="1051560"/>
            <a:ext cx="3840480" cy="35661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F2A24"/>
                </a:solidFill>
                <a:latin typeface="Calibri" pitchFamily="34" charset="0"/>
                <a:ea typeface="Calibri" pitchFamily="34" charset="-122"/>
                <a:cs typeface="Calibri" pitchFamily="34" charset="-120"/>
              </a:rPr>
              <a:t>The Smart Crop Advisory System is a proposed integrated digital platform supporting small and marginal farmers throughout the agricultural cycle.</a:t>
            </a:r>
            <a:endParaRPr lang="en-US" sz="1400" dirty="0"/>
          </a:p>
          <a:p>
            <a:pPr marL="342900" indent="-342900">
              <a:spcAft>
                <a:spcPts val="500"/>
              </a:spcAft>
              <a:buSzPct val="100000"/>
              <a:buChar char="•"/>
            </a:pPr>
            <a:r>
              <a:rPr lang="en-US" sz="1400" dirty="0">
                <a:solidFill>
                  <a:srgbClr val="1F2A24"/>
                </a:solidFill>
                <a:latin typeface="Calibri" pitchFamily="34" charset="0"/>
                <a:ea typeface="Calibri" pitchFamily="34" charset="-122"/>
                <a:cs typeface="Calibri" pitchFamily="34" charset="-120"/>
              </a:rPr>
              <a:t>Core modules: crop selection, seed selection, weather information, irrigation, harvesting, market information, customer connectivity and transportation.</a:t>
            </a:r>
            <a:endParaRPr lang="en-US" sz="1400" dirty="0"/>
          </a:p>
          <a:p>
            <a:pPr marL="342900" indent="-342900">
              <a:spcAft>
                <a:spcPts val="500"/>
              </a:spcAft>
              <a:buSzPct val="100000"/>
              <a:buChar char="•"/>
            </a:pPr>
            <a:r>
              <a:rPr lang="en-US" sz="1400" dirty="0">
                <a:solidFill>
                  <a:srgbClr val="1F2A24"/>
                </a:solidFill>
                <a:latin typeface="Calibri" pitchFamily="34" charset="0"/>
                <a:ea typeface="Calibri" pitchFamily="34" charset="-122"/>
                <a:cs typeface="Calibri" pitchFamily="34" charset="-120"/>
              </a:rPr>
              <a:t>It provides a foundation for future AI-, IoT- and data-driven agricultural services.</a:t>
            </a:r>
            <a:endParaRPr lang="en-US" sz="1400" dirty="0"/>
          </a:p>
        </p:txBody>
      </p:sp>
      <p:sp>
        <p:nvSpPr>
          <p:cNvPr id="5" name="Shape 2"/>
          <p:cNvSpPr/>
          <p:nvPr/>
        </p:nvSpPr>
        <p:spPr>
          <a:xfrm>
            <a:off x="4526280" y="1005840"/>
            <a:ext cx="4160520" cy="3657600"/>
          </a:xfrm>
          <a:prstGeom prst="roundRect">
            <a:avLst>
              <a:gd name="adj" fmla="val 2000"/>
            </a:avLst>
          </a:prstGeom>
          <a:solidFill>
            <a:srgbClr val="F5F1E8"/>
          </a:solidFill>
          <a:ln w="12700">
            <a:solidFill>
              <a:srgbClr val="66BB6A"/>
            </a:solidFill>
            <a:prstDash val="solid"/>
          </a:ln>
        </p:spPr>
      </p:sp>
      <p:sp>
        <p:nvSpPr>
          <p:cNvPr id="6" name="Text 3"/>
          <p:cNvSpPr txBox="1"/>
          <p:nvPr/>
        </p:nvSpPr>
        <p:spPr>
          <a:xfrm>
            <a:off x="4663440" y="1069848"/>
            <a:ext cx="3840480" cy="274320"/>
          </a:xfrm>
          <a:prstGeom prst="rect">
            <a:avLst/>
          </a:prstGeom>
          <a:noFill/>
          <a:ln/>
        </p:spPr>
        <p:txBody>
          <a:bodyPr wrap="square" lIns="0" tIns="0" rIns="0" bIns="0" rtlCol="0" anchor="t"/>
          <a:lstStyle/>
          <a:p>
            <a:pPr indent="0" marL="0">
              <a:buNone/>
            </a:pPr>
            <a:r>
              <a:rPr lang="en-US" sz="1500" b="1" dirty="0">
                <a:solidFill>
                  <a:srgbClr val="1B5E20"/>
                </a:solidFill>
                <a:latin typeface="Calibri" pitchFamily="34" charset="0"/>
                <a:ea typeface="Calibri" pitchFamily="34" charset="-122"/>
                <a:cs typeface="Calibri" pitchFamily="34" charset="-120"/>
              </a:rPr>
              <a:t>References</a:t>
            </a:r>
            <a:endParaRPr lang="en-US" sz="1500" dirty="0"/>
          </a:p>
        </p:txBody>
      </p:sp>
      <p:sp>
        <p:nvSpPr>
          <p:cNvPr id="7" name="Text 4"/>
          <p:cNvSpPr txBox="1"/>
          <p:nvPr/>
        </p:nvSpPr>
        <p:spPr>
          <a:xfrm>
            <a:off x="4663440" y="1417320"/>
            <a:ext cx="3886200" cy="315468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100" dirty="0">
                <a:solidFill>
                  <a:srgbClr val="1F2A24"/>
                </a:solidFill>
                <a:latin typeface="Calibri" pitchFamily="34" charset="0"/>
                <a:ea typeface="Calibri" pitchFamily="34" charset="-122"/>
                <a:cs typeface="Calibri" pitchFamily="34" charset="-120"/>
              </a:rPr>
              <a:t>Smart Crop Advisory System for Small and Marginal Farmers, 2026.</a:t>
            </a:r>
            <a:endParaRPr lang="en-US" sz="1100" dirty="0"/>
          </a:p>
          <a:p>
            <a:pPr marL="342900" indent="-342900">
              <a:spcAft>
                <a:spcPts val="400"/>
              </a:spcAft>
              <a:buSzPct val="100000"/>
              <a:buFont typeface="+mj-lt"/>
              <a:buAutoNum type="arabicPeriod" startAt="1"/>
            </a:pPr>
            <a:r>
              <a:rPr lang="en-US" sz="1100" dirty="0">
                <a:solidFill>
                  <a:srgbClr val="1F2A24"/>
                </a:solidFill>
                <a:latin typeface="Calibri" pitchFamily="34" charset="0"/>
                <a:ea typeface="Calibri" pitchFamily="34" charset="-122"/>
                <a:cs typeface="Calibri" pitchFamily="34" charset="-120"/>
              </a:rPr>
              <a:t>Smart Crop Advisory System: A Machine Learning Approach to Precision Crop Recommendation Using Soil and Climatic Parameters, 2026.</a:t>
            </a:r>
            <a:endParaRPr lang="en-US" sz="1100" dirty="0"/>
          </a:p>
          <a:p>
            <a:pPr marL="342900" indent="-342900">
              <a:spcAft>
                <a:spcPts val="400"/>
              </a:spcAft>
              <a:buSzPct val="100000"/>
              <a:buFont typeface="+mj-lt"/>
              <a:buAutoNum type="arabicPeriod" startAt="1"/>
            </a:pPr>
            <a:r>
              <a:rPr lang="en-US" sz="1100" dirty="0">
                <a:solidFill>
                  <a:srgbClr val="1F2A24"/>
                </a:solidFill>
                <a:latin typeface="Calibri" pitchFamily="34" charset="0"/>
                <a:ea typeface="Calibri" pitchFamily="34" charset="-122"/>
                <a:cs typeface="Calibri" pitchFamily="34" charset="-120"/>
              </a:rPr>
              <a:t>An IoT-enabled AI system for real-time crop prediction using soil and weather data in precision agriculture, Smart Agricultural Technology, 2025.</a:t>
            </a:r>
            <a:endParaRPr lang="en-US" sz="1100" dirty="0"/>
          </a:p>
          <a:p>
            <a:pPr marL="342900" indent="-342900">
              <a:spcAft>
                <a:spcPts val="400"/>
              </a:spcAft>
              <a:buSzPct val="100000"/>
              <a:buFont typeface="+mj-lt"/>
              <a:buAutoNum type="arabicPeriod" startAt="1"/>
            </a:pPr>
            <a:r>
              <a:rPr lang="en-US" sz="1100" dirty="0">
                <a:solidFill>
                  <a:srgbClr val="1F2A24"/>
                </a:solidFill>
                <a:latin typeface="Calibri" pitchFamily="34" charset="0"/>
                <a:ea typeface="Calibri" pitchFamily="34" charset="-122"/>
                <a:cs typeface="Calibri" pitchFamily="34" charset="-120"/>
              </a:rPr>
              <a:t>A Review on AI-Driven Smart Crop Advisory Systems for Small and Marginal Farmers, 2026.</a:t>
            </a:r>
            <a:endParaRPr lang="en-US" sz="1100" dirty="0"/>
          </a:p>
          <a:p>
            <a:pPr marL="342900" indent="-342900">
              <a:spcAft>
                <a:spcPts val="400"/>
              </a:spcAft>
              <a:buSzPct val="100000"/>
              <a:buFont typeface="+mj-lt"/>
              <a:buAutoNum type="arabicPeriod" startAt="1"/>
            </a:pPr>
            <a:r>
              <a:rPr lang="en-US" sz="1100" dirty="0">
                <a:solidFill>
                  <a:srgbClr val="1F2A24"/>
                </a:solidFill>
                <a:latin typeface="Calibri" pitchFamily="34" charset="0"/>
                <a:ea typeface="Calibri" pitchFamily="34" charset="-122"/>
                <a:cs typeface="Calibri" pitchFamily="34" charset="-120"/>
              </a:rPr>
              <a:t>KRISHI.AI: an explainable machine learning framework for data-driven crop recommendation, Scientific Reports, 2026.</a:t>
            </a:r>
            <a:endParaRPr lang="en-US" sz="1100" dirty="0"/>
          </a:p>
        </p:txBody>
      </p:sp>
      <p:sp>
        <p:nvSpPr>
          <p:cNvPr id="25" name="Slide Number Placeholder 0"/>
          <p:cNvSpPr>
            <a:spLocks noGrp="1"/>
          </p:cNvSpPr>
          <p:nvPr>
            <p:ph type="sldNum" sz="quarter" idx="4294967295"/>
          </p:nvPr>
        </p:nvSpPr>
        <p:spPr>
          <a:xfrm>
            <a:off x="822960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F6B61"/>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5E20"/>
        </a:solidFill>
      </p:bgPr>
    </p:bg>
    <p:spTree>
      <p:nvGrpSpPr>
        <p:cNvPr id="1" name=""/>
        <p:cNvGrpSpPr/>
        <p:nvPr/>
      </p:nvGrpSpPr>
      <p:grpSpPr>
        <a:xfrm>
          <a:off x="0" y="0"/>
          <a:ext cx="0" cy="0"/>
          <a:chOff x="0" y="0"/>
          <a:chExt cx="0" cy="0"/>
        </a:xfrm>
      </p:grpSpPr>
      <p:sp>
        <p:nvSpPr>
          <p:cNvPr id="2" name="Text 0"/>
          <p:cNvSpPr txBox="1"/>
          <p:nvPr/>
        </p:nvSpPr>
        <p:spPr>
          <a:xfrm>
            <a:off x="548640" y="1463040"/>
            <a:ext cx="4114800" cy="91440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THANK YOU</a:t>
            </a:r>
            <a:endParaRPr lang="en-US" sz="4400" dirty="0"/>
          </a:p>
        </p:txBody>
      </p:sp>
      <p:sp>
        <p:nvSpPr>
          <p:cNvPr id="3" name="Text 1"/>
          <p:cNvSpPr txBox="1"/>
          <p:nvPr/>
        </p:nvSpPr>
        <p:spPr>
          <a:xfrm>
            <a:off x="548640" y="2468880"/>
            <a:ext cx="4023360" cy="822960"/>
          </a:xfrm>
          <a:prstGeom prst="rect">
            <a:avLst/>
          </a:prstGeom>
          <a:noFill/>
          <a:ln/>
        </p:spPr>
        <p:txBody>
          <a:bodyPr wrap="square" lIns="0" tIns="0" rIns="0" bIns="0" rtlCol="0" anchor="t"/>
          <a:lstStyle/>
          <a:p>
            <a:pPr indent="0" marL="0">
              <a:buNone/>
            </a:pPr>
            <a:r>
              <a:rPr lang="en-US" sz="1800" dirty="0">
                <a:solidFill>
                  <a:srgbClr val="C8E6C9"/>
                </a:solidFill>
                <a:latin typeface="Calibri" pitchFamily="34" charset="0"/>
                <a:ea typeface="Calibri" pitchFamily="34" charset="-122"/>
                <a:cs typeface="Calibri" pitchFamily="34" charset="-120"/>
              </a:rPr>
              <a:t>Smart Crop Advisory System for Small and Marginal Farmers</a:t>
            </a:r>
            <a:endParaRPr lang="en-US" sz="1800" dirty="0"/>
          </a:p>
        </p:txBody>
      </p:sp>
      <p:sp>
        <p:nvSpPr>
          <p:cNvPr id="4" name="Shape 2"/>
          <p:cNvSpPr/>
          <p:nvPr/>
        </p:nvSpPr>
        <p:spPr>
          <a:xfrm>
            <a:off x="4846320" y="457200"/>
            <a:ext cx="3840480" cy="4206240"/>
          </a:xfrm>
          <a:prstGeom prst="roundRect">
            <a:avLst>
              <a:gd name="adj" fmla="val 1905"/>
            </a:avLst>
          </a:prstGeom>
          <a:solidFill>
            <a:srgbClr val="2E7D32"/>
          </a:solidFill>
          <a:ln w="12700">
            <a:solidFill>
              <a:srgbClr val="66BB6A"/>
            </a:solidFill>
            <a:prstDash val="solid"/>
          </a:ln>
        </p:spPr>
      </p:sp>
      <p:pic>
        <p:nvPicPr>
          <p:cNvPr id="5" name="Image 0" descr="preencoded.png">    </p:cNvPr>
          <p:cNvPicPr>
            <a:picLocks noChangeAspect="1"/>
          </p:cNvPicPr>
          <p:nvPr/>
        </p:nvPicPr>
        <p:blipFill>
          <a:blip r:embed="rId1"/>
          <a:stretch>
            <a:fillRect/>
          </a:stretch>
        </p:blipFill>
        <p:spPr>
          <a:xfrm>
            <a:off x="6583680" y="2057400"/>
            <a:ext cx="365760" cy="365760"/>
          </a:xfrm>
          <a:prstGeom prst="rect">
            <a:avLst/>
          </a:prstGeom>
        </p:spPr>
      </p:pic>
      <p:sp>
        <p:nvSpPr>
          <p:cNvPr id="6" name="Text 3"/>
          <p:cNvSpPr txBox="1"/>
          <p:nvPr/>
        </p:nvSpPr>
        <p:spPr>
          <a:xfrm>
            <a:off x="4956048" y="2514600"/>
            <a:ext cx="3621024" cy="201168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PHOTO: Indian agricultural landscape with green crops and a farmer</a:t>
            </a:r>
            <a:endParaRPr lang="en-US" sz="1100" dirty="0"/>
          </a:p>
        </p:txBody>
      </p:sp>
    </p:spTree>
  </p:cSld>
  <p:clrMapOvr>
    <a:masterClrMapping/>
  </p:clrMapOvr>
</p:sld>
</file>

<file path=ppt/theme/theme1.xml><?xml version="1.0" encoding="utf-8"?>
<a:theme xmlns:a="http://schemas.openxmlformats.org/drawingml/2006/main" name="SmartAgri">
  <a:themeElements>
    <a:clrScheme name="SmartAgri">
      <a:dk1>
        <a:srgbClr val="1F2A24"/>
      </a:dk1>
      <a:lt1>
        <a:srgbClr val="FFFFFF"/>
      </a:lt1>
      <a:dk2>
        <a:srgbClr val="1B5E20"/>
      </a:dk2>
      <a:lt2>
        <a:srgbClr val="F5F1E8"/>
      </a:lt2>
      <a:accent1>
        <a:srgbClr val="1B5E20"/>
      </a:accent1>
      <a:accent2>
        <a:srgbClr val="66BB6A"/>
      </a:accent2>
      <a:accent3>
        <a:srgbClr val="8D6E63"/>
      </a:accent3>
      <a:accent4>
        <a:srgbClr val="FBC02D"/>
      </a:accent4>
      <a:accent5>
        <a:srgbClr val="0288D1"/>
      </a:accent5>
      <a:accent6>
        <a:srgbClr val="5F6B61"/>
      </a:accent6>
      <a:hlink>
        <a:srgbClr val="1B5E20"/>
      </a:hlink>
      <a:folHlink>
        <a:srgbClr val="5F6B61"/>
      </a:folHlink>
    </a:clrScheme>
    <a:fontScheme name="SmartAgri">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Crop Advisory System</dc:title>
  <dc:subject>PptxGenJS Presentation</dc:subject>
  <dc:creator>PptxGenJS</dc:creator>
  <cp:lastModifiedBy>PptxGenJS</cp:lastModifiedBy>
  <cp:revision>1</cp:revision>
  <dcterms:created xsi:type="dcterms:W3CDTF">2026-10-24T06:11:09Z</dcterms:created>
  <dcterms:modified xsi:type="dcterms:W3CDTF">2026-10-24T06:11:09Z</dcterms:modified>
</cp:coreProperties>
</file>